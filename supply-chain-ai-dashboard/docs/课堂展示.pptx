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 showGuide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4" Type="http://schemas.openxmlformats.org/officeDocument/2006/relationships/tableStyles" Target="tableStyles.xml"/><Relationship Id="rId13" Type="http://schemas.openxmlformats.org/officeDocument/2006/relationships/viewProps" Target="viewProps.xml"/><Relationship Id="rId12" Type="http://schemas.openxmlformats.org/officeDocument/2006/relationships/presProps" Target="presProps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各位评委老师好，我们是供应链大屏第二开发小组。今天我们汇报的项目是《AI 赋能企业供应链可视化分析系统》。本项目旨在针对传统供应链数据滞后、风控黑盒化的痛点，开发一套集流式数据工程、双模 AI 在线推理、以及可解释性分析于一体的实时监控大屏系统。下面我们将从项目背景、软件功能、技术架构、团队分工以及项目管理这几个维度向大家展示我们的系统成果。</a:t>
            </a:r>
            <a:endParaRPr lang="zh-CN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在项目开始之前，我们深入分析了传统供应链的痛点。首先是时效滞后，传统的订单管理系统往往采用批处理模式，导致数据延迟，无法实现高频度的异常订单拦截；其次是模型预警的黑盒化，缺乏局部可解释性，风控分析员很难对高风险订单进行复核和追溯。为了解决这些痛点，我们的项目应运而生，基于真实供应链数据集构建了流式数据回放引擎，结合双模推理以及特征重要性归因，实现全链路的闭环主动风控。</a:t>
            </a:r>
            <a:endParaRPr lang="zh-CN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接下来我们看系统的功能模块设计，系统主要实现了三大核心板块的闭环运行。第一是流式数据回放引擎，它通过安全哈希校验流式注入数据，模拟高并发业务；第二是双模预警与可解释性归因，系统融合了财务硬拦截与机器学习分类预测，在检测到高风险时提供特征贡献归因分析；第三是可视化大屏，它利用 WebSocket 实时广播，渲染物流地图和风控列表，并进行了大屏内存保护设计，防止长时间挂机导致浏览器崩溃。</a:t>
            </a:r>
            <a:endParaRPr lang="zh-CN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在技术实现上，我们设计了松耦合的容器化架构以支撑这些功能。左侧是我们的客户端组件，回放引擎通过安全签名向后端发送请求，而 Vue 3 渲染的科技感大屏通过长连接实时接收推送；右侧是服务端集群，由异步高并发的 FastAPI 路由服务、预加载模型的 AI 推理微服务，以及基于 MySQL 与 Redis 组成的数据存储与高速缓存层构成。全链路通过带有时间戳的安全签名进行防篡改保护，保障数据传输的安全与高可用。</a:t>
            </a:r>
            <a:endParaRPr lang="zh-CN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现在我们深入到最核心的算法推理和决策机制。在离线阶段，算法工程完成了特征对齐与双模训练，并剔除了订单利润字段以防数据泄露。在线推理时，订单首先进入财务过滤器，如果是严重的亏损单将直接触发硬拦截，同时使用哈希算法产生局部随机微扰来点亮归因，防止界面呆板；如果是盈利订单，则并行分发给风控和物流延迟预测模型打分，若概率超标，则会提取特征贡献度计算出 Top 5 权重，随后写入缓存并广播推送。</a:t>
            </a:r>
            <a:endParaRPr lang="zh-CN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在明确的架构指引下，我们团队的四位成员进行了紧密的开发协同。蔡子濠同学作为后端负责人，主力构建了容器基础设施、FastAPI 异步接口和长连接广播机制；闫若彤同学负责大屏可视化展示，主导了 Vue 3 架构以及 ECharts 动态重绘，并完成了长连接数据缓冲区和内存优化；田锦城同学专注于算法和 MLOps，完成了数据预处理、双模训练以及微服务容器化；虞诗颢同学开发了回放引擎，进行了压测和脏数据防篡改校验，并统筹了所有交付文档。</a:t>
            </a:r>
            <a:endParaRPr lang="zh-CN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在项目生命周期管理中，我们采用了文档驱动与敏捷迭代的软件工程实践。开发前率先确立需求说明书与设计说明书，开发中基于 Git 分支进行合并审查，项目分为两期敏捷推进。在质量保障方面，我们使用回放引擎模拟脏数据与高并发洪峰，测试系统的签名防篡改与缓存一致性，此外，系统特别设计了弹性容灾机制，当 AI 微服务离线时能自动无缝切换到数据库历史均值兜底，避免大屏空屏。</a:t>
            </a:r>
            <a:endParaRPr lang="zh-CN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最后，我们对系统进行总结与展望。目前系统的全量环境均已通过 Docker Compose 实现了一键容器化部署，可以做到无缝拉起。同时系统对外提供了标准规范的 RESTful 和 WebSocket API，未来可以低成本接入企业现有的 ERP 和仓储管理系统。我们的系统演示和汇报到此结束，感谢苏卓老师的悉心指导，欢迎各位评委老师批评指正并提问，谢谢！</a:t>
            </a:r>
            <a:endParaRPr lang="zh-CN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6"/>
          <p:cNvGrpSpPr/>
          <p:nvPr/>
        </p:nvGrpSpPr>
        <p:grpSpPr>
          <a:xfrm>
            <a:off x="-952500" y="0"/>
            <a:ext cx="14097000" cy="6858000"/>
            <a:chOff x="-952500" y="0"/>
            <a:chExt cx="14097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0B0F19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rgbClr val="1E3A8A">
                    <a:alpha val="25000"/>
                  </a:srgbClr>
                </a:gs>
                <a:gs pos="100000">
                  <a:srgbClr val="0B0F19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</p:sp>
        <p:sp>
          <p:nvSpPr>
            <p:cNvPr id="4" name="Freeform 4"/>
            <p:cNvSpPr/>
            <p:nvPr/>
          </p:nvSpPr>
          <p:spPr>
            <a:xfrm>
              <a:off x="-952500" y="0"/>
              <a:ext cx="14097000" cy="6858000"/>
            </a:xfrm>
            <a:custGeom>
              <a:avLst/>
              <a:gdLst/>
              <a:ahLst/>
              <a:cxnLst/>
              <a:rect l="l" t="t" r="r" b="b"/>
              <a:pathLst>
                <a:path w="14097000" h="6858000">
                  <a:moveTo>
                    <a:pt x="0" y="0"/>
                  </a:moveTo>
                  <a:lnTo>
                    <a:pt x="7048500" y="3429000"/>
                  </a:lnTo>
                  <a:lnTo>
                    <a:pt x="14097000" y="0"/>
                  </a:lnTo>
                  <a:moveTo>
                    <a:pt x="0" y="6858000"/>
                  </a:moveTo>
                  <a:lnTo>
                    <a:pt x="7048500" y="3429000"/>
                  </a:lnTo>
                  <a:lnTo>
                    <a:pt x="14097000" y="6858000"/>
                  </a:lnTo>
                </a:path>
              </a:pathLst>
            </a:custGeom>
            <a:noFill/>
            <a:ln w="19050">
              <a:gradFill>
                <a:gsLst>
                  <a:gs pos="0">
                    <a:srgbClr val="4FACFE">
                      <a:alpha val="8000"/>
                    </a:srgbClr>
                  </a:gs>
                  <a:gs pos="100000">
                    <a:srgbClr val="0B0F19">
                      <a:alpha val="0"/>
                    </a:srgbClr>
                  </a:gs>
                </a:gsLst>
                <a:lin ang="2700000" scaled="1"/>
              </a:gradFill>
            </a:ln>
          </p:spPr>
        </p:sp>
        <p:sp>
          <p:nvSpPr>
            <p:cNvPr id="5" name="Ellipse 5"/>
            <p:cNvSpPr/>
            <p:nvPr/>
          </p:nvSpPr>
          <p:spPr>
            <a:xfrm>
              <a:off x="3429000" y="762000"/>
              <a:ext cx="5334000" cy="5334000"/>
            </a:xfrm>
            <a:prstGeom prst="ellipse">
              <a:avLst/>
            </a:prstGeom>
            <a:noFill/>
            <a:ln w="9525">
              <a:solidFill>
                <a:srgbClr val="4FACFE">
                  <a:alpha val="10000"/>
                </a:srgbClr>
              </a:solidFill>
              <a:prstDash val="lgDash"/>
            </a:ln>
          </p:spPr>
        </p:sp>
      </p:grpSp>
      <p:grpSp>
        <p:nvGrpSpPr>
          <p:cNvPr id="10" name="Group 10"/>
          <p:cNvGrpSpPr/>
          <p:nvPr/>
        </p:nvGrpSpPr>
        <p:grpSpPr>
          <a:xfrm>
            <a:off x="560070" y="331470"/>
            <a:ext cx="11071860" cy="249555"/>
            <a:chOff x="560070" y="331470"/>
            <a:chExt cx="11071860" cy="249555"/>
          </a:xfrm>
        </p:grpSpPr>
        <p:sp>
          <p:nvSpPr>
            <p:cNvPr id="7" name="Line 7"/>
            <p:cNvSpPr/>
            <p:nvPr/>
          </p:nvSpPr>
          <p:spPr>
            <a:xfrm>
              <a:off x="571500" y="57150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rgbClr val="1E293B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560070" y="331470"/>
              <a:ext cx="215522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94A3B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AI-ENABLED SUPPLY CHAIN SYSTEM</a:t>
              </a:r>
              <a:endParaRPr lang="zh-CN" sz="900" b="1" dirty="0">
                <a:solidFill>
                  <a:srgbClr val="94A3B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0914380" y="331470"/>
              <a:ext cx="717550" cy="13843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94A3B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RELEASE 1.0</a:t>
              </a:r>
              <a:endParaRPr lang="zh-CN" sz="900" dirty="0">
                <a:solidFill>
                  <a:srgbClr val="94A3B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339902" y="1658302"/>
            <a:ext cx="9512196" cy="1083945"/>
            <a:chOff x="1339902" y="1658302"/>
            <a:chExt cx="9512196" cy="1083945"/>
          </a:xfrm>
        </p:grpSpPr>
        <p:sp>
          <p:nvSpPr>
            <p:cNvPr id="11" name="TextBox 11"/>
            <p:cNvSpPr txBox="1"/>
            <p:nvPr/>
          </p:nvSpPr>
          <p:spPr>
            <a:xfrm>
              <a:off x="1339902" y="1658302"/>
              <a:ext cx="9512196" cy="8229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4050" b="1" dirty="0">
                  <a:gradFill>
                    <a:gsLst>
                      <a:gs pos="0">
                        <a:srgbClr val="4FACFE"/>
                      </a:gs>
                      <a:gs pos="100000">
                        <a:srgbClr val="00F2FE"/>
                      </a:gs>
                    </a:gsLst>
                    <a:lin ang="0" scaled="1"/>
                  </a:gra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AI 赋能企业供应链可视化分析系统</a:t>
              </a:r>
              <a:endParaRPr lang="zh-CN" sz="4050" b="1" dirty="0">
                <a:gradFill>
                  <a:gsLst>
                    <a:gs pos="0">
                      <a:srgbClr val="4FACFE"/>
                    </a:gs>
                    <a:gs pos="100000">
                      <a:srgbClr val="00F2FE"/>
                    </a:gs>
                  </a:gsLst>
                  <a:lin ang="0" scaled="1"/>
                </a:gra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4390391" y="2488882"/>
              <a:ext cx="3411220" cy="2533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8FAFC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实时订单风控预警与可视化决策大屏 </a:t>
              </a:r>
              <a:endParaRPr lang="zh-CN" sz="1650" b="1" dirty="0">
                <a:solidFill>
                  <a:srgbClr val="F8FAFC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714500" y="3238500"/>
            <a:ext cx="8763000" cy="857250"/>
            <a:chOff x="1714500" y="3238500"/>
            <a:chExt cx="8763000" cy="857250"/>
          </a:xfrm>
        </p:grpSpPr>
        <p:sp>
          <p:nvSpPr>
            <p:cNvPr id="14" name="Rectangle 14"/>
            <p:cNvSpPr/>
            <p:nvPr/>
          </p:nvSpPr>
          <p:spPr>
            <a:xfrm>
              <a:off x="1714500" y="3238500"/>
              <a:ext cx="8763000" cy="857250"/>
            </a:xfrm>
            <a:prstGeom prst="roundRect">
              <a:avLst>
                <a:gd name="adj" fmla="val 11111"/>
              </a:avLst>
            </a:prstGeom>
            <a:solidFill>
              <a:srgbClr val="161F30">
                <a:alpha val="60000"/>
              </a:srgbClr>
            </a:solidFill>
            <a:ln w="14288">
              <a:solidFill>
                <a:srgbClr val="1E293B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3714750" y="3489960"/>
              <a:ext cx="476250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F8FAFC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定位：面向企业订单风控的轻量级实时预警与可视化决策平台</a:t>
              </a:r>
              <a:endParaRPr lang="zh-CN" sz="1200" dirty="0">
                <a:solidFill>
                  <a:srgbClr val="F8FAFC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4162320" y="3756660"/>
              <a:ext cx="386736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4FACFE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流式回放 · 在线推理 · 双模研判 · XAI可解释性</a:t>
              </a:r>
              <a:endParaRPr lang="zh-CN" sz="1200" b="1" dirty="0">
                <a:solidFill>
                  <a:srgbClr val="4FACF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4328160" y="4823460"/>
            <a:ext cx="3535680" cy="910590"/>
            <a:chOff x="4328160" y="4823460"/>
            <a:chExt cx="3535680" cy="910590"/>
          </a:xfrm>
        </p:grpSpPr>
        <p:sp>
          <p:nvSpPr>
            <p:cNvPr id="18" name="TextBox 18"/>
            <p:cNvSpPr txBox="1"/>
            <p:nvPr/>
          </p:nvSpPr>
          <p:spPr>
            <a:xfrm>
              <a:off x="4328160" y="4823460"/>
              <a:ext cx="353568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94A3B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小组成员：蔡子濠、田锦城、闫若彤、虞诗颢</a:t>
              </a:r>
              <a:endParaRPr lang="zh-CN" sz="1200" dirty="0">
                <a:solidFill>
                  <a:srgbClr val="94A3B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5562601" y="5156835"/>
              <a:ext cx="1066800" cy="184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94A3B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课程老师：苏卓</a:t>
              </a:r>
              <a:endParaRPr lang="zh-CN" sz="1200" dirty="0">
                <a:solidFill>
                  <a:srgbClr val="94A3B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5379720" y="5490210"/>
              <a:ext cx="143256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94A3B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院系：计算机学院</a:t>
              </a:r>
              <a:endParaRPr lang="zh-CN" sz="1200" dirty="0">
                <a:solidFill>
                  <a:srgbClr val="94A3B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560070" y="6381750"/>
            <a:ext cx="11071860" cy="323850"/>
            <a:chOff x="560070" y="6381750"/>
            <a:chExt cx="11071860" cy="323850"/>
          </a:xfrm>
        </p:grpSpPr>
        <p:sp>
          <p:nvSpPr>
            <p:cNvPr id="22" name="Line 22"/>
            <p:cNvSpPr/>
            <p:nvPr/>
          </p:nvSpPr>
          <p:spPr>
            <a:xfrm>
              <a:off x="571500" y="638175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rgbClr val="1E293B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560070" y="6522720"/>
              <a:ext cx="302637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94A3B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AI-Enabled Supply Chain Visualization Dashboard</a:t>
              </a:r>
              <a:endParaRPr lang="zh-CN" sz="900" dirty="0">
                <a:solidFill>
                  <a:srgbClr val="94A3B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0945273" y="6522720"/>
              <a:ext cx="68665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94A3B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Page 1 of 8</a:t>
              </a:r>
              <a:endParaRPr lang="zh-CN" sz="900" dirty="0">
                <a:solidFill>
                  <a:srgbClr val="94A3B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5" presetClass="entr" presetSubtype="5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5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7" grpId="0"/>
      <p:bldP spid="21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0B0F19"/>
            </a:solidFill>
            <a:ln>
              <a:noFill/>
            </a:ln>
          </p:spPr>
        </p:sp>
        <p:sp>
          <p:nvSpPr>
            <p:cNvPr id="3" name="Freeform 3"/>
            <p:cNvSpPr/>
            <p:nvPr/>
          </p:nvSpPr>
          <p:spPr>
            <a:xfrm>
              <a:off x="571500" y="85725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solidFill>
              <a:srgbClr val="000000"/>
            </a:solidFill>
            <a:ln w="14288">
              <a:solidFill>
                <a:srgbClr val="1E293B"/>
              </a:solidFill>
            </a:ln>
          </p:spPr>
        </p:sp>
      </p:grpSp>
      <p:grpSp>
        <p:nvGrpSpPr>
          <p:cNvPr id="7" name="Group 7"/>
          <p:cNvGrpSpPr/>
          <p:nvPr/>
        </p:nvGrpSpPr>
        <p:grpSpPr>
          <a:xfrm>
            <a:off x="560070" y="331470"/>
            <a:ext cx="11071860" cy="182880"/>
            <a:chOff x="560070" y="331470"/>
            <a:chExt cx="11071860" cy="182880"/>
          </a:xfrm>
        </p:grpSpPr>
        <p:sp>
          <p:nvSpPr>
            <p:cNvPr id="5" name="TextBox 5"/>
            <p:cNvSpPr txBox="1"/>
            <p:nvPr/>
          </p:nvSpPr>
          <p:spPr>
            <a:xfrm>
              <a:off x="560070" y="331470"/>
              <a:ext cx="221043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94A3B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项目背景与系统定位 · BACKGROUND</a:t>
              </a:r>
              <a:endParaRPr lang="zh-CN" sz="900" b="1" dirty="0">
                <a:solidFill>
                  <a:srgbClr val="94A3B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10912411" y="331470"/>
              <a:ext cx="71951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94A3B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Page 2 of 8</a:t>
              </a:r>
              <a:endParaRPr lang="zh-CN" sz="900" dirty="0">
                <a:solidFill>
                  <a:srgbClr val="94A3B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544830" y="963930"/>
            <a:ext cx="11075670" cy="874395"/>
            <a:chOff x="544830" y="963930"/>
            <a:chExt cx="11075670" cy="874395"/>
          </a:xfrm>
        </p:grpSpPr>
        <p:sp>
          <p:nvSpPr>
            <p:cNvPr id="8" name="TextBox 8"/>
            <p:cNvSpPr txBox="1"/>
            <p:nvPr/>
          </p:nvSpPr>
          <p:spPr>
            <a:xfrm>
              <a:off x="544830" y="963930"/>
              <a:ext cx="3917823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F8FAFC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供应链管理现状与核心痛点</a:t>
              </a:r>
              <a:endParaRPr lang="zh-CN" sz="2100" b="1" dirty="0">
                <a:solidFill>
                  <a:srgbClr val="F8FAFC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9" name="Rectangle 9"/>
            <p:cNvSpPr/>
            <p:nvPr/>
          </p:nvSpPr>
          <p:spPr>
            <a:xfrm>
              <a:off x="571500" y="1381125"/>
              <a:ext cx="11049000" cy="457200"/>
            </a:xfrm>
            <a:prstGeom prst="roundRect">
              <a:avLst>
                <a:gd name="adj" fmla="val 16667"/>
              </a:avLst>
            </a:prstGeom>
            <a:solidFill>
              <a:srgbClr val="161F30"/>
            </a:solidFill>
            <a:ln w="9525">
              <a:solidFill>
                <a:srgbClr val="1E293B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748665" y="1544002"/>
              <a:ext cx="780930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F43F5E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传统静态报表时效与黑盒决策</a:t>
              </a:r>
              <a:r>
                <a:rPr lang="zh-CN" sz="1050" dirty="0">
                  <a:solidFill>
                    <a:srgbClr val="94A3B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 难以满足高频风控需求，升级为 </a:t>
              </a:r>
              <a:r>
                <a:rPr lang="zh-CN" sz="1050" b="1" dirty="0">
                  <a:solidFill>
                    <a:srgbClr val="91CC75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实时流式双模AI监控</a:t>
              </a:r>
              <a:r>
                <a:rPr lang="zh-CN" sz="1050" dirty="0">
                  <a:solidFill>
                    <a:srgbClr val="94A3B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 是提升供应链韧性的必然选择。</a:t>
              </a:r>
              <a:endParaRPr lang="zh-CN" sz="1050" dirty="0">
                <a:solidFill>
                  <a:srgbClr val="94A3B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571500" y="2000250"/>
            <a:ext cx="5286375" cy="4048125"/>
            <a:chOff x="571500" y="2000250"/>
            <a:chExt cx="5286375" cy="4048125"/>
          </a:xfrm>
        </p:grpSpPr>
        <p:sp>
          <p:nvSpPr>
            <p:cNvPr id="12" name="Rectangle 12"/>
            <p:cNvSpPr/>
            <p:nvPr/>
          </p:nvSpPr>
          <p:spPr>
            <a:xfrm>
              <a:off x="571500" y="2000250"/>
              <a:ext cx="5286375" cy="4048125"/>
            </a:xfrm>
            <a:prstGeom prst="roundRect">
              <a:avLst>
                <a:gd name="adj" fmla="val 2824"/>
              </a:avLst>
            </a:prstGeom>
            <a:solidFill>
              <a:srgbClr val="161F30"/>
            </a:solidFill>
            <a:ln w="14288">
              <a:solidFill>
                <a:srgbClr val="1E293B"/>
              </a:solidFill>
            </a:ln>
          </p:spPr>
        </p:sp>
        <p:sp>
          <p:nvSpPr>
            <p:cNvPr id="13" name="Rectangle 13"/>
            <p:cNvSpPr/>
            <p:nvPr/>
          </p:nvSpPr>
          <p:spPr>
            <a:xfrm>
              <a:off x="571500" y="2000250"/>
              <a:ext cx="76200" cy="4048125"/>
            </a:xfrm>
            <a:prstGeom prst="roundRect">
              <a:avLst>
                <a:gd name="adj" fmla="val 50000"/>
              </a:avLst>
            </a:prstGeom>
            <a:solidFill>
              <a:srgbClr val="F43F5E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855345" y="2250758"/>
              <a:ext cx="2066163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8FAFC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传统静态报表模式</a:t>
              </a:r>
              <a:endParaRPr lang="zh-CN" sz="1650" b="1" dirty="0">
                <a:solidFill>
                  <a:srgbClr val="F8FAFC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5" name="Line 15"/>
            <p:cNvSpPr/>
            <p:nvPr/>
          </p:nvSpPr>
          <p:spPr>
            <a:xfrm>
              <a:off x="876300" y="2619375"/>
              <a:ext cx="4648200" cy="9525"/>
            </a:xfrm>
            <a:custGeom>
              <a:avLst/>
              <a:gdLst/>
              <a:ahLst/>
              <a:cxnLst/>
              <a:rect l="l" t="t" r="r" b="b"/>
              <a:pathLst>
                <a:path w="4648200" h="9525">
                  <a:moveTo>
                    <a:pt x="0" y="0"/>
                  </a:moveTo>
                  <a:lnTo>
                    <a:pt x="4648200" y="0"/>
                  </a:lnTo>
                </a:path>
              </a:pathLst>
            </a:custGeom>
            <a:noFill/>
            <a:ln w="9525">
              <a:solidFill>
                <a:srgbClr val="1E293B"/>
              </a:solidFill>
            </a:ln>
          </p:spPr>
        </p:sp>
        <p:grpSp>
          <p:nvGrpSpPr>
            <p:cNvPr id="24" name="Group 24"/>
            <p:cNvGrpSpPr/>
            <p:nvPr/>
          </p:nvGrpSpPr>
          <p:grpSpPr>
            <a:xfrm>
              <a:off x="862965" y="2837650"/>
              <a:ext cx="4627245" cy="872338"/>
              <a:chOff x="862965" y="2837650"/>
              <a:chExt cx="4627245" cy="872338"/>
            </a:xfrm>
          </p:grpSpPr>
          <p:grpSp>
            <p:nvGrpSpPr>
              <p:cNvPr id="20" name="Group 20"/>
              <p:cNvGrpSpPr/>
              <p:nvPr/>
            </p:nvGrpSpPr>
            <p:grpSpPr>
              <a:xfrm>
                <a:off x="906783" y="2837650"/>
                <a:ext cx="238842" cy="261150"/>
                <a:chOff x="906783" y="2837650"/>
                <a:chExt cx="238842" cy="261150"/>
              </a:xfrm>
            </p:grpSpPr>
            <p:sp>
              <p:nvSpPr>
                <p:cNvPr id="16" name="Freeform 16"/>
                <p:cNvSpPr/>
                <p:nvPr/>
              </p:nvSpPr>
              <p:spPr>
                <a:xfrm>
                  <a:off x="906783" y="2837650"/>
                  <a:ext cx="238842" cy="24921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8842" h="249217">
                      <a:moveTo>
                        <a:pt x="236039" y="131000"/>
                      </a:moveTo>
                      <a:cubicBezTo>
                        <a:pt x="238842" y="80687"/>
                        <a:pt x="208365" y="34473"/>
                        <a:pt x="161012" y="17237"/>
                      </a:cubicBezTo>
                      <a:cubicBezTo>
                        <a:pt x="113660" y="0"/>
                        <a:pt x="60606" y="15808"/>
                        <a:pt x="30410" y="56150"/>
                      </a:cubicBezTo>
                      <a:cubicBezTo>
                        <a:pt x="214" y="96493"/>
                        <a:pt x="0" y="151851"/>
                        <a:pt x="29884" y="192426"/>
                      </a:cubicBezTo>
                      <a:cubicBezTo>
                        <a:pt x="59768" y="233000"/>
                        <a:pt x="112698" y="249217"/>
                        <a:pt x="160182" y="232346"/>
                      </a:cubicBezTo>
                    </a:path>
                  </a:pathLst>
                </a:custGeom>
                <a:noFill/>
                <a:ln w="19050">
                  <a:solidFill>
                    <a:srgbClr val="F43F5E"/>
                  </a:solidFill>
                </a:ln>
              </p:spPr>
            </p:sp>
            <p:sp>
              <p:nvSpPr>
                <p:cNvPr id="17" name="Freeform 17"/>
                <p:cNvSpPr/>
                <p:nvPr/>
              </p:nvSpPr>
              <p:spPr>
                <a:xfrm>
                  <a:off x="1028700" y="2898775"/>
                  <a:ext cx="38100" cy="101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100" h="101600">
                      <a:moveTo>
                        <a:pt x="0" y="0"/>
                      </a:moveTo>
                      <a:lnTo>
                        <a:pt x="0" y="63500"/>
                      </a:lnTo>
                      <a:lnTo>
                        <a:pt x="38100" y="101600"/>
                      </a:lnTo>
                    </a:path>
                  </a:pathLst>
                </a:custGeom>
                <a:noFill/>
                <a:ln w="19050">
                  <a:solidFill>
                    <a:srgbClr val="F43F5E"/>
                  </a:solidFill>
                </a:ln>
              </p:spPr>
            </p:sp>
            <p:sp>
              <p:nvSpPr>
                <p:cNvPr id="18" name="Freeform 18"/>
                <p:cNvSpPr/>
                <p:nvPr/>
              </p:nvSpPr>
              <p:spPr>
                <a:xfrm>
                  <a:off x="1117600" y="3013075"/>
                  <a:ext cx="9525" cy="38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38100">
                      <a:moveTo>
                        <a:pt x="0" y="0"/>
                      </a:moveTo>
                      <a:lnTo>
                        <a:pt x="0" y="38100"/>
                      </a:lnTo>
                    </a:path>
                  </a:pathLst>
                </a:custGeom>
                <a:noFill/>
                <a:ln w="19050">
                  <a:solidFill>
                    <a:srgbClr val="F43F5E"/>
                  </a:solidFill>
                </a:ln>
              </p:spPr>
            </p:sp>
            <p:sp>
              <p:nvSpPr>
                <p:cNvPr id="19" name="Freeform 19"/>
                <p:cNvSpPr/>
                <p:nvPr/>
              </p:nvSpPr>
              <p:spPr>
                <a:xfrm>
                  <a:off x="1117600" y="3089275"/>
                  <a:ext cx="95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>
                      <a:moveTo>
                        <a:pt x="0" y="0"/>
                      </a:moveTo>
                      <a:lnTo>
                        <a:pt x="0" y="127"/>
                      </a:lnTo>
                    </a:path>
                  </a:pathLst>
                </a:custGeom>
                <a:noFill/>
                <a:ln w="19050">
                  <a:solidFill>
                    <a:srgbClr val="F43F5E"/>
                  </a:solidFill>
                </a:ln>
              </p:spPr>
            </p:sp>
          </p:grpSp>
          <p:sp>
            <p:nvSpPr>
              <p:cNvPr id="21" name="TextBox 21"/>
              <p:cNvSpPr txBox="1"/>
              <p:nvPr/>
            </p:nvSpPr>
            <p:spPr>
              <a:xfrm>
                <a:off x="1278255" y="2883218"/>
                <a:ext cx="2104549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rgbClr val="F8FAFC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痛点一：数据时效滞后</a:t>
                </a:r>
                <a:endParaRPr lang="zh-CN" sz="1350" b="1" dirty="0">
                  <a:solidFill>
                    <a:srgbClr val="F8FAFC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862965" y="3268028"/>
                <a:ext cx="4282202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94A3B8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传统 ERP / WMS 系统的数据汇总多为 </a:t>
                </a:r>
                <a:r>
                  <a:rPr lang="zh-CN" sz="1050" b="1" dirty="0">
                    <a:solidFill>
                      <a:srgbClr val="F43F5E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T+1 批处理</a:t>
                </a:r>
                <a:r>
                  <a:rPr lang="zh-CN" sz="1050" dirty="0">
                    <a:solidFill>
                      <a:srgbClr val="94A3B8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 或日终对账。</a:t>
                </a:r>
                <a:endParaRPr lang="zh-CN" sz="1050" dirty="0">
                  <a:solidFill>
                    <a:srgbClr val="94A3B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862965" y="3496628"/>
                <a:ext cx="4627245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94A3B8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存在显著时效滞后，无法应对高并发、高频度的异常订单实时拦截。</a:t>
                </a:r>
                <a:endParaRPr lang="zh-CN" sz="1050" dirty="0">
                  <a:solidFill>
                    <a:srgbClr val="94A3B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  <p:grpSp>
          <p:nvGrpSpPr>
            <p:cNvPr id="32" name="Group 32"/>
            <p:cNvGrpSpPr/>
            <p:nvPr/>
          </p:nvGrpSpPr>
          <p:grpSpPr>
            <a:xfrm>
              <a:off x="862965" y="4276725"/>
              <a:ext cx="4489228" cy="862013"/>
              <a:chOff x="862965" y="4276725"/>
              <a:chExt cx="4489228" cy="862013"/>
            </a:xfrm>
          </p:grpSpPr>
          <p:grpSp>
            <p:nvGrpSpPr>
              <p:cNvPr id="28" name="Group 28"/>
              <p:cNvGrpSpPr/>
              <p:nvPr/>
            </p:nvGrpSpPr>
            <p:grpSpPr>
              <a:xfrm>
                <a:off x="914400" y="4276725"/>
                <a:ext cx="228600" cy="228600"/>
                <a:chOff x="914400" y="4276725"/>
                <a:chExt cx="228600" cy="228600"/>
              </a:xfrm>
            </p:grpSpPr>
            <p:sp>
              <p:nvSpPr>
                <p:cNvPr id="25" name="Freeform 25"/>
                <p:cNvSpPr/>
                <p:nvPr/>
              </p:nvSpPr>
              <p:spPr>
                <a:xfrm>
                  <a:off x="1000812" y="4373080"/>
                  <a:ext cx="45846" cy="4584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846" h="45840">
                      <a:moveTo>
                        <a:pt x="9918" y="0"/>
                      </a:moveTo>
                      <a:cubicBezTo>
                        <a:pt x="0" y="9921"/>
                        <a:pt x="3" y="26004"/>
                        <a:pt x="9924" y="35922"/>
                      </a:cubicBezTo>
                      <a:cubicBezTo>
                        <a:pt x="19845" y="45840"/>
                        <a:pt x="35928" y="45837"/>
                        <a:pt x="45846" y="35916"/>
                      </a:cubicBezTo>
                    </a:path>
                  </a:pathLst>
                </a:custGeom>
                <a:noFill/>
                <a:ln w="19050">
                  <a:solidFill>
                    <a:srgbClr val="F43F5E"/>
                  </a:solidFill>
                </a:ln>
              </p:spPr>
            </p:sp>
            <p:sp>
              <p:nvSpPr>
                <p:cNvPr id="26" name="Freeform 26"/>
                <p:cNvSpPr/>
                <p:nvPr/>
              </p:nvSpPr>
              <p:spPr>
                <a:xfrm>
                  <a:off x="914400" y="4314805"/>
                  <a:ext cx="228600" cy="1525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600" h="152559">
                      <a:moveTo>
                        <a:pt x="173749" y="135567"/>
                      </a:moveTo>
                      <a:cubicBezTo>
                        <a:pt x="155934" y="146713"/>
                        <a:pt x="135314" y="152559"/>
                        <a:pt x="114300" y="152420"/>
                      </a:cubicBezTo>
                      <a:cubicBezTo>
                        <a:pt x="68580" y="152420"/>
                        <a:pt x="30480" y="127020"/>
                        <a:pt x="0" y="76220"/>
                      </a:cubicBezTo>
                      <a:cubicBezTo>
                        <a:pt x="16154" y="49296"/>
                        <a:pt x="34442" y="29509"/>
                        <a:pt x="54864" y="16860"/>
                      </a:cubicBezTo>
                      <a:moveTo>
                        <a:pt x="91186" y="2306"/>
                      </a:moveTo>
                      <a:cubicBezTo>
                        <a:pt x="98794" y="766"/>
                        <a:pt x="106538" y="0"/>
                        <a:pt x="114300" y="20"/>
                      </a:cubicBezTo>
                      <a:cubicBezTo>
                        <a:pt x="160020" y="20"/>
                        <a:pt x="198120" y="25420"/>
                        <a:pt x="228600" y="76220"/>
                      </a:cubicBezTo>
                      <a:cubicBezTo>
                        <a:pt x="220142" y="90317"/>
                        <a:pt x="211087" y="102471"/>
                        <a:pt x="201447" y="112669"/>
                      </a:cubicBezTo>
                    </a:path>
                  </a:pathLst>
                </a:custGeom>
                <a:noFill/>
                <a:ln w="19050">
                  <a:solidFill>
                    <a:srgbClr val="F43F5E"/>
                  </a:solidFill>
                </a:ln>
              </p:spPr>
            </p:sp>
            <p:sp>
              <p:nvSpPr>
                <p:cNvPr id="27" name="Freeform 27"/>
                <p:cNvSpPr/>
                <p:nvPr/>
              </p:nvSpPr>
              <p:spPr>
                <a:xfrm>
                  <a:off x="914400" y="4276725"/>
                  <a:ext cx="228600" cy="228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600" h="228600">
                      <a:moveTo>
                        <a:pt x="0" y="0"/>
                      </a:moveTo>
                      <a:lnTo>
                        <a:pt x="228600" y="228600"/>
                      </a:lnTo>
                    </a:path>
                  </a:pathLst>
                </a:custGeom>
                <a:noFill/>
                <a:ln w="19050">
                  <a:solidFill>
                    <a:srgbClr val="F43F5E"/>
                  </a:solidFill>
                </a:ln>
              </p:spPr>
            </p:sp>
          </p:grpSp>
          <p:sp>
            <p:nvSpPr>
              <p:cNvPr id="29" name="TextBox 29"/>
              <p:cNvSpPr txBox="1"/>
              <p:nvPr/>
            </p:nvSpPr>
            <p:spPr>
              <a:xfrm>
                <a:off x="1278255" y="4311968"/>
                <a:ext cx="2539303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rgbClr val="F8FAFC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痛点二：预警机制“黑盒化”</a:t>
                </a:r>
                <a:endParaRPr lang="zh-CN" sz="1350" b="1" dirty="0">
                  <a:solidFill>
                    <a:srgbClr val="F8FAFC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862965" y="4696778"/>
                <a:ext cx="402917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94A3B8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传统的机器学习预警仅给出“是否异常”的二分类概率结果，</a:t>
                </a:r>
                <a:endParaRPr lang="zh-CN" sz="1050" dirty="0">
                  <a:solidFill>
                    <a:srgbClr val="94A3B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862965" y="4925378"/>
                <a:ext cx="4489228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94A3B8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缺乏 </a:t>
                </a:r>
                <a:r>
                  <a:rPr lang="zh-CN" sz="1050" b="1" dirty="0">
                    <a:solidFill>
                      <a:srgbClr val="F43F5E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局部可解释性 (XAI)</a:t>
                </a:r>
                <a:r>
                  <a:rPr lang="zh-CN" sz="1050" dirty="0">
                    <a:solidFill>
                      <a:srgbClr val="94A3B8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，风控分析员难以复核并快速追溯原因。</a:t>
                </a:r>
                <a:endParaRPr lang="zh-CN" sz="1050" dirty="0">
                  <a:solidFill>
                    <a:srgbClr val="94A3B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</p:grpSp>
      <p:grpSp>
        <p:nvGrpSpPr>
          <p:cNvPr id="57" name="Group 57"/>
          <p:cNvGrpSpPr/>
          <p:nvPr/>
        </p:nvGrpSpPr>
        <p:grpSpPr>
          <a:xfrm>
            <a:off x="6334125" y="2000250"/>
            <a:ext cx="5286375" cy="4048125"/>
            <a:chOff x="6334125" y="2000250"/>
            <a:chExt cx="5286375" cy="4048125"/>
          </a:xfrm>
        </p:grpSpPr>
        <p:sp>
          <p:nvSpPr>
            <p:cNvPr id="34" name="Rectangle 34"/>
            <p:cNvSpPr/>
            <p:nvPr/>
          </p:nvSpPr>
          <p:spPr>
            <a:xfrm>
              <a:off x="6334125" y="2000250"/>
              <a:ext cx="5286375" cy="4048125"/>
            </a:xfrm>
            <a:prstGeom prst="roundRect">
              <a:avLst>
                <a:gd name="adj" fmla="val 2824"/>
              </a:avLst>
            </a:prstGeom>
            <a:solidFill>
              <a:srgbClr val="161F30"/>
            </a:solidFill>
            <a:ln w="14288">
              <a:solidFill>
                <a:srgbClr val="1E293B"/>
              </a:solidFill>
            </a:ln>
          </p:spPr>
        </p:sp>
        <p:sp>
          <p:nvSpPr>
            <p:cNvPr id="35" name="Rectangle 35"/>
            <p:cNvSpPr/>
            <p:nvPr/>
          </p:nvSpPr>
          <p:spPr>
            <a:xfrm>
              <a:off x="6334125" y="2000250"/>
              <a:ext cx="76200" cy="4048125"/>
            </a:xfrm>
            <a:prstGeom prst="roundRect">
              <a:avLst>
                <a:gd name="adj" fmla="val 50000"/>
              </a:avLst>
            </a:prstGeom>
            <a:solidFill>
              <a:srgbClr val="91CC75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6617970" y="2250758"/>
              <a:ext cx="2066163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8FAFC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数据智能实时模式</a:t>
              </a:r>
              <a:endParaRPr lang="zh-CN" sz="1650" b="1" dirty="0">
                <a:solidFill>
                  <a:srgbClr val="F8FAFC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7" name="Line 37"/>
            <p:cNvSpPr/>
            <p:nvPr/>
          </p:nvSpPr>
          <p:spPr>
            <a:xfrm>
              <a:off x="6638925" y="2619375"/>
              <a:ext cx="4648200" cy="9525"/>
            </a:xfrm>
            <a:custGeom>
              <a:avLst/>
              <a:gdLst/>
              <a:ahLst/>
              <a:cxnLst/>
              <a:rect l="l" t="t" r="r" b="b"/>
              <a:pathLst>
                <a:path w="4648200" h="9525">
                  <a:moveTo>
                    <a:pt x="0" y="0"/>
                  </a:moveTo>
                  <a:lnTo>
                    <a:pt x="4648200" y="0"/>
                  </a:lnTo>
                </a:path>
              </a:pathLst>
            </a:custGeom>
            <a:noFill/>
            <a:ln w="9525">
              <a:solidFill>
                <a:srgbClr val="1E293B"/>
              </a:solidFill>
            </a:ln>
          </p:spPr>
        </p:sp>
        <p:grpSp>
          <p:nvGrpSpPr>
            <p:cNvPr id="45" name="Group 45"/>
            <p:cNvGrpSpPr/>
            <p:nvPr/>
          </p:nvGrpSpPr>
          <p:grpSpPr>
            <a:xfrm>
              <a:off x="6625590" y="2847975"/>
              <a:ext cx="4558236" cy="862013"/>
              <a:chOff x="6625590" y="2847975"/>
              <a:chExt cx="4558236" cy="862013"/>
            </a:xfrm>
          </p:grpSpPr>
          <p:grpSp>
            <p:nvGrpSpPr>
              <p:cNvPr id="41" name="Group 41"/>
              <p:cNvGrpSpPr/>
              <p:nvPr/>
            </p:nvGrpSpPr>
            <p:grpSpPr>
              <a:xfrm>
                <a:off x="6677025" y="2847975"/>
                <a:ext cx="228600" cy="228600"/>
                <a:chOff x="6677025" y="2847975"/>
                <a:chExt cx="228600" cy="228600"/>
              </a:xfrm>
            </p:grpSpPr>
            <p:sp>
              <p:nvSpPr>
                <p:cNvPr id="38" name="Freeform 38"/>
                <p:cNvSpPr/>
                <p:nvPr/>
              </p:nvSpPr>
              <p:spPr>
                <a:xfrm>
                  <a:off x="6677025" y="3025775"/>
                  <a:ext cx="50800" cy="50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0800" h="50800">
                      <a:moveTo>
                        <a:pt x="0" y="25400"/>
                      </a:moveTo>
                      <a:cubicBezTo>
                        <a:pt x="0" y="39428"/>
                        <a:pt x="11372" y="50800"/>
                        <a:pt x="25400" y="50800"/>
                      </a:cubicBezTo>
                      <a:cubicBezTo>
                        <a:pt x="39428" y="50800"/>
                        <a:pt x="50800" y="39428"/>
                        <a:pt x="50800" y="25400"/>
                      </a:cubicBezTo>
                      <a:cubicBezTo>
                        <a:pt x="50800" y="11372"/>
                        <a:pt x="39428" y="0"/>
                        <a:pt x="25400" y="0"/>
                      </a:cubicBezTo>
                      <a:cubicBezTo>
                        <a:pt x="11372" y="0"/>
                        <a:pt x="0" y="11372"/>
                        <a:pt x="0" y="25400"/>
                      </a:cubicBezTo>
                    </a:path>
                  </a:pathLst>
                </a:custGeom>
                <a:noFill/>
                <a:ln w="19050">
                  <a:solidFill>
                    <a:srgbClr val="91CC75"/>
                  </a:solidFill>
                </a:ln>
              </p:spPr>
            </p:sp>
            <p:sp>
              <p:nvSpPr>
                <p:cNvPr id="39" name="Freeform 39"/>
                <p:cNvSpPr/>
                <p:nvPr/>
              </p:nvSpPr>
              <p:spPr>
                <a:xfrm>
                  <a:off x="6854825" y="2847975"/>
                  <a:ext cx="50800" cy="50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0800" h="50800">
                      <a:moveTo>
                        <a:pt x="25400" y="50800"/>
                      </a:moveTo>
                      <a:cubicBezTo>
                        <a:pt x="39428" y="50800"/>
                        <a:pt x="50800" y="39428"/>
                        <a:pt x="50800" y="25400"/>
                      </a:cubicBezTo>
                      <a:cubicBezTo>
                        <a:pt x="50800" y="11372"/>
                        <a:pt x="39428" y="0"/>
                        <a:pt x="25400" y="0"/>
                      </a:cubicBezTo>
                      <a:cubicBezTo>
                        <a:pt x="11372" y="0"/>
                        <a:pt x="0" y="11372"/>
                        <a:pt x="0" y="25400"/>
                      </a:cubicBezTo>
                      <a:cubicBezTo>
                        <a:pt x="0" y="39428"/>
                        <a:pt x="11372" y="50800"/>
                        <a:pt x="25400" y="50800"/>
                      </a:cubicBezTo>
                    </a:path>
                  </a:pathLst>
                </a:custGeom>
                <a:noFill/>
                <a:ln w="19050">
                  <a:solidFill>
                    <a:srgbClr val="91CC75"/>
                  </a:solidFill>
                </a:ln>
              </p:spPr>
            </p:sp>
            <p:sp>
              <p:nvSpPr>
                <p:cNvPr id="40" name="Freeform 40"/>
                <p:cNvSpPr/>
                <p:nvPr/>
              </p:nvSpPr>
              <p:spPr>
                <a:xfrm>
                  <a:off x="6702425" y="2873375"/>
                  <a:ext cx="190500" cy="177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0500" h="177800">
                      <a:moveTo>
                        <a:pt x="76200" y="177800"/>
                      </a:moveTo>
                      <a:lnTo>
                        <a:pt x="146050" y="177800"/>
                      </a:lnTo>
                      <a:cubicBezTo>
                        <a:pt x="170599" y="177800"/>
                        <a:pt x="190500" y="157899"/>
                        <a:pt x="190500" y="133350"/>
                      </a:cubicBezTo>
                      <a:cubicBezTo>
                        <a:pt x="190500" y="108801"/>
                        <a:pt x="170599" y="88900"/>
                        <a:pt x="146050" y="88900"/>
                      </a:cubicBezTo>
                      <a:lnTo>
                        <a:pt x="44450" y="88900"/>
                      </a:lnTo>
                      <a:cubicBezTo>
                        <a:pt x="19901" y="88900"/>
                        <a:pt x="0" y="68999"/>
                        <a:pt x="0" y="44450"/>
                      </a:cubicBezTo>
                      <a:cubicBezTo>
                        <a:pt x="0" y="19901"/>
                        <a:pt x="19901" y="0"/>
                        <a:pt x="44450" y="0"/>
                      </a:cubicBezTo>
                      <a:lnTo>
                        <a:pt x="101600" y="0"/>
                      </a:lnTo>
                    </a:path>
                  </a:pathLst>
                </a:custGeom>
                <a:noFill/>
                <a:ln w="19050">
                  <a:solidFill>
                    <a:srgbClr val="91CC75"/>
                  </a:solidFill>
                </a:ln>
              </p:spPr>
            </p:sp>
          </p:grpSp>
          <p:sp>
            <p:nvSpPr>
              <p:cNvPr id="42" name="TextBox 42"/>
              <p:cNvSpPr txBox="1"/>
              <p:nvPr/>
            </p:nvSpPr>
            <p:spPr>
              <a:xfrm>
                <a:off x="7040880" y="2883218"/>
                <a:ext cx="2725626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rgbClr val="F8FAFC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方案一：实时数据流回放引擎</a:t>
                </a:r>
                <a:endParaRPr lang="zh-CN" sz="1350" b="1" dirty="0">
                  <a:solidFill>
                    <a:srgbClr val="F8FAFC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43" name="TextBox 43"/>
              <p:cNvSpPr txBox="1"/>
              <p:nvPr/>
            </p:nvSpPr>
            <p:spPr>
              <a:xfrm>
                <a:off x="6625590" y="3268028"/>
                <a:ext cx="4420219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94A3B8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以 Kaggle 真实供应链数据集为驱动，构建可配速率的回放引擎。</a:t>
                </a:r>
                <a:endParaRPr lang="zh-CN" sz="1050" dirty="0">
                  <a:solidFill>
                    <a:srgbClr val="94A3B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44" name="TextBox 44"/>
              <p:cNvSpPr txBox="1"/>
              <p:nvPr/>
            </p:nvSpPr>
            <p:spPr>
              <a:xfrm>
                <a:off x="6625590" y="3496628"/>
                <a:ext cx="4558236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94A3B8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通过 </a:t>
                </a:r>
                <a:r>
                  <a:rPr lang="zh-CN" sz="1050" b="1" dirty="0">
                    <a:solidFill>
                      <a:srgbClr val="91CC75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HMAC-SHA256</a:t>
                </a:r>
                <a:r>
                  <a:rPr lang="zh-CN" sz="1050" dirty="0">
                    <a:solidFill>
                      <a:srgbClr val="94A3B8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 安全校验签名，将订单等比流式注入后端 API。</a:t>
                </a:r>
                <a:endParaRPr lang="zh-CN" sz="1050" dirty="0">
                  <a:solidFill>
                    <a:srgbClr val="94A3B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  <p:grpSp>
          <p:nvGrpSpPr>
            <p:cNvPr id="56" name="Group 56"/>
            <p:cNvGrpSpPr/>
            <p:nvPr/>
          </p:nvGrpSpPr>
          <p:grpSpPr>
            <a:xfrm>
              <a:off x="6625590" y="4276725"/>
              <a:ext cx="4688586" cy="862013"/>
              <a:chOff x="6625590" y="4276725"/>
              <a:chExt cx="4688586" cy="862013"/>
            </a:xfrm>
          </p:grpSpPr>
          <p:grpSp>
            <p:nvGrpSpPr>
              <p:cNvPr id="52" name="Group 52"/>
              <p:cNvGrpSpPr/>
              <p:nvPr/>
            </p:nvGrpSpPr>
            <p:grpSpPr>
              <a:xfrm>
                <a:off x="6677025" y="4276725"/>
                <a:ext cx="228600" cy="228600"/>
                <a:chOff x="6677025" y="4276725"/>
                <a:chExt cx="228600" cy="228600"/>
              </a:xfrm>
            </p:grpSpPr>
            <p:sp>
              <p:nvSpPr>
                <p:cNvPr id="46" name="Freeform 46"/>
                <p:cNvSpPr/>
                <p:nvPr/>
              </p:nvSpPr>
              <p:spPr>
                <a:xfrm>
                  <a:off x="6791325" y="4403725"/>
                  <a:ext cx="88900" cy="101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8900" h="101600">
                      <a:moveTo>
                        <a:pt x="44450" y="0"/>
                      </a:moveTo>
                      <a:cubicBezTo>
                        <a:pt x="19901" y="0"/>
                        <a:pt x="0" y="19901"/>
                        <a:pt x="0" y="44450"/>
                      </a:cubicBezTo>
                      <a:lnTo>
                        <a:pt x="0" y="57150"/>
                      </a:lnTo>
                      <a:cubicBezTo>
                        <a:pt x="0" y="81699"/>
                        <a:pt x="19901" y="101600"/>
                        <a:pt x="44450" y="101600"/>
                      </a:cubicBezTo>
                      <a:cubicBezTo>
                        <a:pt x="68999" y="101600"/>
                        <a:pt x="88900" y="81699"/>
                        <a:pt x="88900" y="57150"/>
                      </a:cubicBezTo>
                      <a:lnTo>
                        <a:pt x="88900" y="34290"/>
                      </a:lnTo>
                    </a:path>
                  </a:pathLst>
                </a:custGeom>
                <a:noFill/>
                <a:ln w="19050">
                  <a:solidFill>
                    <a:srgbClr val="91CC75"/>
                  </a:solidFill>
                </a:ln>
              </p:spPr>
            </p:sp>
            <p:sp>
              <p:nvSpPr>
                <p:cNvPr id="47" name="Freeform 47"/>
                <p:cNvSpPr/>
                <p:nvPr/>
              </p:nvSpPr>
              <p:spPr>
                <a:xfrm>
                  <a:off x="6702425" y="4403725"/>
                  <a:ext cx="88900" cy="101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8900" h="101600">
                      <a:moveTo>
                        <a:pt x="44450" y="0"/>
                      </a:moveTo>
                      <a:cubicBezTo>
                        <a:pt x="68999" y="0"/>
                        <a:pt x="88900" y="19901"/>
                        <a:pt x="88900" y="44450"/>
                      </a:cubicBezTo>
                      <a:lnTo>
                        <a:pt x="88900" y="57150"/>
                      </a:lnTo>
                      <a:cubicBezTo>
                        <a:pt x="88900" y="81699"/>
                        <a:pt x="68999" y="101600"/>
                        <a:pt x="44450" y="101600"/>
                      </a:cubicBezTo>
                      <a:cubicBezTo>
                        <a:pt x="19901" y="101600"/>
                        <a:pt x="0" y="81699"/>
                        <a:pt x="0" y="57150"/>
                      </a:cubicBezTo>
                      <a:lnTo>
                        <a:pt x="0" y="34290"/>
                      </a:lnTo>
                    </a:path>
                  </a:pathLst>
                </a:custGeom>
                <a:noFill/>
                <a:ln w="19050">
                  <a:solidFill>
                    <a:srgbClr val="91CC75"/>
                  </a:solidFill>
                </a:ln>
              </p:spPr>
            </p:sp>
            <p:sp>
              <p:nvSpPr>
                <p:cNvPr id="48" name="Freeform 48"/>
                <p:cNvSpPr/>
                <p:nvPr/>
              </p:nvSpPr>
              <p:spPr>
                <a:xfrm>
                  <a:off x="6854825" y="4352925"/>
                  <a:ext cx="50800" cy="88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0800" h="88900">
                      <a:moveTo>
                        <a:pt x="6350" y="88900"/>
                      </a:moveTo>
                      <a:cubicBezTo>
                        <a:pt x="30899" y="88900"/>
                        <a:pt x="50800" y="68999"/>
                        <a:pt x="50800" y="44450"/>
                      </a:cubicBezTo>
                      <a:cubicBezTo>
                        <a:pt x="50800" y="19901"/>
                        <a:pt x="30899" y="0"/>
                        <a:pt x="6350" y="0"/>
                      </a:cubicBezTo>
                      <a:lnTo>
                        <a:pt x="0" y="0"/>
                      </a:lnTo>
                    </a:path>
                  </a:pathLst>
                </a:custGeom>
                <a:noFill/>
                <a:ln w="19050">
                  <a:solidFill>
                    <a:srgbClr val="91CC75"/>
                  </a:solidFill>
                </a:ln>
              </p:spPr>
            </p:sp>
            <p:sp>
              <p:nvSpPr>
                <p:cNvPr id="49" name="Freeform 49"/>
                <p:cNvSpPr/>
                <p:nvPr/>
              </p:nvSpPr>
              <p:spPr>
                <a:xfrm>
                  <a:off x="6791325" y="4276725"/>
                  <a:ext cx="88900" cy="800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8900" h="80010">
                      <a:moveTo>
                        <a:pt x="88900" y="80010"/>
                      </a:moveTo>
                      <a:lnTo>
                        <a:pt x="88900" y="44450"/>
                      </a:lnTo>
                      <a:cubicBezTo>
                        <a:pt x="88900" y="19901"/>
                        <a:pt x="68999" y="0"/>
                        <a:pt x="44450" y="0"/>
                      </a:cubicBezTo>
                      <a:cubicBezTo>
                        <a:pt x="19901" y="0"/>
                        <a:pt x="0" y="19901"/>
                        <a:pt x="0" y="44450"/>
                      </a:cubicBezTo>
                    </a:path>
                  </a:pathLst>
                </a:custGeom>
                <a:noFill/>
                <a:ln w="19050">
                  <a:solidFill>
                    <a:srgbClr val="91CC75"/>
                  </a:solidFill>
                </a:ln>
              </p:spPr>
            </p:sp>
            <p:sp>
              <p:nvSpPr>
                <p:cNvPr id="50" name="Freeform 50"/>
                <p:cNvSpPr/>
                <p:nvPr/>
              </p:nvSpPr>
              <p:spPr>
                <a:xfrm>
                  <a:off x="6677025" y="4352925"/>
                  <a:ext cx="50800" cy="88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0800" h="88900">
                      <a:moveTo>
                        <a:pt x="44450" y="88900"/>
                      </a:moveTo>
                      <a:cubicBezTo>
                        <a:pt x="19901" y="88900"/>
                        <a:pt x="0" y="68999"/>
                        <a:pt x="0" y="44450"/>
                      </a:cubicBezTo>
                      <a:cubicBezTo>
                        <a:pt x="0" y="19901"/>
                        <a:pt x="19901" y="0"/>
                        <a:pt x="44450" y="0"/>
                      </a:cubicBezTo>
                      <a:lnTo>
                        <a:pt x="50800" y="0"/>
                      </a:lnTo>
                    </a:path>
                  </a:pathLst>
                </a:custGeom>
                <a:noFill/>
                <a:ln w="19050">
                  <a:solidFill>
                    <a:srgbClr val="91CC75"/>
                  </a:solidFill>
                </a:ln>
              </p:spPr>
            </p:sp>
            <p:sp>
              <p:nvSpPr>
                <p:cNvPr id="51" name="Freeform 51"/>
                <p:cNvSpPr/>
                <p:nvPr/>
              </p:nvSpPr>
              <p:spPr>
                <a:xfrm>
                  <a:off x="6702425" y="4276725"/>
                  <a:ext cx="88900" cy="171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8900" h="171450">
                      <a:moveTo>
                        <a:pt x="0" y="80010"/>
                      </a:moveTo>
                      <a:lnTo>
                        <a:pt x="0" y="44450"/>
                      </a:lnTo>
                      <a:cubicBezTo>
                        <a:pt x="0" y="19901"/>
                        <a:pt x="19901" y="0"/>
                        <a:pt x="44450" y="0"/>
                      </a:cubicBezTo>
                      <a:cubicBezTo>
                        <a:pt x="68999" y="0"/>
                        <a:pt x="88900" y="19901"/>
                        <a:pt x="88900" y="44450"/>
                      </a:cubicBezTo>
                      <a:lnTo>
                        <a:pt x="88900" y="171450"/>
                      </a:lnTo>
                    </a:path>
                  </a:pathLst>
                </a:custGeom>
                <a:noFill/>
                <a:ln w="19050">
                  <a:solidFill>
                    <a:srgbClr val="91CC75"/>
                  </a:solidFill>
                </a:ln>
              </p:spPr>
            </p:sp>
          </p:grpSp>
          <p:sp>
            <p:nvSpPr>
              <p:cNvPr id="53" name="TextBox 53"/>
              <p:cNvSpPr txBox="1"/>
              <p:nvPr/>
            </p:nvSpPr>
            <p:spPr>
              <a:xfrm>
                <a:off x="7040880" y="4311968"/>
                <a:ext cx="3232840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rgbClr val="F8FAFC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方案二：双模 AI 推理与可解释归因</a:t>
                </a:r>
                <a:endParaRPr lang="zh-CN" sz="1350" b="1" dirty="0">
                  <a:solidFill>
                    <a:srgbClr val="F8FAFC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54" name="TextBox 54"/>
              <p:cNvSpPr txBox="1"/>
              <p:nvPr/>
            </p:nvSpPr>
            <p:spPr>
              <a:xfrm>
                <a:off x="6625590" y="4696778"/>
                <a:ext cx="4366546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94A3B8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财务过滤规则与机器学习模型 </a:t>
                </a:r>
                <a:r>
                  <a:rPr lang="zh-CN" sz="1050" b="1" dirty="0">
                    <a:solidFill>
                      <a:srgbClr val="91CC75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并行双轨研判</a:t>
                </a:r>
                <a:r>
                  <a:rPr lang="zh-CN" sz="1050" dirty="0">
                    <a:solidFill>
                      <a:srgbClr val="94A3B8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，毫秒级得出概率。</a:t>
                </a:r>
                <a:endParaRPr lang="zh-CN" sz="1050" dirty="0">
                  <a:solidFill>
                    <a:srgbClr val="94A3B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55" name="TextBox 55"/>
              <p:cNvSpPr txBox="1"/>
              <p:nvPr/>
            </p:nvSpPr>
            <p:spPr>
              <a:xfrm>
                <a:off x="6625590" y="4925378"/>
                <a:ext cx="4688586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94A3B8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实时计算特征重要性，提供 </a:t>
                </a:r>
                <a:r>
                  <a:rPr lang="zh-CN" sz="1050" b="1" dirty="0">
                    <a:solidFill>
                      <a:srgbClr val="91CC75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Top 5 可解释归因</a:t>
                </a:r>
                <a:r>
                  <a:rPr lang="zh-CN" sz="1050" dirty="0">
                    <a:solidFill>
                      <a:srgbClr val="94A3B8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 并在大屏端滚动渲染。</a:t>
                </a:r>
                <a:endParaRPr lang="zh-CN" sz="1050" dirty="0">
                  <a:solidFill>
                    <a:srgbClr val="94A3B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</p:grpSp>
      <p:grpSp>
        <p:nvGrpSpPr>
          <p:cNvPr id="61" name="Group 61"/>
          <p:cNvGrpSpPr/>
          <p:nvPr/>
        </p:nvGrpSpPr>
        <p:grpSpPr>
          <a:xfrm>
            <a:off x="561975" y="6381750"/>
            <a:ext cx="11068050" cy="309562"/>
            <a:chOff x="561975" y="6381750"/>
            <a:chExt cx="11068050" cy="309562"/>
          </a:xfrm>
        </p:grpSpPr>
        <p:sp>
          <p:nvSpPr>
            <p:cNvPr id="58" name="Line 58"/>
            <p:cNvSpPr/>
            <p:nvPr/>
          </p:nvSpPr>
          <p:spPr>
            <a:xfrm>
              <a:off x="571500" y="638175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rgbClr val="1E293B"/>
              </a:solidFill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561975" y="6538912"/>
              <a:ext cx="2626042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50" dirty="0">
                  <a:solidFill>
                    <a:srgbClr val="94A3B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数据来源：真实 Kaggle 供应链数据集 &amp; 系统设计指标</a:t>
              </a:r>
              <a:endParaRPr lang="zh-CN" sz="750" dirty="0">
                <a:solidFill>
                  <a:srgbClr val="94A3B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9108043" y="6538912"/>
              <a:ext cx="2521982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750" dirty="0">
                  <a:solidFill>
                    <a:srgbClr val="94A3B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AI-Enabled Supply Chain Visualization Dashboard</a:t>
              </a:r>
              <a:endParaRPr lang="zh-CN" sz="750" dirty="0">
                <a:solidFill>
                  <a:srgbClr val="94A3B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4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33" grpId="0"/>
      <p:bldP spid="57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0B0F19"/>
            </a:solidFill>
            <a:ln>
              <a:noFill/>
            </a:ln>
          </p:spPr>
        </p:sp>
        <p:sp>
          <p:nvSpPr>
            <p:cNvPr id="3" name="Freeform 3"/>
            <p:cNvSpPr/>
            <p:nvPr/>
          </p:nvSpPr>
          <p:spPr>
            <a:xfrm>
              <a:off x="571500" y="85725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solidFill>
              <a:srgbClr val="000000"/>
            </a:solidFill>
            <a:ln w="14288">
              <a:solidFill>
                <a:srgbClr val="1E293B"/>
              </a:solidFill>
            </a:ln>
          </p:spPr>
        </p:sp>
      </p:grpSp>
      <p:grpSp>
        <p:nvGrpSpPr>
          <p:cNvPr id="7" name="Group 7"/>
          <p:cNvGrpSpPr/>
          <p:nvPr/>
        </p:nvGrpSpPr>
        <p:grpSpPr>
          <a:xfrm>
            <a:off x="560070" y="331470"/>
            <a:ext cx="11071860" cy="182880"/>
            <a:chOff x="560070" y="331470"/>
            <a:chExt cx="11071860" cy="182880"/>
          </a:xfrm>
        </p:grpSpPr>
        <p:sp>
          <p:nvSpPr>
            <p:cNvPr id="5" name="TextBox 5"/>
            <p:cNvSpPr txBox="1"/>
            <p:nvPr/>
          </p:nvSpPr>
          <p:spPr>
            <a:xfrm>
              <a:off x="560070" y="331470"/>
              <a:ext cx="196890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94A3B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软件模块划分 · CORE MODULES</a:t>
              </a:r>
              <a:endParaRPr lang="zh-CN" sz="900" b="1" dirty="0">
                <a:solidFill>
                  <a:srgbClr val="94A3B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10912411" y="331470"/>
              <a:ext cx="71951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94A3B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Page 3 of 8</a:t>
              </a:r>
              <a:endParaRPr lang="zh-CN" sz="900" dirty="0">
                <a:solidFill>
                  <a:srgbClr val="94A3B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544830" y="963930"/>
            <a:ext cx="11075670" cy="874395"/>
            <a:chOff x="544830" y="963930"/>
            <a:chExt cx="11075670" cy="874395"/>
          </a:xfrm>
        </p:grpSpPr>
        <p:sp>
          <p:nvSpPr>
            <p:cNvPr id="8" name="TextBox 8"/>
            <p:cNvSpPr txBox="1"/>
            <p:nvPr/>
          </p:nvSpPr>
          <p:spPr>
            <a:xfrm>
              <a:off x="544830" y="963930"/>
              <a:ext cx="4239863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F8FAFC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系统软件功能与三大核心模块</a:t>
              </a:r>
              <a:endParaRPr lang="zh-CN" sz="2100" b="1" dirty="0">
                <a:solidFill>
                  <a:srgbClr val="F8FAFC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9" name="Rectangle 9"/>
            <p:cNvSpPr/>
            <p:nvPr/>
          </p:nvSpPr>
          <p:spPr>
            <a:xfrm>
              <a:off x="571500" y="1381125"/>
              <a:ext cx="11049000" cy="457200"/>
            </a:xfrm>
            <a:prstGeom prst="roundRect">
              <a:avLst>
                <a:gd name="adj" fmla="val 16667"/>
              </a:avLst>
            </a:prstGeom>
            <a:solidFill>
              <a:srgbClr val="161F30"/>
            </a:solidFill>
            <a:ln w="9525">
              <a:solidFill>
                <a:srgbClr val="1E293B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748665" y="1544002"/>
              <a:ext cx="816202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94A3B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系统由 </a:t>
              </a:r>
              <a:r>
                <a:rPr lang="zh-CN" sz="1050" b="1" dirty="0">
                  <a:solidFill>
                    <a:srgbClr val="4FACFE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回放引擎</a:t>
              </a:r>
              <a:r>
                <a:rPr lang="zh-CN" sz="1050" dirty="0">
                  <a:solidFill>
                    <a:srgbClr val="94A3B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 注入数据，通过 </a:t>
              </a:r>
              <a:r>
                <a:rPr lang="zh-CN" sz="1050" b="1" dirty="0">
                  <a:solidFill>
                    <a:srgbClr val="A855F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双模AI</a:t>
              </a:r>
              <a:r>
                <a:rPr lang="zh-CN" sz="1050" dirty="0">
                  <a:solidFill>
                    <a:srgbClr val="94A3B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 完成风控及XAI归因，并在 </a:t>
              </a:r>
              <a:r>
                <a:rPr lang="zh-CN" sz="1050" b="1" dirty="0">
                  <a:solidFill>
                    <a:srgbClr val="91CC75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前端大屏</a:t>
              </a:r>
              <a:r>
                <a:rPr lang="zh-CN" sz="1050" dirty="0">
                  <a:solidFill>
                    <a:srgbClr val="94A3B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 进行毫秒级广播呈现，形成完整业务闭环。</a:t>
              </a:r>
              <a:endParaRPr lang="zh-CN" sz="1050" dirty="0">
                <a:solidFill>
                  <a:srgbClr val="94A3B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571500" y="2000250"/>
            <a:ext cx="3429000" cy="4048125"/>
            <a:chOff x="571500" y="2000250"/>
            <a:chExt cx="3429000" cy="4048125"/>
          </a:xfrm>
        </p:grpSpPr>
        <p:sp>
          <p:nvSpPr>
            <p:cNvPr id="12" name="Rectangle 12"/>
            <p:cNvSpPr/>
            <p:nvPr/>
          </p:nvSpPr>
          <p:spPr>
            <a:xfrm>
              <a:off x="571500" y="2000250"/>
              <a:ext cx="3429000" cy="4048125"/>
            </a:xfrm>
            <a:prstGeom prst="roundRect">
              <a:avLst>
                <a:gd name="adj" fmla="val 3333"/>
              </a:avLst>
            </a:prstGeom>
            <a:solidFill>
              <a:srgbClr val="161F30"/>
            </a:solidFill>
            <a:ln w="14288">
              <a:solidFill>
                <a:srgbClr val="1E293B"/>
              </a:solidFill>
            </a:ln>
          </p:spPr>
        </p:sp>
        <p:sp>
          <p:nvSpPr>
            <p:cNvPr id="13" name="Freeform 13"/>
            <p:cNvSpPr/>
            <p:nvPr/>
          </p:nvSpPr>
          <p:spPr>
            <a:xfrm>
              <a:off x="571500" y="2000250"/>
              <a:ext cx="3429000" cy="457200"/>
            </a:xfrm>
            <a:custGeom>
              <a:avLst/>
              <a:gdLst/>
              <a:ahLst/>
              <a:cxnLst/>
              <a:rect l="l" t="t" r="r" b="b"/>
              <a:pathLst>
                <a:path w="3429000" h="457200">
                  <a:moveTo>
                    <a:pt x="0" y="457200"/>
                  </a:moveTo>
                  <a:lnTo>
                    <a:pt x="3429000" y="457200"/>
                  </a:lnTo>
                  <a:lnTo>
                    <a:pt x="3429000" y="142875"/>
                  </a:lnTo>
                  <a:cubicBezTo>
                    <a:pt x="3429000" y="63967"/>
                    <a:pt x="3365033" y="0"/>
                    <a:pt x="3286125" y="0"/>
                  </a:cubicBezTo>
                  <a:lnTo>
                    <a:pt x="142875" y="0"/>
                  </a:lnTo>
                  <a:cubicBezTo>
                    <a:pt x="63967" y="0"/>
                    <a:pt x="0" y="63967"/>
                    <a:pt x="0" y="142875"/>
                  </a:cubicBezTo>
                  <a:close/>
                </a:path>
              </a:pathLst>
            </a:custGeom>
            <a:solidFill>
              <a:srgbClr val="4FACFE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1442656" y="2156460"/>
              <a:ext cx="1686687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0B0F19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数据回放与安全签名</a:t>
              </a:r>
              <a:endParaRPr lang="zh-CN" sz="1200" b="1" dirty="0">
                <a:solidFill>
                  <a:srgbClr val="0B0F19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742950" y="2619375"/>
              <a:ext cx="3086100" cy="3238500"/>
            </a:xfrm>
            <a:prstGeom prst="roundRect">
              <a:avLst>
                <a:gd name="adj" fmla="val 2469"/>
              </a:avLst>
            </a:prstGeom>
            <a:solidFill>
              <a:srgbClr val="0B0F19"/>
            </a:solidFill>
            <a:ln w="9525">
              <a:solidFill>
                <a:srgbClr val="1E293B"/>
              </a:solidFill>
            </a:ln>
          </p:spPr>
        </p:sp>
        <p:grpSp>
          <p:nvGrpSpPr>
            <p:cNvPr id="20" name="Group 20"/>
            <p:cNvGrpSpPr/>
            <p:nvPr/>
          </p:nvGrpSpPr>
          <p:grpSpPr>
            <a:xfrm>
              <a:off x="969962" y="2814638"/>
              <a:ext cx="155575" cy="200025"/>
              <a:chOff x="969962" y="2814638"/>
              <a:chExt cx="155575" cy="200025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1069975" y="2814638"/>
                <a:ext cx="55562" cy="55562"/>
              </a:xfrm>
              <a:custGeom>
                <a:avLst/>
                <a:gdLst/>
                <a:ahLst/>
                <a:cxnLst/>
                <a:rect l="l" t="t" r="r" b="b"/>
                <a:pathLst>
                  <a:path w="55562" h="55562">
                    <a:moveTo>
                      <a:pt x="0" y="0"/>
                    </a:moveTo>
                    <a:lnTo>
                      <a:pt x="0" y="44450"/>
                    </a:lnTo>
                    <a:cubicBezTo>
                      <a:pt x="0" y="50587"/>
                      <a:pt x="4975" y="55562"/>
                      <a:pt x="11112" y="55562"/>
                    </a:cubicBezTo>
                    <a:lnTo>
                      <a:pt x="55562" y="55562"/>
                    </a:lnTo>
                  </a:path>
                </a:pathLst>
              </a:custGeom>
              <a:noFill/>
              <a:ln w="19050">
                <a:solidFill>
                  <a:srgbClr val="4FACFE"/>
                </a:solidFill>
              </a:ln>
            </p:spPr>
          </p:sp>
          <p:sp>
            <p:nvSpPr>
              <p:cNvPr id="17" name="Freeform 17"/>
              <p:cNvSpPr/>
              <p:nvPr/>
            </p:nvSpPr>
            <p:spPr>
              <a:xfrm>
                <a:off x="969962" y="2814638"/>
                <a:ext cx="155575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155575" h="200025">
                    <a:moveTo>
                      <a:pt x="133350" y="200025"/>
                    </a:moveTo>
                    <a:lnTo>
                      <a:pt x="22225" y="200025"/>
                    </a:lnTo>
                    <a:cubicBezTo>
                      <a:pt x="9950" y="200025"/>
                      <a:pt x="0" y="190075"/>
                      <a:pt x="0" y="177800"/>
                    </a:cubicBezTo>
                    <a:lnTo>
                      <a:pt x="0" y="22225"/>
                    </a:lnTo>
                    <a:cubicBezTo>
                      <a:pt x="0" y="9950"/>
                      <a:pt x="9950" y="0"/>
                      <a:pt x="22225" y="0"/>
                    </a:cubicBezTo>
                    <a:lnTo>
                      <a:pt x="100013" y="0"/>
                    </a:lnTo>
                    <a:lnTo>
                      <a:pt x="155575" y="55562"/>
                    </a:lnTo>
                    <a:lnTo>
                      <a:pt x="155575" y="177800"/>
                    </a:lnTo>
                    <a:cubicBezTo>
                      <a:pt x="155575" y="190075"/>
                      <a:pt x="145625" y="200025"/>
                      <a:pt x="133350" y="200025"/>
                    </a:cubicBezTo>
                  </a:path>
                </a:pathLst>
              </a:custGeom>
              <a:noFill/>
              <a:ln w="19050">
                <a:solidFill>
                  <a:srgbClr val="4FACFE"/>
                </a:solidFill>
              </a:ln>
            </p:spPr>
          </p:sp>
          <p:sp>
            <p:nvSpPr>
              <p:cNvPr id="18" name="Freeform 18"/>
              <p:cNvSpPr/>
              <p:nvPr/>
            </p:nvSpPr>
            <p:spPr>
              <a:xfrm>
                <a:off x="1014412" y="2925762"/>
                <a:ext cx="11113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11113" h="44450">
                    <a:moveTo>
                      <a:pt x="11113" y="0"/>
                    </a:moveTo>
                    <a:lnTo>
                      <a:pt x="0" y="22225"/>
                    </a:lnTo>
                    <a:lnTo>
                      <a:pt x="11113" y="44450"/>
                    </a:lnTo>
                  </a:path>
                </a:pathLst>
              </a:custGeom>
              <a:noFill/>
              <a:ln w="19050">
                <a:solidFill>
                  <a:srgbClr val="4FACFE"/>
                </a:solidFill>
              </a:ln>
            </p:spPr>
          </p:sp>
          <p:sp>
            <p:nvSpPr>
              <p:cNvPr id="19" name="Freeform 19"/>
              <p:cNvSpPr/>
              <p:nvPr/>
            </p:nvSpPr>
            <p:spPr>
              <a:xfrm>
                <a:off x="1069975" y="2925762"/>
                <a:ext cx="11112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11112" h="44450">
                    <a:moveTo>
                      <a:pt x="0" y="0"/>
                    </a:moveTo>
                    <a:lnTo>
                      <a:pt x="11112" y="22225"/>
                    </a:lnTo>
                    <a:lnTo>
                      <a:pt x="0" y="44450"/>
                    </a:lnTo>
                  </a:path>
                </a:pathLst>
              </a:custGeom>
              <a:noFill/>
              <a:ln w="19050">
                <a:solidFill>
                  <a:srgbClr val="4FACFE"/>
                </a:solidFill>
              </a:ln>
            </p:spPr>
          </p:sp>
        </p:grpSp>
        <p:sp>
          <p:nvSpPr>
            <p:cNvPr id="21" name="TextBox 21"/>
            <p:cNvSpPr txBox="1"/>
            <p:nvPr/>
          </p:nvSpPr>
          <p:spPr>
            <a:xfrm>
              <a:off x="1261110" y="2842260"/>
              <a:ext cx="199952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F8FAFC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01. 数据工程与回放引擎</a:t>
              </a:r>
              <a:endParaRPr lang="zh-CN" sz="1200" b="1" dirty="0">
                <a:solidFill>
                  <a:srgbClr val="F8FAFC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grpSp>
          <p:nvGrpSpPr>
            <p:cNvPr id="31" name="Group 31"/>
            <p:cNvGrpSpPr/>
            <p:nvPr/>
          </p:nvGrpSpPr>
          <p:grpSpPr>
            <a:xfrm>
              <a:off x="901065" y="3315652"/>
              <a:ext cx="2731294" cy="2206467"/>
              <a:chOff x="901065" y="3315652"/>
              <a:chExt cx="2731294" cy="2206467"/>
            </a:xfrm>
          </p:grpSpPr>
          <p:sp>
            <p:nvSpPr>
              <p:cNvPr id="22" name="TextBox 22"/>
              <p:cNvSpPr txBox="1"/>
              <p:nvPr/>
            </p:nvSpPr>
            <p:spPr>
              <a:xfrm>
                <a:off x="901065" y="3315652"/>
                <a:ext cx="992791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4FACFE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流式时序读取</a:t>
                </a:r>
                <a:endParaRPr lang="zh-CN" sz="1050" b="1" dirty="0">
                  <a:solidFill>
                    <a:srgbClr val="4FACFE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902018" y="3533299"/>
                <a:ext cx="2623542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94A3B8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逐行流式读取 CSV 订单数据，等比或加速</a:t>
                </a:r>
                <a:endParaRPr lang="zh-CN" sz="975" dirty="0">
                  <a:solidFill>
                    <a:srgbClr val="94A3B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902018" y="3704749"/>
                <a:ext cx="2587942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94A3B8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回放，避免大文件一次性加载内存溢出。</a:t>
                </a:r>
                <a:endParaRPr lang="zh-CN" sz="975" dirty="0">
                  <a:solidFill>
                    <a:srgbClr val="94A3B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901065" y="4125278"/>
                <a:ext cx="1105505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4FACFE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HMAC 接口签名</a:t>
                </a:r>
                <a:endParaRPr lang="zh-CN" sz="1050" b="1" dirty="0">
                  <a:solidFill>
                    <a:srgbClr val="4FACFE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902018" y="4342924"/>
                <a:ext cx="2481143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94A3B8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API校验采用 HMAC-SHA256 算法，配合</a:t>
                </a:r>
                <a:endParaRPr lang="zh-CN" sz="975" dirty="0">
                  <a:solidFill>
                    <a:srgbClr val="94A3B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902018" y="4514374"/>
                <a:ext cx="2730341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94A3B8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秒级时间戳，实现流式注入防重放防篡改。</a:t>
                </a:r>
                <a:endParaRPr lang="zh-CN" sz="975" dirty="0">
                  <a:solidFill>
                    <a:srgbClr val="94A3B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901065" y="4934902"/>
                <a:ext cx="992791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4FACFE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断点续传机制</a:t>
                </a:r>
                <a:endParaRPr lang="zh-CN" sz="1050" b="1" dirty="0">
                  <a:solidFill>
                    <a:srgbClr val="4FACFE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902018" y="5152549"/>
                <a:ext cx="2587942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94A3B8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持久化记录行号索引，网络超时自动记录</a:t>
                </a:r>
                <a:endParaRPr lang="zh-CN" sz="975" dirty="0">
                  <a:solidFill>
                    <a:srgbClr val="94A3B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902018" y="5323999"/>
                <a:ext cx="2481143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94A3B8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失败订单至 JSONL，实现高鲁棒恢复。</a:t>
                </a:r>
                <a:endParaRPr lang="zh-CN" sz="975" dirty="0">
                  <a:solidFill>
                    <a:srgbClr val="94A3B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</p:grpSp>
      <p:grpSp>
        <p:nvGrpSpPr>
          <p:cNvPr id="55" name="Group 55"/>
          <p:cNvGrpSpPr/>
          <p:nvPr/>
        </p:nvGrpSpPr>
        <p:grpSpPr>
          <a:xfrm>
            <a:off x="4381500" y="1987698"/>
            <a:ext cx="3429000" cy="4060677"/>
            <a:chOff x="4381500" y="1987698"/>
            <a:chExt cx="3429000" cy="4060677"/>
          </a:xfrm>
        </p:grpSpPr>
        <p:sp>
          <p:nvSpPr>
            <p:cNvPr id="33" name="Rectangle 33"/>
            <p:cNvSpPr/>
            <p:nvPr/>
          </p:nvSpPr>
          <p:spPr>
            <a:xfrm>
              <a:off x="4381500" y="2000250"/>
              <a:ext cx="3429000" cy="4048125"/>
            </a:xfrm>
            <a:prstGeom prst="roundRect">
              <a:avLst>
                <a:gd name="adj" fmla="val 3333"/>
              </a:avLst>
            </a:prstGeom>
            <a:solidFill>
              <a:srgbClr val="161F30"/>
            </a:solidFill>
            <a:ln w="14288">
              <a:solidFill>
                <a:srgbClr val="1E293B"/>
              </a:solidFill>
            </a:ln>
          </p:spPr>
        </p:sp>
        <p:sp>
          <p:nvSpPr>
            <p:cNvPr id="34" name="Freeform 34"/>
            <p:cNvSpPr/>
            <p:nvPr/>
          </p:nvSpPr>
          <p:spPr>
            <a:xfrm>
              <a:off x="4381500" y="1987698"/>
              <a:ext cx="3429000" cy="469752"/>
            </a:xfrm>
            <a:custGeom>
              <a:avLst/>
              <a:gdLst/>
              <a:ahLst/>
              <a:cxnLst/>
              <a:rect l="l" t="t" r="r" b="b"/>
              <a:pathLst>
                <a:path w="3429000" h="469752">
                  <a:moveTo>
                    <a:pt x="0" y="469752"/>
                  </a:moveTo>
                  <a:lnTo>
                    <a:pt x="3429000" y="469752"/>
                  </a:lnTo>
                  <a:lnTo>
                    <a:pt x="3429000" y="155427"/>
                  </a:lnTo>
                  <a:cubicBezTo>
                    <a:pt x="3429000" y="76519"/>
                    <a:pt x="3365033" y="12552"/>
                    <a:pt x="3286125" y="12552"/>
                  </a:cubicBezTo>
                  <a:lnTo>
                    <a:pt x="142875" y="12552"/>
                  </a:lnTo>
                  <a:cubicBezTo>
                    <a:pt x="90070" y="0"/>
                    <a:pt x="34713" y="18452"/>
                    <a:pt x="0" y="60177"/>
                  </a:cubicBezTo>
                  <a:close/>
                </a:path>
              </a:pathLst>
            </a:custGeom>
            <a:solidFill>
              <a:srgbClr val="A855F7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5252656" y="2156460"/>
              <a:ext cx="1686687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0B0F19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双模推理与可解释性</a:t>
              </a:r>
              <a:endParaRPr lang="zh-CN" sz="1200" b="1" dirty="0">
                <a:solidFill>
                  <a:srgbClr val="0B0F19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4552950" y="2619375"/>
              <a:ext cx="3086100" cy="3238500"/>
            </a:xfrm>
            <a:prstGeom prst="roundRect">
              <a:avLst>
                <a:gd name="adj" fmla="val 2469"/>
              </a:avLst>
            </a:prstGeom>
            <a:solidFill>
              <a:srgbClr val="0B0F19"/>
            </a:solidFill>
            <a:ln w="9525">
              <a:solidFill>
                <a:srgbClr val="1E293B"/>
              </a:solidFill>
            </a:ln>
          </p:spPr>
        </p:sp>
        <p:grpSp>
          <p:nvGrpSpPr>
            <p:cNvPr id="43" name="Group 43"/>
            <p:cNvGrpSpPr/>
            <p:nvPr/>
          </p:nvGrpSpPr>
          <p:grpSpPr>
            <a:xfrm>
              <a:off x="4757738" y="2814638"/>
              <a:ext cx="200024" cy="200024"/>
              <a:chOff x="4757738" y="2814638"/>
              <a:chExt cx="200024" cy="200024"/>
            </a:xfrm>
          </p:grpSpPr>
          <p:sp>
            <p:nvSpPr>
              <p:cNvPr id="37" name="Freeform 37"/>
              <p:cNvSpPr/>
              <p:nvPr/>
            </p:nvSpPr>
            <p:spPr>
              <a:xfrm>
                <a:off x="4857750" y="2925762"/>
                <a:ext cx="77787" cy="88900"/>
              </a:xfrm>
              <a:custGeom>
                <a:avLst/>
                <a:gdLst/>
                <a:ahLst/>
                <a:cxnLst/>
                <a:rect l="l" t="t" r="r" b="b"/>
                <a:pathLst>
                  <a:path w="77787" h="88900">
                    <a:moveTo>
                      <a:pt x="38894" y="0"/>
                    </a:moveTo>
                    <a:cubicBezTo>
                      <a:pt x="17413" y="0"/>
                      <a:pt x="0" y="17413"/>
                      <a:pt x="0" y="38894"/>
                    </a:cubicBezTo>
                    <a:lnTo>
                      <a:pt x="0" y="50006"/>
                    </a:lnTo>
                    <a:cubicBezTo>
                      <a:pt x="0" y="71487"/>
                      <a:pt x="17413" y="88900"/>
                      <a:pt x="38894" y="88900"/>
                    </a:cubicBezTo>
                    <a:cubicBezTo>
                      <a:pt x="60374" y="88900"/>
                      <a:pt x="77787" y="71487"/>
                      <a:pt x="77787" y="50006"/>
                    </a:cubicBezTo>
                    <a:lnTo>
                      <a:pt x="77787" y="30004"/>
                    </a:lnTo>
                  </a:path>
                </a:pathLst>
              </a:custGeom>
              <a:noFill/>
              <a:ln w="19050">
                <a:solidFill>
                  <a:srgbClr val="A855F7"/>
                </a:solidFill>
              </a:ln>
            </p:spPr>
          </p:sp>
          <p:sp>
            <p:nvSpPr>
              <p:cNvPr id="38" name="Freeform 38"/>
              <p:cNvSpPr/>
              <p:nvPr/>
            </p:nvSpPr>
            <p:spPr>
              <a:xfrm>
                <a:off x="4779962" y="2925762"/>
                <a:ext cx="77788" cy="88900"/>
              </a:xfrm>
              <a:custGeom>
                <a:avLst/>
                <a:gdLst/>
                <a:ahLst/>
                <a:cxnLst/>
                <a:rect l="l" t="t" r="r" b="b"/>
                <a:pathLst>
                  <a:path w="77788" h="88900">
                    <a:moveTo>
                      <a:pt x="38894" y="0"/>
                    </a:moveTo>
                    <a:cubicBezTo>
                      <a:pt x="60374" y="0"/>
                      <a:pt x="77788" y="17413"/>
                      <a:pt x="77788" y="38894"/>
                    </a:cubicBezTo>
                    <a:lnTo>
                      <a:pt x="77788" y="50006"/>
                    </a:lnTo>
                    <a:cubicBezTo>
                      <a:pt x="77788" y="71487"/>
                      <a:pt x="60374" y="88900"/>
                      <a:pt x="38894" y="88900"/>
                    </a:cubicBezTo>
                    <a:cubicBezTo>
                      <a:pt x="17413" y="88900"/>
                      <a:pt x="0" y="71487"/>
                      <a:pt x="0" y="50006"/>
                    </a:cubicBezTo>
                    <a:lnTo>
                      <a:pt x="0" y="30004"/>
                    </a:lnTo>
                  </a:path>
                </a:pathLst>
              </a:custGeom>
              <a:noFill/>
              <a:ln w="19050">
                <a:solidFill>
                  <a:srgbClr val="A855F7"/>
                </a:solidFill>
              </a:ln>
            </p:spPr>
          </p:sp>
          <p:sp>
            <p:nvSpPr>
              <p:cNvPr id="39" name="Freeform 39"/>
              <p:cNvSpPr/>
              <p:nvPr/>
            </p:nvSpPr>
            <p:spPr>
              <a:xfrm>
                <a:off x="4913312" y="2881312"/>
                <a:ext cx="44450" cy="77788"/>
              </a:xfrm>
              <a:custGeom>
                <a:avLst/>
                <a:gdLst/>
                <a:ahLst/>
                <a:cxnLst/>
                <a:rect l="l" t="t" r="r" b="b"/>
                <a:pathLst>
                  <a:path w="44450" h="77788">
                    <a:moveTo>
                      <a:pt x="5556" y="77788"/>
                    </a:moveTo>
                    <a:cubicBezTo>
                      <a:pt x="27037" y="77788"/>
                      <a:pt x="44450" y="60374"/>
                      <a:pt x="44450" y="38894"/>
                    </a:cubicBezTo>
                    <a:cubicBezTo>
                      <a:pt x="44450" y="17413"/>
                      <a:pt x="27037" y="0"/>
                      <a:pt x="5556" y="0"/>
                    </a:cubicBez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A855F7"/>
                </a:solidFill>
              </a:ln>
            </p:spPr>
          </p:sp>
          <p:sp>
            <p:nvSpPr>
              <p:cNvPr id="40" name="Freeform 40"/>
              <p:cNvSpPr/>
              <p:nvPr/>
            </p:nvSpPr>
            <p:spPr>
              <a:xfrm>
                <a:off x="4857750" y="2814638"/>
                <a:ext cx="77787" cy="70009"/>
              </a:xfrm>
              <a:custGeom>
                <a:avLst/>
                <a:gdLst/>
                <a:ahLst/>
                <a:cxnLst/>
                <a:rect l="l" t="t" r="r" b="b"/>
                <a:pathLst>
                  <a:path w="77787" h="70009">
                    <a:moveTo>
                      <a:pt x="77787" y="70009"/>
                    </a:moveTo>
                    <a:lnTo>
                      <a:pt x="77787" y="38894"/>
                    </a:lnTo>
                    <a:cubicBezTo>
                      <a:pt x="77787" y="17413"/>
                      <a:pt x="60374" y="0"/>
                      <a:pt x="38894" y="0"/>
                    </a:cubicBezTo>
                    <a:cubicBezTo>
                      <a:pt x="17413" y="0"/>
                      <a:pt x="0" y="17413"/>
                      <a:pt x="0" y="38894"/>
                    </a:cubicBezTo>
                  </a:path>
                </a:pathLst>
              </a:custGeom>
              <a:noFill/>
              <a:ln w="19050">
                <a:solidFill>
                  <a:srgbClr val="A855F7"/>
                </a:solidFill>
              </a:ln>
            </p:spPr>
          </p:sp>
          <p:sp>
            <p:nvSpPr>
              <p:cNvPr id="41" name="Freeform 41"/>
              <p:cNvSpPr/>
              <p:nvPr/>
            </p:nvSpPr>
            <p:spPr>
              <a:xfrm>
                <a:off x="4757738" y="2881312"/>
                <a:ext cx="44450" cy="77788"/>
              </a:xfrm>
              <a:custGeom>
                <a:avLst/>
                <a:gdLst/>
                <a:ahLst/>
                <a:cxnLst/>
                <a:rect l="l" t="t" r="r" b="b"/>
                <a:pathLst>
                  <a:path w="44450" h="77788">
                    <a:moveTo>
                      <a:pt x="38894" y="77788"/>
                    </a:moveTo>
                    <a:cubicBezTo>
                      <a:pt x="17413" y="77788"/>
                      <a:pt x="0" y="60374"/>
                      <a:pt x="0" y="38894"/>
                    </a:cubicBezTo>
                    <a:cubicBezTo>
                      <a:pt x="0" y="17413"/>
                      <a:pt x="17413" y="0"/>
                      <a:pt x="38894" y="0"/>
                    </a:cubicBezTo>
                    <a:lnTo>
                      <a:pt x="44450" y="0"/>
                    </a:lnTo>
                  </a:path>
                </a:pathLst>
              </a:custGeom>
              <a:noFill/>
              <a:ln w="19050">
                <a:solidFill>
                  <a:srgbClr val="A855F7"/>
                </a:solidFill>
              </a:ln>
            </p:spPr>
          </p:sp>
          <p:sp>
            <p:nvSpPr>
              <p:cNvPr id="42" name="Freeform 42"/>
              <p:cNvSpPr/>
              <p:nvPr/>
            </p:nvSpPr>
            <p:spPr>
              <a:xfrm>
                <a:off x="4779962" y="2814638"/>
                <a:ext cx="77788" cy="150019"/>
              </a:xfrm>
              <a:custGeom>
                <a:avLst/>
                <a:gdLst/>
                <a:ahLst/>
                <a:cxnLst/>
                <a:rect l="l" t="t" r="r" b="b"/>
                <a:pathLst>
                  <a:path w="77788" h="150019">
                    <a:moveTo>
                      <a:pt x="0" y="70009"/>
                    </a:moveTo>
                    <a:lnTo>
                      <a:pt x="0" y="38894"/>
                    </a:lnTo>
                    <a:cubicBezTo>
                      <a:pt x="0" y="17413"/>
                      <a:pt x="17413" y="0"/>
                      <a:pt x="38894" y="0"/>
                    </a:cubicBezTo>
                    <a:cubicBezTo>
                      <a:pt x="60374" y="0"/>
                      <a:pt x="77788" y="17413"/>
                      <a:pt x="77788" y="38894"/>
                    </a:cubicBezTo>
                    <a:lnTo>
                      <a:pt x="77788" y="150019"/>
                    </a:lnTo>
                  </a:path>
                </a:pathLst>
              </a:custGeom>
              <a:noFill/>
              <a:ln w="19050">
                <a:solidFill>
                  <a:srgbClr val="A855F7"/>
                </a:solidFill>
              </a:ln>
            </p:spPr>
          </p:sp>
        </p:grpSp>
        <p:sp>
          <p:nvSpPr>
            <p:cNvPr id="44" name="TextBox 44"/>
            <p:cNvSpPr txBox="1"/>
            <p:nvPr/>
          </p:nvSpPr>
          <p:spPr>
            <a:xfrm>
              <a:off x="5071110" y="2842260"/>
              <a:ext cx="2312365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F8FAFC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02. 双模 AI 预警与 XAI 归因</a:t>
              </a:r>
              <a:endParaRPr lang="zh-CN" sz="1200" b="1" dirty="0">
                <a:solidFill>
                  <a:srgbClr val="F8FAFC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grpSp>
          <p:nvGrpSpPr>
            <p:cNvPr id="54" name="Group 54"/>
            <p:cNvGrpSpPr/>
            <p:nvPr/>
          </p:nvGrpSpPr>
          <p:grpSpPr>
            <a:xfrm>
              <a:off x="4711065" y="3315652"/>
              <a:ext cx="2731294" cy="2206467"/>
              <a:chOff x="4711065" y="3315652"/>
              <a:chExt cx="2731294" cy="2206467"/>
            </a:xfrm>
          </p:grpSpPr>
          <p:sp>
            <p:nvSpPr>
              <p:cNvPr id="45" name="TextBox 45"/>
              <p:cNvSpPr txBox="1"/>
              <p:nvPr/>
            </p:nvSpPr>
            <p:spPr>
              <a:xfrm>
                <a:off x="4711065" y="3315652"/>
                <a:ext cx="992791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A855F7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模型常驻内存</a:t>
                </a:r>
                <a:endParaRPr lang="zh-CN" sz="1050" b="1" dirty="0">
                  <a:solidFill>
                    <a:srgbClr val="A855F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46" name="TextBox 46"/>
              <p:cNvSpPr txBox="1"/>
              <p:nvPr/>
            </p:nvSpPr>
            <p:spPr>
              <a:xfrm>
                <a:off x="4712018" y="3533299"/>
                <a:ext cx="2530983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94A3B8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FastAPI启动时一次性预加载欺诈分类、</a:t>
                </a:r>
                <a:endParaRPr lang="zh-CN" sz="975" dirty="0">
                  <a:solidFill>
                    <a:srgbClr val="94A3B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47" name="TextBox 47"/>
              <p:cNvSpPr txBox="1"/>
              <p:nvPr/>
            </p:nvSpPr>
            <p:spPr>
              <a:xfrm>
                <a:off x="4712018" y="3704749"/>
                <a:ext cx="2666262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94A3B8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延迟预测等 pkl 模型，推理时延 &lt; 20ms。</a:t>
                </a:r>
                <a:endParaRPr lang="zh-CN" sz="975" dirty="0">
                  <a:solidFill>
                    <a:srgbClr val="94A3B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48" name="TextBox 48"/>
              <p:cNvSpPr txBox="1"/>
              <p:nvPr/>
            </p:nvSpPr>
            <p:spPr>
              <a:xfrm>
                <a:off x="4711065" y="4125278"/>
                <a:ext cx="1153811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A855F7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财务规则硬拦截</a:t>
                </a:r>
                <a:endParaRPr lang="zh-CN" sz="1050" b="1" dirty="0">
                  <a:solidFill>
                    <a:srgbClr val="A855F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49" name="TextBox 49"/>
              <p:cNvSpPr txBox="1"/>
              <p:nvPr/>
            </p:nvSpPr>
            <p:spPr>
              <a:xfrm>
                <a:off x="4712018" y="4342924"/>
                <a:ext cx="2587942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94A3B8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对负利润亏损单直接硬拦截，设定风险高</a:t>
                </a:r>
                <a:endParaRPr lang="zh-CN" sz="975" dirty="0">
                  <a:solidFill>
                    <a:srgbClr val="94A3B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50" name="TextBox 50"/>
              <p:cNvSpPr txBox="1"/>
              <p:nvPr/>
            </p:nvSpPr>
            <p:spPr>
              <a:xfrm>
                <a:off x="4712018" y="4514374"/>
                <a:ext cx="2616422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94A3B8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危分，订单ID的MD5 Hash微扰防止呆板。</a:t>
                </a:r>
                <a:endParaRPr lang="zh-CN" sz="975" dirty="0">
                  <a:solidFill>
                    <a:srgbClr val="94A3B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51" name="TextBox 51"/>
              <p:cNvSpPr txBox="1"/>
              <p:nvPr/>
            </p:nvSpPr>
            <p:spPr>
              <a:xfrm>
                <a:off x="4711065" y="4934902"/>
                <a:ext cx="1153811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A855F7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特征可解释归因</a:t>
                </a:r>
                <a:endParaRPr lang="zh-CN" sz="1050" b="1" dirty="0">
                  <a:solidFill>
                    <a:srgbClr val="A855F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52" name="TextBox 52"/>
              <p:cNvSpPr txBox="1"/>
              <p:nvPr/>
            </p:nvSpPr>
            <p:spPr>
              <a:xfrm>
                <a:off x="4712018" y="5152549"/>
                <a:ext cx="2730341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94A3B8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高风险订单自动提取随机森林特征贡献度，</a:t>
                </a:r>
                <a:endParaRPr lang="zh-CN" sz="975" dirty="0">
                  <a:solidFill>
                    <a:srgbClr val="94A3B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53" name="TextBox 53"/>
              <p:cNvSpPr txBox="1"/>
              <p:nvPr/>
            </p:nvSpPr>
            <p:spPr>
              <a:xfrm>
                <a:off x="4712018" y="5323999"/>
                <a:ext cx="2538103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94A3B8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计算 Top 5 特征权重，打破 AI “黑盒”。</a:t>
                </a:r>
                <a:endParaRPr lang="zh-CN" sz="975" dirty="0">
                  <a:solidFill>
                    <a:srgbClr val="94A3B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</p:grpSp>
      <p:grpSp>
        <p:nvGrpSpPr>
          <p:cNvPr id="76" name="Group 76"/>
          <p:cNvGrpSpPr/>
          <p:nvPr/>
        </p:nvGrpSpPr>
        <p:grpSpPr>
          <a:xfrm>
            <a:off x="8191500" y="1987698"/>
            <a:ext cx="3509415" cy="4060677"/>
            <a:chOff x="8191500" y="1987698"/>
            <a:chExt cx="3509415" cy="4060677"/>
          </a:xfrm>
        </p:grpSpPr>
        <p:sp>
          <p:nvSpPr>
            <p:cNvPr id="56" name="Rectangle 56"/>
            <p:cNvSpPr/>
            <p:nvPr/>
          </p:nvSpPr>
          <p:spPr>
            <a:xfrm>
              <a:off x="8191500" y="2000250"/>
              <a:ext cx="3429000" cy="4048125"/>
            </a:xfrm>
            <a:prstGeom prst="roundRect">
              <a:avLst>
                <a:gd name="adj" fmla="val 3333"/>
              </a:avLst>
            </a:prstGeom>
            <a:solidFill>
              <a:srgbClr val="161F30"/>
            </a:solidFill>
            <a:ln w="14288">
              <a:solidFill>
                <a:srgbClr val="1E293B"/>
              </a:solidFill>
            </a:ln>
          </p:spPr>
        </p:sp>
        <p:sp>
          <p:nvSpPr>
            <p:cNvPr id="57" name="Freeform 57"/>
            <p:cNvSpPr/>
            <p:nvPr/>
          </p:nvSpPr>
          <p:spPr>
            <a:xfrm>
              <a:off x="8191500" y="1987698"/>
              <a:ext cx="3429000" cy="469752"/>
            </a:xfrm>
            <a:custGeom>
              <a:avLst/>
              <a:gdLst/>
              <a:ahLst/>
              <a:cxnLst/>
              <a:rect l="l" t="t" r="r" b="b"/>
              <a:pathLst>
                <a:path w="3429000" h="469752">
                  <a:moveTo>
                    <a:pt x="0" y="469752"/>
                  </a:moveTo>
                  <a:lnTo>
                    <a:pt x="3429000" y="469752"/>
                  </a:lnTo>
                  <a:lnTo>
                    <a:pt x="3429000" y="155427"/>
                  </a:lnTo>
                  <a:cubicBezTo>
                    <a:pt x="3429000" y="76519"/>
                    <a:pt x="3365033" y="12552"/>
                    <a:pt x="3286125" y="12552"/>
                  </a:cubicBezTo>
                  <a:lnTo>
                    <a:pt x="142875" y="12552"/>
                  </a:lnTo>
                  <a:cubicBezTo>
                    <a:pt x="90070" y="0"/>
                    <a:pt x="34713" y="18452"/>
                    <a:pt x="0" y="60177"/>
                  </a:cubicBezTo>
                  <a:close/>
                </a:path>
              </a:pathLst>
            </a:custGeom>
            <a:solidFill>
              <a:srgbClr val="91CC75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9062656" y="2156460"/>
              <a:ext cx="1686687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0B0F19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实时指标与网络优化</a:t>
              </a:r>
              <a:endParaRPr lang="zh-CN" sz="1200" b="1" dirty="0">
                <a:solidFill>
                  <a:srgbClr val="0B0F19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59" name="Rectangle 59"/>
            <p:cNvSpPr/>
            <p:nvPr/>
          </p:nvSpPr>
          <p:spPr>
            <a:xfrm>
              <a:off x="8362950" y="2619375"/>
              <a:ext cx="3086100" cy="3238500"/>
            </a:xfrm>
            <a:prstGeom prst="roundRect">
              <a:avLst>
                <a:gd name="adj" fmla="val 2469"/>
              </a:avLst>
            </a:prstGeom>
            <a:solidFill>
              <a:srgbClr val="0B0F19"/>
            </a:solidFill>
            <a:ln w="9525">
              <a:solidFill>
                <a:srgbClr val="1E293B"/>
              </a:solidFill>
            </a:ln>
          </p:spPr>
        </p:sp>
        <p:grpSp>
          <p:nvGrpSpPr>
            <p:cNvPr id="64" name="Group 64"/>
            <p:cNvGrpSpPr/>
            <p:nvPr/>
          </p:nvGrpSpPr>
          <p:grpSpPr>
            <a:xfrm>
              <a:off x="8578850" y="2825750"/>
              <a:ext cx="177800" cy="177800"/>
              <a:chOff x="8578850" y="2825750"/>
              <a:chExt cx="177800" cy="177800"/>
            </a:xfrm>
          </p:grpSpPr>
          <p:sp>
            <p:nvSpPr>
              <p:cNvPr id="60" name="Freeform 60"/>
              <p:cNvSpPr/>
              <p:nvPr/>
            </p:nvSpPr>
            <p:spPr>
              <a:xfrm>
                <a:off x="8578850" y="2825750"/>
                <a:ext cx="66675" cy="88900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88900">
                    <a:moveTo>
                      <a:pt x="11113" y="0"/>
                    </a:moveTo>
                    <a:lnTo>
                      <a:pt x="55563" y="0"/>
                    </a:lnTo>
                    <a:cubicBezTo>
                      <a:pt x="61700" y="0"/>
                      <a:pt x="66675" y="4975"/>
                      <a:pt x="66675" y="11112"/>
                    </a:cubicBezTo>
                    <a:lnTo>
                      <a:pt x="66675" y="77787"/>
                    </a:lnTo>
                    <a:cubicBezTo>
                      <a:pt x="66675" y="83925"/>
                      <a:pt x="61700" y="88900"/>
                      <a:pt x="55563" y="88900"/>
                    </a:cubicBezTo>
                    <a:lnTo>
                      <a:pt x="11113" y="88900"/>
                    </a:lnTo>
                    <a:cubicBezTo>
                      <a:pt x="4975" y="88900"/>
                      <a:pt x="0" y="83925"/>
                      <a:pt x="0" y="77787"/>
                    </a:cubicBezTo>
                    <a:lnTo>
                      <a:pt x="0" y="11112"/>
                    </a:lnTo>
                    <a:cubicBezTo>
                      <a:pt x="0" y="4975"/>
                      <a:pt x="4975" y="0"/>
                      <a:pt x="11113" y="0"/>
                    </a:cubicBezTo>
                  </a:path>
                </a:pathLst>
              </a:custGeom>
              <a:noFill/>
              <a:ln w="19050">
                <a:solidFill>
                  <a:srgbClr val="91CC75"/>
                </a:solidFill>
              </a:ln>
            </p:spPr>
          </p:sp>
          <p:sp>
            <p:nvSpPr>
              <p:cNvPr id="61" name="Freeform 61"/>
              <p:cNvSpPr/>
              <p:nvPr/>
            </p:nvSpPr>
            <p:spPr>
              <a:xfrm>
                <a:off x="8578850" y="2959100"/>
                <a:ext cx="666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44450">
                    <a:moveTo>
                      <a:pt x="11113" y="0"/>
                    </a:moveTo>
                    <a:lnTo>
                      <a:pt x="55563" y="0"/>
                    </a:lnTo>
                    <a:cubicBezTo>
                      <a:pt x="61700" y="0"/>
                      <a:pt x="66675" y="4975"/>
                      <a:pt x="66675" y="11112"/>
                    </a:cubicBezTo>
                    <a:lnTo>
                      <a:pt x="66675" y="33338"/>
                    </a:lnTo>
                    <a:cubicBezTo>
                      <a:pt x="66675" y="39475"/>
                      <a:pt x="61700" y="44450"/>
                      <a:pt x="55563" y="44450"/>
                    </a:cubicBezTo>
                    <a:lnTo>
                      <a:pt x="11113" y="44450"/>
                    </a:lnTo>
                    <a:cubicBezTo>
                      <a:pt x="4975" y="44450"/>
                      <a:pt x="0" y="39475"/>
                      <a:pt x="0" y="33338"/>
                    </a:cubicBezTo>
                    <a:lnTo>
                      <a:pt x="0" y="11112"/>
                    </a:lnTo>
                    <a:cubicBezTo>
                      <a:pt x="0" y="4975"/>
                      <a:pt x="4975" y="0"/>
                      <a:pt x="11113" y="0"/>
                    </a:cubicBezTo>
                  </a:path>
                </a:pathLst>
              </a:custGeom>
              <a:noFill/>
              <a:ln w="19050">
                <a:solidFill>
                  <a:srgbClr val="91CC75"/>
                </a:solidFill>
              </a:ln>
            </p:spPr>
          </p:sp>
          <p:sp>
            <p:nvSpPr>
              <p:cNvPr id="62" name="Freeform 62"/>
              <p:cNvSpPr/>
              <p:nvPr/>
            </p:nvSpPr>
            <p:spPr>
              <a:xfrm>
                <a:off x="8689975" y="2914650"/>
                <a:ext cx="66675" cy="88900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88900">
                    <a:moveTo>
                      <a:pt x="11112" y="0"/>
                    </a:moveTo>
                    <a:lnTo>
                      <a:pt x="55562" y="0"/>
                    </a:lnTo>
                    <a:cubicBezTo>
                      <a:pt x="61700" y="0"/>
                      <a:pt x="66675" y="4975"/>
                      <a:pt x="66675" y="11113"/>
                    </a:cubicBezTo>
                    <a:lnTo>
                      <a:pt x="66675" y="77788"/>
                    </a:lnTo>
                    <a:cubicBezTo>
                      <a:pt x="66675" y="83925"/>
                      <a:pt x="61700" y="88900"/>
                      <a:pt x="55562" y="88900"/>
                    </a:cubicBezTo>
                    <a:lnTo>
                      <a:pt x="11112" y="88900"/>
                    </a:lnTo>
                    <a:cubicBezTo>
                      <a:pt x="4975" y="88900"/>
                      <a:pt x="0" y="83925"/>
                      <a:pt x="0" y="77788"/>
                    </a:cubicBezTo>
                    <a:lnTo>
                      <a:pt x="0" y="11113"/>
                    </a:lnTo>
                    <a:cubicBezTo>
                      <a:pt x="0" y="4975"/>
                      <a:pt x="4975" y="0"/>
                      <a:pt x="11112" y="0"/>
                    </a:cubicBezTo>
                  </a:path>
                </a:pathLst>
              </a:custGeom>
              <a:noFill/>
              <a:ln w="19050">
                <a:solidFill>
                  <a:srgbClr val="91CC75"/>
                </a:solidFill>
              </a:ln>
            </p:spPr>
          </p:sp>
          <p:sp>
            <p:nvSpPr>
              <p:cNvPr id="63" name="Freeform 63"/>
              <p:cNvSpPr/>
              <p:nvPr/>
            </p:nvSpPr>
            <p:spPr>
              <a:xfrm>
                <a:off x="8689975" y="2825750"/>
                <a:ext cx="666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44450">
                    <a:moveTo>
                      <a:pt x="11112" y="0"/>
                    </a:moveTo>
                    <a:lnTo>
                      <a:pt x="55562" y="0"/>
                    </a:lnTo>
                    <a:cubicBezTo>
                      <a:pt x="61700" y="0"/>
                      <a:pt x="66675" y="4975"/>
                      <a:pt x="66675" y="11112"/>
                    </a:cubicBezTo>
                    <a:lnTo>
                      <a:pt x="66675" y="33338"/>
                    </a:lnTo>
                    <a:cubicBezTo>
                      <a:pt x="66675" y="39475"/>
                      <a:pt x="61700" y="44450"/>
                      <a:pt x="55562" y="44450"/>
                    </a:cubicBezTo>
                    <a:lnTo>
                      <a:pt x="11112" y="44450"/>
                    </a:lnTo>
                    <a:cubicBezTo>
                      <a:pt x="4975" y="44450"/>
                      <a:pt x="0" y="39475"/>
                      <a:pt x="0" y="33338"/>
                    </a:cubicBezTo>
                    <a:lnTo>
                      <a:pt x="0" y="11112"/>
                    </a:lnTo>
                    <a:cubicBezTo>
                      <a:pt x="0" y="4975"/>
                      <a:pt x="4975" y="0"/>
                      <a:pt x="11112" y="0"/>
                    </a:cubicBezTo>
                  </a:path>
                </a:pathLst>
              </a:custGeom>
              <a:noFill/>
              <a:ln w="19050">
                <a:solidFill>
                  <a:srgbClr val="91CC75"/>
                </a:solidFill>
              </a:ln>
            </p:spPr>
          </p:sp>
        </p:grpSp>
        <p:sp>
          <p:nvSpPr>
            <p:cNvPr id="65" name="TextBox 65"/>
            <p:cNvSpPr txBox="1"/>
            <p:nvPr/>
          </p:nvSpPr>
          <p:spPr>
            <a:xfrm>
              <a:off x="8881110" y="2842260"/>
              <a:ext cx="167748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F8FAFC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03. 可视化监控大屏</a:t>
              </a:r>
              <a:endParaRPr lang="zh-CN" sz="1200" b="1" dirty="0">
                <a:solidFill>
                  <a:srgbClr val="F8FAFC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grpSp>
          <p:nvGrpSpPr>
            <p:cNvPr id="75" name="Group 75"/>
            <p:cNvGrpSpPr/>
            <p:nvPr/>
          </p:nvGrpSpPr>
          <p:grpSpPr>
            <a:xfrm>
              <a:off x="8521065" y="3315652"/>
              <a:ext cx="3179850" cy="2206467"/>
              <a:chOff x="8521065" y="3315652"/>
              <a:chExt cx="3179850" cy="2206467"/>
            </a:xfrm>
          </p:grpSpPr>
          <p:sp>
            <p:nvSpPr>
              <p:cNvPr id="66" name="TextBox 66"/>
              <p:cNvSpPr txBox="1"/>
              <p:nvPr/>
            </p:nvSpPr>
            <p:spPr>
              <a:xfrm>
                <a:off x="8521065" y="3315652"/>
                <a:ext cx="154831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91CC75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WebSocket 实时广播</a:t>
                </a:r>
                <a:endParaRPr lang="zh-CN" sz="1050" b="1" dirty="0">
                  <a:solidFill>
                    <a:srgbClr val="91CC75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67" name="TextBox 67"/>
              <p:cNvSpPr txBox="1"/>
              <p:nvPr/>
            </p:nvSpPr>
            <p:spPr>
              <a:xfrm>
                <a:off x="8522018" y="3533299"/>
                <a:ext cx="2794421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94A3B8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建立 WSS 双向长连接，后端发布订阅解耦，</a:t>
                </a:r>
                <a:endParaRPr lang="zh-CN" sz="975" dirty="0">
                  <a:solidFill>
                    <a:srgbClr val="94A3B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68" name="TextBox 68"/>
              <p:cNvSpPr txBox="1"/>
              <p:nvPr/>
            </p:nvSpPr>
            <p:spPr>
              <a:xfrm>
                <a:off x="8522018" y="3704749"/>
                <a:ext cx="3015139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94A3B8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高危订单滑入插顶广播，初始化历史告警回补。</a:t>
                </a:r>
                <a:endParaRPr lang="zh-CN" sz="975" dirty="0">
                  <a:solidFill>
                    <a:srgbClr val="94A3B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69" name="TextBox 69"/>
              <p:cNvSpPr txBox="1"/>
              <p:nvPr/>
            </p:nvSpPr>
            <p:spPr>
              <a:xfrm>
                <a:off x="8521065" y="4125278"/>
                <a:ext cx="1153811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91CC75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大屏内存防溢出</a:t>
                </a:r>
                <a:endParaRPr lang="zh-CN" sz="1050" b="1" dirty="0">
                  <a:solidFill>
                    <a:srgbClr val="91CC75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70" name="TextBox 70"/>
              <p:cNvSpPr txBox="1"/>
              <p:nvPr/>
            </p:nvSpPr>
            <p:spPr>
              <a:xfrm>
                <a:off x="8522018" y="4342924"/>
                <a:ext cx="2587942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94A3B8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前端状态管理器对滚动列表长度设置上限</a:t>
                </a:r>
                <a:endParaRPr lang="zh-CN" sz="975" dirty="0">
                  <a:solidFill>
                    <a:srgbClr val="94A3B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71" name="TextBox 71"/>
              <p:cNvSpPr txBox="1"/>
              <p:nvPr/>
            </p:nvSpPr>
            <p:spPr>
              <a:xfrm>
                <a:off x="8522018" y="4514374"/>
                <a:ext cx="3178897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94A3B8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（限制为 5 条），避免挂机运行导致浏览器崩溃。</a:t>
                </a:r>
                <a:endParaRPr lang="zh-CN" sz="975" dirty="0">
                  <a:solidFill>
                    <a:srgbClr val="94A3B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72" name="TextBox 72"/>
              <p:cNvSpPr txBox="1"/>
              <p:nvPr/>
            </p:nvSpPr>
            <p:spPr>
              <a:xfrm>
                <a:off x="8521065" y="4934902"/>
                <a:ext cx="1475851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91CC75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指数退避与容灾兜底</a:t>
                </a:r>
                <a:endParaRPr lang="zh-CN" sz="1050" b="1" dirty="0">
                  <a:solidFill>
                    <a:srgbClr val="91CC75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73" name="TextBox 73"/>
              <p:cNvSpPr txBox="1"/>
              <p:nvPr/>
            </p:nvSpPr>
            <p:spPr>
              <a:xfrm>
                <a:off x="8522018" y="5152549"/>
                <a:ext cx="2566583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94A3B8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长连接断开后使用指数退避自动重连；AI</a:t>
                </a:r>
                <a:endParaRPr lang="zh-CN" sz="975" dirty="0">
                  <a:solidFill>
                    <a:srgbClr val="94A3B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74" name="TextBox 74"/>
              <p:cNvSpPr txBox="1"/>
              <p:nvPr/>
            </p:nvSpPr>
            <p:spPr>
              <a:xfrm>
                <a:off x="8522018" y="5323999"/>
                <a:ext cx="2979539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94A3B8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微服务异常时无缝调用 MySQL 历史均值兜底。</a:t>
                </a:r>
                <a:endParaRPr lang="zh-CN" sz="975" dirty="0">
                  <a:solidFill>
                    <a:srgbClr val="94A3B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</p:grpSp>
      <p:grpSp>
        <p:nvGrpSpPr>
          <p:cNvPr id="80" name="Group 80"/>
          <p:cNvGrpSpPr/>
          <p:nvPr/>
        </p:nvGrpSpPr>
        <p:grpSpPr>
          <a:xfrm>
            <a:off x="561975" y="6381750"/>
            <a:ext cx="11068050" cy="309562"/>
            <a:chOff x="561975" y="6381750"/>
            <a:chExt cx="11068050" cy="309562"/>
          </a:xfrm>
        </p:grpSpPr>
        <p:sp>
          <p:nvSpPr>
            <p:cNvPr id="77" name="Line 77"/>
            <p:cNvSpPr/>
            <p:nvPr/>
          </p:nvSpPr>
          <p:spPr>
            <a:xfrm>
              <a:off x="571500" y="638175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rgbClr val="1E293B"/>
              </a:solidFill>
            </a:ln>
          </p:spPr>
        </p:sp>
        <p:sp>
          <p:nvSpPr>
            <p:cNvPr id="78" name="TextBox 78"/>
            <p:cNvSpPr txBox="1"/>
            <p:nvPr/>
          </p:nvSpPr>
          <p:spPr>
            <a:xfrm>
              <a:off x="561975" y="6538912"/>
              <a:ext cx="3009424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50" dirty="0">
                  <a:solidFill>
                    <a:srgbClr val="94A3B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设计标准：符合 GB/T 8567 模块划分规范，低耦合高内聚设计</a:t>
              </a:r>
              <a:endParaRPr lang="zh-CN" sz="750" dirty="0">
                <a:solidFill>
                  <a:srgbClr val="94A3B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9108043" y="6538912"/>
              <a:ext cx="2521982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750" dirty="0">
                  <a:solidFill>
                    <a:srgbClr val="94A3B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AI-Enabled Supply Chain Visualization Dashboard</a:t>
              </a:r>
              <a:endParaRPr lang="zh-CN" sz="750" dirty="0">
                <a:solidFill>
                  <a:srgbClr val="94A3B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1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4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9" dur="4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32" grpId="0"/>
      <p:bldP spid="55" grpId="0"/>
      <p:bldP spid="76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0B0F19"/>
            </a:solidFill>
            <a:ln>
              <a:noFill/>
            </a:ln>
          </p:spPr>
        </p:sp>
        <p:sp>
          <p:nvSpPr>
            <p:cNvPr id="3" name="Freeform 3"/>
            <p:cNvSpPr/>
            <p:nvPr/>
          </p:nvSpPr>
          <p:spPr>
            <a:xfrm>
              <a:off x="571500" y="85725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solidFill>
              <a:srgbClr val="000000"/>
            </a:solidFill>
            <a:ln w="14288">
              <a:solidFill>
                <a:srgbClr val="1E293B"/>
              </a:solidFill>
            </a:ln>
          </p:spPr>
        </p:sp>
      </p:grpSp>
      <p:grpSp>
        <p:nvGrpSpPr>
          <p:cNvPr id="7" name="Group 7"/>
          <p:cNvGrpSpPr/>
          <p:nvPr/>
        </p:nvGrpSpPr>
        <p:grpSpPr>
          <a:xfrm>
            <a:off x="560070" y="331470"/>
            <a:ext cx="11071860" cy="182880"/>
            <a:chOff x="560070" y="331470"/>
            <a:chExt cx="11071860" cy="182880"/>
          </a:xfrm>
        </p:grpSpPr>
        <p:sp>
          <p:nvSpPr>
            <p:cNvPr id="5" name="TextBox 5"/>
            <p:cNvSpPr txBox="1"/>
            <p:nvPr/>
          </p:nvSpPr>
          <p:spPr>
            <a:xfrm>
              <a:off x="560070" y="331470"/>
              <a:ext cx="2389856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94A3B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技术方案设计 · TECHNICAL TOPOLOGY</a:t>
              </a:r>
              <a:endParaRPr lang="zh-CN" sz="900" b="1" dirty="0">
                <a:solidFill>
                  <a:srgbClr val="94A3B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10912411" y="331470"/>
              <a:ext cx="71951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94A3B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Page 4 of 8</a:t>
              </a:r>
              <a:endParaRPr lang="zh-CN" sz="900" dirty="0">
                <a:solidFill>
                  <a:srgbClr val="94A3B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544830" y="963930"/>
            <a:ext cx="11075670" cy="874395"/>
            <a:chOff x="544830" y="963930"/>
            <a:chExt cx="11075670" cy="874395"/>
          </a:xfrm>
        </p:grpSpPr>
        <p:sp>
          <p:nvSpPr>
            <p:cNvPr id="8" name="TextBox 8"/>
            <p:cNvSpPr txBox="1"/>
            <p:nvPr/>
          </p:nvSpPr>
          <p:spPr>
            <a:xfrm>
              <a:off x="544830" y="963930"/>
              <a:ext cx="3917823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F8FAFC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系统技术栈与物理部署拓扑</a:t>
              </a:r>
              <a:endParaRPr lang="zh-CN" sz="2100" b="1" dirty="0">
                <a:solidFill>
                  <a:srgbClr val="F8FAFC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9" name="Rectangle 9"/>
            <p:cNvSpPr/>
            <p:nvPr/>
          </p:nvSpPr>
          <p:spPr>
            <a:xfrm>
              <a:off x="571500" y="1381125"/>
              <a:ext cx="11049000" cy="457200"/>
            </a:xfrm>
            <a:prstGeom prst="roundRect">
              <a:avLst>
                <a:gd name="adj" fmla="val 16667"/>
              </a:avLst>
            </a:prstGeom>
            <a:solidFill>
              <a:srgbClr val="161F30"/>
            </a:solidFill>
            <a:ln w="9525">
              <a:solidFill>
                <a:srgbClr val="1E293B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748665" y="1544002"/>
              <a:ext cx="908213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94A3B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系统采用前后端分离的 </a:t>
              </a:r>
              <a:r>
                <a:rPr lang="zh-CN" sz="1050" b="1" dirty="0">
                  <a:solidFill>
                    <a:srgbClr val="4FACFE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容器化微服务部署</a:t>
              </a:r>
              <a:r>
                <a:rPr lang="zh-CN" sz="1050" dirty="0">
                  <a:solidFill>
                    <a:srgbClr val="94A3B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，大屏与后端通过 </a:t>
              </a:r>
              <a:r>
                <a:rPr lang="zh-CN" sz="1050" b="1" dirty="0">
                  <a:solidFill>
                    <a:srgbClr val="91CC75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WebSocket</a:t>
              </a:r>
              <a:r>
                <a:rPr lang="zh-CN" sz="1050" dirty="0">
                  <a:solidFill>
                    <a:srgbClr val="94A3B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 长连接实现毫秒级指标更新，全链路由 HMAC 签名保驾护航。</a:t>
              </a:r>
              <a:endParaRPr lang="zh-CN" sz="1050" dirty="0">
                <a:solidFill>
                  <a:srgbClr val="94A3B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571500" y="2000250"/>
            <a:ext cx="3048000" cy="4048125"/>
            <a:chOff x="571500" y="2000250"/>
            <a:chExt cx="3048000" cy="4048125"/>
          </a:xfrm>
        </p:grpSpPr>
        <p:sp>
          <p:nvSpPr>
            <p:cNvPr id="12" name="Rectangle 12"/>
            <p:cNvSpPr/>
            <p:nvPr/>
          </p:nvSpPr>
          <p:spPr>
            <a:xfrm>
              <a:off x="571500" y="2000250"/>
              <a:ext cx="3048000" cy="4048125"/>
            </a:xfrm>
            <a:prstGeom prst="roundRect">
              <a:avLst>
                <a:gd name="adj" fmla="val 5000"/>
              </a:avLst>
            </a:prstGeom>
            <a:solidFill>
              <a:srgbClr val="161F30"/>
            </a:solidFill>
            <a:ln w="14288">
              <a:solidFill>
                <a:srgbClr val="1E293B"/>
              </a:solidFill>
            </a:ln>
          </p:spPr>
        </p:sp>
        <p:sp>
          <p:nvSpPr>
            <p:cNvPr id="13" name="Freeform 13"/>
            <p:cNvSpPr/>
            <p:nvPr/>
          </p:nvSpPr>
          <p:spPr>
            <a:xfrm>
              <a:off x="571500" y="2000250"/>
              <a:ext cx="3048000" cy="419100"/>
            </a:xfrm>
            <a:custGeom>
              <a:avLst/>
              <a:gdLst/>
              <a:ahLst/>
              <a:cxnLst/>
              <a:rect l="l" t="t" r="r" b="b"/>
              <a:pathLst>
                <a:path w="3048000" h="419100">
                  <a:moveTo>
                    <a:pt x="0" y="419100"/>
                  </a:moveTo>
                  <a:lnTo>
                    <a:pt x="3048000" y="419100"/>
                  </a:lnTo>
                  <a:lnTo>
                    <a:pt x="3048000" y="142875"/>
                  </a:lnTo>
                  <a:cubicBezTo>
                    <a:pt x="3048000" y="63967"/>
                    <a:pt x="2984033" y="0"/>
                    <a:pt x="2905125" y="0"/>
                  </a:cubicBezTo>
                  <a:lnTo>
                    <a:pt x="142875" y="0"/>
                  </a:lnTo>
                  <a:cubicBezTo>
                    <a:pt x="63967" y="0"/>
                    <a:pt x="0" y="63967"/>
                    <a:pt x="0" y="142875"/>
                  </a:cubicBezTo>
                  <a:close/>
                </a:path>
              </a:pathLst>
            </a:custGeom>
            <a:solidFill>
              <a:srgbClr val="4FACFE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1210751" y="2156460"/>
              <a:ext cx="1769497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0B0F19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客户端构件 (CLIENT)</a:t>
              </a:r>
              <a:endParaRPr lang="zh-CN" sz="1200" b="1" dirty="0">
                <a:solidFill>
                  <a:srgbClr val="0B0F19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grpSp>
          <p:nvGrpSpPr>
            <p:cNvPr id="26" name="Group 26"/>
            <p:cNvGrpSpPr/>
            <p:nvPr/>
          </p:nvGrpSpPr>
          <p:grpSpPr>
            <a:xfrm>
              <a:off x="762000" y="2571750"/>
              <a:ext cx="2667000" cy="1428750"/>
              <a:chOff x="762000" y="2571750"/>
              <a:chExt cx="2667000" cy="1428750"/>
            </a:xfrm>
            <a:effectLst>
              <a:outerShdw blurRad="76200" dist="19050" dir="5400000" algn="ctr" rotWithShape="0">
                <a:srgbClr val="0B0F19">
                  <a:alpha val="37500"/>
                </a:srgbClr>
              </a:outerShdw>
            </a:effectLst>
          </p:grpSpPr>
          <p:sp>
            <p:nvSpPr>
              <p:cNvPr id="15" name="Rectangle 15"/>
              <p:cNvSpPr/>
              <p:nvPr/>
            </p:nvSpPr>
            <p:spPr>
              <a:xfrm>
                <a:off x="762000" y="2571750"/>
                <a:ext cx="2667000" cy="1428750"/>
              </a:xfrm>
              <a:prstGeom prst="roundRect">
                <a:avLst>
                  <a:gd name="adj" fmla="val 6667"/>
                </a:avLst>
              </a:prstGeom>
              <a:solidFill>
                <a:srgbClr val="0B0F19"/>
              </a:solidFill>
              <a:ln w="9525">
                <a:solidFill>
                  <a:srgbClr val="1E293B"/>
                </a:solidFill>
              </a:ln>
              <a:effectLst>
                <a:outerShdw blurRad="76200" dist="19050" dir="5400000" algn="ctr" rotWithShape="0">
                  <a:srgbClr val="0B0F19">
                    <a:alpha val="37500"/>
                  </a:srgbClr>
                </a:outerShdw>
              </a:effectLst>
            </p:spPr>
          </p:sp>
          <p:sp>
            <p:nvSpPr>
              <p:cNvPr id="16" name="Rectangle 16"/>
              <p:cNvSpPr/>
              <p:nvPr/>
            </p:nvSpPr>
            <p:spPr>
              <a:xfrm>
                <a:off x="762000" y="2571750"/>
                <a:ext cx="57150" cy="1428750"/>
              </a:xfrm>
              <a:prstGeom prst="roundRect">
                <a:avLst>
                  <a:gd name="adj" fmla="val 50000"/>
                </a:avLst>
              </a:prstGeom>
              <a:solidFill>
                <a:srgbClr val="4FACFE"/>
              </a:solidFill>
              <a:ln>
                <a:noFill/>
              </a:ln>
              <a:effectLst>
                <a:outerShdw blurRad="76200" dist="19050" dir="5400000" algn="ctr" rotWithShape="0">
                  <a:srgbClr val="0B0F19">
                    <a:alpha val="37500"/>
                  </a:srgbClr>
                </a:outerShdw>
              </a:effectLst>
            </p:spPr>
          </p:sp>
          <p:grpSp>
            <p:nvGrpSpPr>
              <p:cNvPr id="21" name="Group 21"/>
              <p:cNvGrpSpPr/>
              <p:nvPr/>
            </p:nvGrpSpPr>
            <p:grpSpPr>
              <a:xfrm>
                <a:off x="1000125" y="2743200"/>
                <a:ext cx="133350" cy="171450"/>
                <a:chOff x="1000125" y="2743200"/>
                <a:chExt cx="133350" cy="171450"/>
              </a:xfrm>
            </p:grpSpPr>
            <p:sp>
              <p:nvSpPr>
                <p:cNvPr id="17" name="Freeform 17"/>
                <p:cNvSpPr/>
                <p:nvPr/>
              </p:nvSpPr>
              <p:spPr>
                <a:xfrm>
                  <a:off x="1085850" y="2743200"/>
                  <a:ext cx="47625" cy="47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7625" h="47625">
                      <a:moveTo>
                        <a:pt x="0" y="0"/>
                      </a:moveTo>
                      <a:lnTo>
                        <a:pt x="0" y="38100"/>
                      </a:lnTo>
                      <a:cubicBezTo>
                        <a:pt x="0" y="43361"/>
                        <a:pt x="4264" y="47625"/>
                        <a:pt x="9525" y="47625"/>
                      </a:cubicBezTo>
                      <a:lnTo>
                        <a:pt x="47625" y="47625"/>
                      </a:lnTo>
                    </a:path>
                  </a:pathLst>
                </a:custGeom>
                <a:noFill/>
                <a:ln w="19050">
                  <a:solidFill>
                    <a:srgbClr val="4FACFE"/>
                  </a:solidFill>
                </a:ln>
                <a:effectLst>
                  <a:outerShdw blurRad="76200" dist="19050" dir="5400000" algn="ctr" rotWithShape="0">
                    <a:srgbClr val="0B0F19">
                      <a:alpha val="37500"/>
                    </a:srgbClr>
                  </a:outerShdw>
                </a:effectLst>
              </p:spPr>
            </p:sp>
            <p:sp>
              <p:nvSpPr>
                <p:cNvPr id="18" name="Freeform 18"/>
                <p:cNvSpPr/>
                <p:nvPr/>
              </p:nvSpPr>
              <p:spPr>
                <a:xfrm>
                  <a:off x="1000125" y="2743200"/>
                  <a:ext cx="133350" cy="171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3350" h="171450">
                      <a:moveTo>
                        <a:pt x="114300" y="171450"/>
                      </a:moveTo>
                      <a:lnTo>
                        <a:pt x="19050" y="171450"/>
                      </a:lnTo>
                      <a:cubicBezTo>
                        <a:pt x="8529" y="171450"/>
                        <a:pt x="0" y="162921"/>
                        <a:pt x="0" y="152400"/>
                      </a:cubicBezTo>
                      <a:lnTo>
                        <a:pt x="0" y="19050"/>
                      </a:lnTo>
                      <a:cubicBezTo>
                        <a:pt x="0" y="8529"/>
                        <a:pt x="8529" y="0"/>
                        <a:pt x="19050" y="0"/>
                      </a:cubicBezTo>
                      <a:lnTo>
                        <a:pt x="85725" y="0"/>
                      </a:lnTo>
                      <a:lnTo>
                        <a:pt x="133350" y="47625"/>
                      </a:lnTo>
                      <a:lnTo>
                        <a:pt x="133350" y="152400"/>
                      </a:lnTo>
                      <a:cubicBezTo>
                        <a:pt x="133350" y="162921"/>
                        <a:pt x="124821" y="171450"/>
                        <a:pt x="114300" y="171450"/>
                      </a:cubicBezTo>
                    </a:path>
                  </a:pathLst>
                </a:custGeom>
                <a:noFill/>
                <a:ln w="19050">
                  <a:solidFill>
                    <a:srgbClr val="4FACFE"/>
                  </a:solidFill>
                </a:ln>
                <a:effectLst>
                  <a:outerShdw blurRad="76200" dist="19050" dir="5400000" algn="ctr" rotWithShape="0">
                    <a:srgbClr val="0B0F19">
                      <a:alpha val="37500"/>
                    </a:srgbClr>
                  </a:outerShdw>
                </a:effectLst>
              </p:spPr>
            </p:sp>
            <p:sp>
              <p:nvSpPr>
                <p:cNvPr id="19" name="Freeform 19"/>
                <p:cNvSpPr/>
                <p:nvPr/>
              </p:nvSpPr>
              <p:spPr>
                <a:xfrm>
                  <a:off x="1038225" y="2838450"/>
                  <a:ext cx="9525" cy="38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38100">
                      <a:moveTo>
                        <a:pt x="9525" y="0"/>
                      </a:moveTo>
                      <a:lnTo>
                        <a:pt x="0" y="19050"/>
                      </a:lnTo>
                      <a:lnTo>
                        <a:pt x="9525" y="38100"/>
                      </a:lnTo>
                    </a:path>
                  </a:pathLst>
                </a:custGeom>
                <a:noFill/>
                <a:ln w="19050">
                  <a:solidFill>
                    <a:srgbClr val="4FACFE"/>
                  </a:solidFill>
                </a:ln>
                <a:effectLst>
                  <a:outerShdw blurRad="76200" dist="19050" dir="5400000" algn="ctr" rotWithShape="0">
                    <a:srgbClr val="0B0F19">
                      <a:alpha val="37500"/>
                    </a:srgbClr>
                  </a:outerShdw>
                </a:effectLst>
              </p:spPr>
            </p:sp>
            <p:sp>
              <p:nvSpPr>
                <p:cNvPr id="20" name="Freeform 20"/>
                <p:cNvSpPr/>
                <p:nvPr/>
              </p:nvSpPr>
              <p:spPr>
                <a:xfrm>
                  <a:off x="1085850" y="2838450"/>
                  <a:ext cx="9525" cy="38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38100">
                      <a:moveTo>
                        <a:pt x="0" y="0"/>
                      </a:moveTo>
                      <a:lnTo>
                        <a:pt x="9525" y="19050"/>
                      </a:lnTo>
                      <a:lnTo>
                        <a:pt x="0" y="38100"/>
                      </a:lnTo>
                    </a:path>
                  </a:pathLst>
                </a:custGeom>
                <a:noFill/>
                <a:ln w="19050">
                  <a:solidFill>
                    <a:srgbClr val="4FACFE"/>
                  </a:solidFill>
                </a:ln>
                <a:effectLst>
                  <a:outerShdw blurRad="76200" dist="19050" dir="5400000" algn="ctr" rotWithShape="0">
                    <a:srgbClr val="0B0F19">
                      <a:alpha val="37500"/>
                    </a:srgbClr>
                  </a:outerShdw>
                </a:effectLst>
              </p:spPr>
            </p:sp>
          </p:grpSp>
          <p:sp>
            <p:nvSpPr>
              <p:cNvPr id="22" name="TextBox 22"/>
              <p:cNvSpPr txBox="1"/>
              <p:nvPr/>
            </p:nvSpPr>
            <p:spPr>
              <a:xfrm>
                <a:off x="1242060" y="2756535"/>
                <a:ext cx="1134618" cy="24384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19050" dir="5400000" algn="ctr" rotWithShape="0">
                  <a:srgbClr val="0B0F19">
                    <a:alpha val="37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F8FAFC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数据回放引擎</a:t>
                </a:r>
                <a:endParaRPr lang="zh-CN" sz="1200" b="1" dirty="0">
                  <a:solidFill>
                    <a:srgbClr val="F8FAFC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940118" y="3133249"/>
                <a:ext cx="1875949" cy="19812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19050" dir="5400000" algn="ctr" rotWithShape="0">
                  <a:srgbClr val="0B0F19">
                    <a:alpha val="37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94A3B8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· 基于 Python 3.10 独立沙盒</a:t>
                </a:r>
                <a:endParaRPr lang="zh-CN" sz="975" dirty="0">
                  <a:solidFill>
                    <a:srgbClr val="94A3B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940118" y="3371374"/>
                <a:ext cx="2089547" cy="19812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19050" dir="5400000" algn="ctr" rotWithShape="0">
                  <a:srgbClr val="0B0F19">
                    <a:alpha val="37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94A3B8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· 真实 Kaggle 数据流式排序回放</a:t>
                </a:r>
                <a:endParaRPr lang="zh-CN" sz="975" dirty="0">
                  <a:solidFill>
                    <a:srgbClr val="94A3B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940118" y="3609499"/>
                <a:ext cx="2035791" cy="19812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19050" dir="5400000" algn="ctr" rotWithShape="0">
                  <a:srgbClr val="0B0F19">
                    <a:alpha val="37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b="1" dirty="0">
                    <a:solidFill>
                      <a:srgbClr val="4FACFE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Protocol: HTTP POST / HMAC</a:t>
                </a:r>
                <a:endParaRPr lang="zh-CN" sz="975" b="1" dirty="0">
                  <a:solidFill>
                    <a:srgbClr val="4FACFE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  <p:grpSp>
          <p:nvGrpSpPr>
            <p:cNvPr id="38" name="Group 38"/>
            <p:cNvGrpSpPr/>
            <p:nvPr/>
          </p:nvGrpSpPr>
          <p:grpSpPr>
            <a:xfrm>
              <a:off x="762000" y="4286250"/>
              <a:ext cx="2667000" cy="1428750"/>
              <a:chOff x="762000" y="4286250"/>
              <a:chExt cx="2667000" cy="1428750"/>
            </a:xfrm>
            <a:effectLst>
              <a:outerShdw blurRad="76200" dist="19050" dir="5400000" algn="ctr" rotWithShape="0">
                <a:srgbClr val="0B0F19">
                  <a:alpha val="37500"/>
                </a:srgbClr>
              </a:outerShdw>
            </a:effectLst>
          </p:grpSpPr>
          <p:sp>
            <p:nvSpPr>
              <p:cNvPr id="27" name="Rectangle 27"/>
              <p:cNvSpPr/>
              <p:nvPr/>
            </p:nvSpPr>
            <p:spPr>
              <a:xfrm>
                <a:off x="762000" y="4286250"/>
                <a:ext cx="2667000" cy="1428750"/>
              </a:xfrm>
              <a:prstGeom prst="roundRect">
                <a:avLst>
                  <a:gd name="adj" fmla="val 6667"/>
                </a:avLst>
              </a:prstGeom>
              <a:solidFill>
                <a:srgbClr val="0B0F19"/>
              </a:solidFill>
              <a:ln w="9525">
                <a:solidFill>
                  <a:srgbClr val="1E293B"/>
                </a:solidFill>
              </a:ln>
              <a:effectLst>
                <a:outerShdw blurRad="76200" dist="19050" dir="5400000" algn="ctr" rotWithShape="0">
                  <a:srgbClr val="0B0F19">
                    <a:alpha val="37500"/>
                  </a:srgbClr>
                </a:outerShdw>
              </a:effectLst>
            </p:spPr>
          </p:sp>
          <p:sp>
            <p:nvSpPr>
              <p:cNvPr id="28" name="Rectangle 28"/>
              <p:cNvSpPr/>
              <p:nvPr/>
            </p:nvSpPr>
            <p:spPr>
              <a:xfrm>
                <a:off x="762000" y="4286250"/>
                <a:ext cx="57150" cy="1428750"/>
              </a:xfrm>
              <a:prstGeom prst="roundRect">
                <a:avLst>
                  <a:gd name="adj" fmla="val 50000"/>
                </a:avLst>
              </a:prstGeom>
              <a:solidFill>
                <a:srgbClr val="4FACFE"/>
              </a:solidFill>
              <a:ln>
                <a:noFill/>
              </a:ln>
              <a:effectLst>
                <a:outerShdw blurRad="76200" dist="19050" dir="5400000" algn="ctr" rotWithShape="0">
                  <a:srgbClr val="0B0F19">
                    <a:alpha val="37500"/>
                  </a:srgbClr>
                </a:outerShdw>
              </a:effectLst>
            </p:spPr>
          </p:sp>
          <p:grpSp>
            <p:nvGrpSpPr>
              <p:cNvPr id="33" name="Group 33"/>
              <p:cNvGrpSpPr/>
              <p:nvPr/>
            </p:nvGrpSpPr>
            <p:grpSpPr>
              <a:xfrm>
                <a:off x="990600" y="4467225"/>
                <a:ext cx="152400" cy="152400"/>
                <a:chOff x="990600" y="4467225"/>
                <a:chExt cx="152400" cy="152400"/>
              </a:xfrm>
            </p:grpSpPr>
            <p:sp>
              <p:nvSpPr>
                <p:cNvPr id="29" name="Freeform 29"/>
                <p:cNvSpPr/>
                <p:nvPr/>
              </p:nvSpPr>
              <p:spPr>
                <a:xfrm>
                  <a:off x="990600" y="4467225"/>
                  <a:ext cx="57150" cy="76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7150" h="76200">
                      <a:moveTo>
                        <a:pt x="9525" y="0"/>
                      </a:moveTo>
                      <a:lnTo>
                        <a:pt x="47625" y="0"/>
                      </a:lnTo>
                      <a:cubicBezTo>
                        <a:pt x="52886" y="0"/>
                        <a:pt x="57150" y="4264"/>
                        <a:pt x="57150" y="9525"/>
                      </a:cubicBezTo>
                      <a:lnTo>
                        <a:pt x="57150" y="66675"/>
                      </a:lnTo>
                      <a:cubicBezTo>
                        <a:pt x="57150" y="71936"/>
                        <a:pt x="52886" y="76200"/>
                        <a:pt x="47625" y="76200"/>
                      </a:cubicBezTo>
                      <a:lnTo>
                        <a:pt x="9525" y="76200"/>
                      </a:lnTo>
                      <a:cubicBezTo>
                        <a:pt x="4264" y="76200"/>
                        <a:pt x="0" y="71936"/>
                        <a:pt x="0" y="66675"/>
                      </a:cubicBezTo>
                      <a:lnTo>
                        <a:pt x="0" y="9525"/>
                      </a:lnTo>
                      <a:cubicBezTo>
                        <a:pt x="0" y="4264"/>
                        <a:pt x="4264" y="0"/>
                        <a:pt x="9525" y="0"/>
                      </a:cubicBezTo>
                    </a:path>
                  </a:pathLst>
                </a:custGeom>
                <a:noFill/>
                <a:ln w="19050">
                  <a:solidFill>
                    <a:srgbClr val="4FACFE"/>
                  </a:solidFill>
                </a:ln>
                <a:effectLst>
                  <a:outerShdw blurRad="76200" dist="19050" dir="5400000" algn="ctr" rotWithShape="0">
                    <a:srgbClr val="0B0F19">
                      <a:alpha val="37500"/>
                    </a:srgbClr>
                  </a:outerShdw>
                </a:effectLst>
              </p:spPr>
            </p:sp>
            <p:sp>
              <p:nvSpPr>
                <p:cNvPr id="30" name="Freeform 30"/>
                <p:cNvSpPr/>
                <p:nvPr/>
              </p:nvSpPr>
              <p:spPr>
                <a:xfrm>
                  <a:off x="990600" y="4581525"/>
                  <a:ext cx="57150" cy="38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7150" h="38100">
                      <a:moveTo>
                        <a:pt x="9525" y="0"/>
                      </a:moveTo>
                      <a:lnTo>
                        <a:pt x="47625" y="0"/>
                      </a:lnTo>
                      <a:cubicBezTo>
                        <a:pt x="52886" y="0"/>
                        <a:pt x="57150" y="4264"/>
                        <a:pt x="57150" y="9525"/>
                      </a:cubicBezTo>
                      <a:lnTo>
                        <a:pt x="57150" y="28575"/>
                      </a:lnTo>
                      <a:cubicBezTo>
                        <a:pt x="57150" y="33836"/>
                        <a:pt x="52886" y="38100"/>
                        <a:pt x="47625" y="38100"/>
                      </a:cubicBezTo>
                      <a:lnTo>
                        <a:pt x="9525" y="38100"/>
                      </a:lnTo>
                      <a:cubicBezTo>
                        <a:pt x="4264" y="38100"/>
                        <a:pt x="0" y="33836"/>
                        <a:pt x="0" y="28575"/>
                      </a:cubicBezTo>
                      <a:lnTo>
                        <a:pt x="0" y="9525"/>
                      </a:lnTo>
                      <a:cubicBezTo>
                        <a:pt x="0" y="4264"/>
                        <a:pt x="4264" y="0"/>
                        <a:pt x="9525" y="0"/>
                      </a:cubicBezTo>
                    </a:path>
                  </a:pathLst>
                </a:custGeom>
                <a:noFill/>
                <a:ln w="19050">
                  <a:solidFill>
                    <a:srgbClr val="4FACFE"/>
                  </a:solidFill>
                </a:ln>
                <a:effectLst>
                  <a:outerShdw blurRad="76200" dist="19050" dir="5400000" algn="ctr" rotWithShape="0">
                    <a:srgbClr val="0B0F19">
                      <a:alpha val="37500"/>
                    </a:srgbClr>
                  </a:outerShdw>
                </a:effectLst>
              </p:spPr>
            </p:sp>
            <p:sp>
              <p:nvSpPr>
                <p:cNvPr id="31" name="Freeform 31"/>
                <p:cNvSpPr/>
                <p:nvPr/>
              </p:nvSpPr>
              <p:spPr>
                <a:xfrm>
                  <a:off x="1085850" y="4543425"/>
                  <a:ext cx="57150" cy="76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7150" h="76200">
                      <a:moveTo>
                        <a:pt x="9525" y="0"/>
                      </a:moveTo>
                      <a:lnTo>
                        <a:pt x="47625" y="0"/>
                      </a:lnTo>
                      <a:cubicBezTo>
                        <a:pt x="52886" y="0"/>
                        <a:pt x="57150" y="4264"/>
                        <a:pt x="57150" y="9525"/>
                      </a:cubicBezTo>
                      <a:lnTo>
                        <a:pt x="57150" y="66675"/>
                      </a:lnTo>
                      <a:cubicBezTo>
                        <a:pt x="57150" y="71936"/>
                        <a:pt x="52886" y="76200"/>
                        <a:pt x="47625" y="76200"/>
                      </a:cubicBezTo>
                      <a:lnTo>
                        <a:pt x="9525" y="76200"/>
                      </a:lnTo>
                      <a:cubicBezTo>
                        <a:pt x="4264" y="76200"/>
                        <a:pt x="0" y="71936"/>
                        <a:pt x="0" y="66675"/>
                      </a:cubicBezTo>
                      <a:lnTo>
                        <a:pt x="0" y="9525"/>
                      </a:lnTo>
                      <a:cubicBezTo>
                        <a:pt x="0" y="4264"/>
                        <a:pt x="4264" y="0"/>
                        <a:pt x="9525" y="0"/>
                      </a:cubicBezTo>
                    </a:path>
                  </a:pathLst>
                </a:custGeom>
                <a:noFill/>
                <a:ln w="19050">
                  <a:solidFill>
                    <a:srgbClr val="4FACFE"/>
                  </a:solidFill>
                </a:ln>
                <a:effectLst>
                  <a:outerShdw blurRad="76200" dist="19050" dir="5400000" algn="ctr" rotWithShape="0">
                    <a:srgbClr val="0B0F19">
                      <a:alpha val="37500"/>
                    </a:srgbClr>
                  </a:outerShdw>
                </a:effectLst>
              </p:spPr>
            </p:sp>
            <p:sp>
              <p:nvSpPr>
                <p:cNvPr id="32" name="Freeform 32"/>
                <p:cNvSpPr/>
                <p:nvPr/>
              </p:nvSpPr>
              <p:spPr>
                <a:xfrm>
                  <a:off x="1085850" y="4467225"/>
                  <a:ext cx="57150" cy="38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7150" h="38100">
                      <a:moveTo>
                        <a:pt x="9525" y="0"/>
                      </a:moveTo>
                      <a:lnTo>
                        <a:pt x="47625" y="0"/>
                      </a:lnTo>
                      <a:cubicBezTo>
                        <a:pt x="52886" y="0"/>
                        <a:pt x="57150" y="4264"/>
                        <a:pt x="57150" y="9525"/>
                      </a:cubicBezTo>
                      <a:lnTo>
                        <a:pt x="57150" y="28575"/>
                      </a:lnTo>
                      <a:cubicBezTo>
                        <a:pt x="57150" y="33836"/>
                        <a:pt x="52886" y="38100"/>
                        <a:pt x="47625" y="38100"/>
                      </a:cubicBezTo>
                      <a:lnTo>
                        <a:pt x="9525" y="38100"/>
                      </a:lnTo>
                      <a:cubicBezTo>
                        <a:pt x="4264" y="38100"/>
                        <a:pt x="0" y="33836"/>
                        <a:pt x="0" y="28575"/>
                      </a:cubicBezTo>
                      <a:lnTo>
                        <a:pt x="0" y="9525"/>
                      </a:lnTo>
                      <a:cubicBezTo>
                        <a:pt x="0" y="4264"/>
                        <a:pt x="4264" y="0"/>
                        <a:pt x="9525" y="0"/>
                      </a:cubicBezTo>
                    </a:path>
                  </a:pathLst>
                </a:custGeom>
                <a:noFill/>
                <a:ln w="19050">
                  <a:solidFill>
                    <a:srgbClr val="4FACFE"/>
                  </a:solidFill>
                </a:ln>
                <a:effectLst>
                  <a:outerShdw blurRad="76200" dist="19050" dir="5400000" algn="ctr" rotWithShape="0">
                    <a:srgbClr val="0B0F19">
                      <a:alpha val="37500"/>
                    </a:srgbClr>
                  </a:outerShdw>
                </a:effectLst>
              </p:spPr>
            </p:sp>
          </p:grpSp>
          <p:sp>
            <p:nvSpPr>
              <p:cNvPr id="34" name="TextBox 34"/>
              <p:cNvSpPr txBox="1"/>
              <p:nvPr/>
            </p:nvSpPr>
            <p:spPr>
              <a:xfrm>
                <a:off x="1242060" y="4471035"/>
                <a:ext cx="1318641" cy="24384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19050" dir="5400000" algn="ctr" rotWithShape="0">
                  <a:srgbClr val="0B0F19">
                    <a:alpha val="37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F8FAFC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前端可视化大屏</a:t>
                </a:r>
                <a:endParaRPr lang="zh-CN" sz="1200" b="1" dirty="0">
                  <a:solidFill>
                    <a:srgbClr val="F8FAFC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940118" y="4847749"/>
                <a:ext cx="1982748" cy="19812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19050" dir="5400000" algn="ctr" rotWithShape="0">
                  <a:srgbClr val="0B0F19">
                    <a:alpha val="37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94A3B8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· Vue 3 + Vite + ECharts 渲染</a:t>
                </a:r>
                <a:endParaRPr lang="zh-CN" sz="975" dirty="0">
                  <a:solidFill>
                    <a:srgbClr val="94A3B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36" name="TextBox 36"/>
              <p:cNvSpPr txBox="1"/>
              <p:nvPr/>
            </p:nvSpPr>
            <p:spPr>
              <a:xfrm>
                <a:off x="940118" y="5085874"/>
                <a:ext cx="1569791" cy="19812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19050" dir="5400000" algn="ctr" rotWithShape="0">
                  <a:srgbClr val="0B0F19">
                    <a:alpha val="37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94A3B8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· 长连接订阅及 KPI 重绘</a:t>
                </a:r>
                <a:endParaRPr lang="zh-CN" sz="975" dirty="0">
                  <a:solidFill>
                    <a:srgbClr val="94A3B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37" name="TextBox 37"/>
              <p:cNvSpPr txBox="1"/>
              <p:nvPr/>
            </p:nvSpPr>
            <p:spPr>
              <a:xfrm>
                <a:off x="940118" y="5323999"/>
                <a:ext cx="1579759" cy="19812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19050" dir="5400000" algn="ctr" rotWithShape="0">
                  <a:srgbClr val="0B0F19">
                    <a:alpha val="37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b="1" dirty="0">
                    <a:solidFill>
                      <a:srgbClr val="4FACFE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Protocol: WSS / JSON</a:t>
                </a:r>
                <a:endParaRPr lang="zh-CN" sz="975" b="1" dirty="0">
                  <a:solidFill>
                    <a:srgbClr val="4FACFE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</p:grpSp>
      <p:grpSp>
        <p:nvGrpSpPr>
          <p:cNvPr id="78" name="Group 78"/>
          <p:cNvGrpSpPr/>
          <p:nvPr/>
        </p:nvGrpSpPr>
        <p:grpSpPr>
          <a:xfrm>
            <a:off x="8572500" y="2000250"/>
            <a:ext cx="3048000" cy="4048125"/>
            <a:chOff x="8572500" y="2000250"/>
            <a:chExt cx="3048000" cy="4048125"/>
          </a:xfrm>
        </p:grpSpPr>
        <p:sp>
          <p:nvSpPr>
            <p:cNvPr id="40" name="Rectangle 40"/>
            <p:cNvSpPr/>
            <p:nvPr/>
          </p:nvSpPr>
          <p:spPr>
            <a:xfrm>
              <a:off x="8572500" y="2000250"/>
              <a:ext cx="3048000" cy="4048125"/>
            </a:xfrm>
            <a:prstGeom prst="roundRect">
              <a:avLst>
                <a:gd name="adj" fmla="val 5000"/>
              </a:avLst>
            </a:prstGeom>
            <a:solidFill>
              <a:srgbClr val="161F30"/>
            </a:solidFill>
            <a:ln w="14288">
              <a:solidFill>
                <a:srgbClr val="1E293B"/>
              </a:solidFill>
            </a:ln>
          </p:spPr>
        </p:sp>
        <p:sp>
          <p:nvSpPr>
            <p:cNvPr id="41" name="Freeform 41"/>
            <p:cNvSpPr/>
            <p:nvPr/>
          </p:nvSpPr>
          <p:spPr>
            <a:xfrm>
              <a:off x="8572500" y="2000250"/>
              <a:ext cx="3048000" cy="419100"/>
            </a:xfrm>
            <a:custGeom>
              <a:avLst/>
              <a:gdLst/>
              <a:ahLst/>
              <a:cxnLst/>
              <a:rect l="l" t="t" r="r" b="b"/>
              <a:pathLst>
                <a:path w="3048000" h="419100">
                  <a:moveTo>
                    <a:pt x="0" y="419100"/>
                  </a:moveTo>
                  <a:lnTo>
                    <a:pt x="3048000" y="419100"/>
                  </a:lnTo>
                  <a:lnTo>
                    <a:pt x="3048000" y="142875"/>
                  </a:lnTo>
                  <a:cubicBezTo>
                    <a:pt x="3048000" y="63967"/>
                    <a:pt x="2984033" y="0"/>
                    <a:pt x="2905125" y="0"/>
                  </a:cubicBezTo>
                  <a:lnTo>
                    <a:pt x="142875" y="0"/>
                  </a:lnTo>
                  <a:cubicBezTo>
                    <a:pt x="63967" y="0"/>
                    <a:pt x="0" y="63967"/>
                    <a:pt x="0" y="142875"/>
                  </a:cubicBezTo>
                  <a:close/>
                </a:path>
              </a:pathLst>
            </a:custGeom>
            <a:solidFill>
              <a:srgbClr val="91CC75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9188748" y="2156460"/>
              <a:ext cx="181550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0B0F19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服务端集群 (SERVER)</a:t>
              </a:r>
              <a:endParaRPr lang="zh-CN" sz="1200" b="1" dirty="0">
                <a:solidFill>
                  <a:srgbClr val="0B0F19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grpSp>
          <p:nvGrpSpPr>
            <p:cNvPr id="53" name="Group 53"/>
            <p:cNvGrpSpPr/>
            <p:nvPr/>
          </p:nvGrpSpPr>
          <p:grpSpPr>
            <a:xfrm>
              <a:off x="8763000" y="2571750"/>
              <a:ext cx="2667000" cy="1000125"/>
              <a:chOff x="8763000" y="2571750"/>
              <a:chExt cx="2667000" cy="1000125"/>
            </a:xfrm>
            <a:effectLst>
              <a:outerShdw blurRad="76200" dist="19050" dir="5400000" algn="ctr" rotWithShape="0">
                <a:srgbClr val="0B0F19">
                  <a:alpha val="37500"/>
                </a:srgbClr>
              </a:outerShdw>
            </a:effectLst>
          </p:grpSpPr>
          <p:sp>
            <p:nvSpPr>
              <p:cNvPr id="43" name="Rectangle 43"/>
              <p:cNvSpPr/>
              <p:nvPr/>
            </p:nvSpPr>
            <p:spPr>
              <a:xfrm>
                <a:off x="8763000" y="2571750"/>
                <a:ext cx="2667000" cy="1000125"/>
              </a:xfrm>
              <a:prstGeom prst="roundRect">
                <a:avLst>
                  <a:gd name="adj" fmla="val 9524"/>
                </a:avLst>
              </a:prstGeom>
              <a:solidFill>
                <a:srgbClr val="0B0F19"/>
              </a:solidFill>
              <a:ln w="9525">
                <a:solidFill>
                  <a:srgbClr val="1E293B"/>
                </a:solidFill>
              </a:ln>
              <a:effectLst>
                <a:outerShdw blurRad="76200" dist="19050" dir="5400000" algn="ctr" rotWithShape="0">
                  <a:srgbClr val="0B0F19">
                    <a:alpha val="37500"/>
                  </a:srgbClr>
                </a:outerShdw>
              </a:effectLst>
            </p:spPr>
          </p:sp>
          <p:sp>
            <p:nvSpPr>
              <p:cNvPr id="44" name="Rectangle 44"/>
              <p:cNvSpPr/>
              <p:nvPr/>
            </p:nvSpPr>
            <p:spPr>
              <a:xfrm>
                <a:off x="8763000" y="2571750"/>
                <a:ext cx="57150" cy="1000125"/>
              </a:xfrm>
              <a:prstGeom prst="roundRect">
                <a:avLst>
                  <a:gd name="adj" fmla="val 50000"/>
                </a:avLst>
              </a:prstGeom>
              <a:solidFill>
                <a:srgbClr val="91CC75"/>
              </a:solidFill>
              <a:ln>
                <a:noFill/>
              </a:ln>
              <a:effectLst>
                <a:outerShdw blurRad="76200" dist="19050" dir="5400000" algn="ctr" rotWithShape="0">
                  <a:srgbClr val="0B0F19">
                    <a:alpha val="37500"/>
                  </a:srgbClr>
                </a:outerShdw>
              </a:effectLst>
            </p:spPr>
          </p:sp>
          <p:grpSp>
            <p:nvGrpSpPr>
              <p:cNvPr id="49" name="Group 49"/>
              <p:cNvGrpSpPr/>
              <p:nvPr/>
            </p:nvGrpSpPr>
            <p:grpSpPr>
              <a:xfrm>
                <a:off x="8977312" y="2717800"/>
                <a:ext cx="142875" cy="127000"/>
                <a:chOff x="8977312" y="2717800"/>
                <a:chExt cx="142875" cy="127000"/>
              </a:xfrm>
            </p:grpSpPr>
            <p:sp>
              <p:nvSpPr>
                <p:cNvPr id="45" name="Freeform 45"/>
                <p:cNvSpPr/>
                <p:nvPr/>
              </p:nvSpPr>
              <p:spPr>
                <a:xfrm>
                  <a:off x="8977312" y="2717800"/>
                  <a:ext cx="142875" cy="63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2875" h="63500">
                      <a:moveTo>
                        <a:pt x="0" y="23812"/>
                      </a:moveTo>
                      <a:cubicBezTo>
                        <a:pt x="0" y="10661"/>
                        <a:pt x="10661" y="0"/>
                        <a:pt x="23812" y="0"/>
                      </a:cubicBezTo>
                      <a:lnTo>
                        <a:pt x="119062" y="0"/>
                      </a:lnTo>
                      <a:cubicBezTo>
                        <a:pt x="132214" y="0"/>
                        <a:pt x="142875" y="10661"/>
                        <a:pt x="142875" y="23812"/>
                      </a:cubicBezTo>
                      <a:lnTo>
                        <a:pt x="142875" y="39688"/>
                      </a:lnTo>
                      <a:cubicBezTo>
                        <a:pt x="142875" y="52839"/>
                        <a:pt x="132214" y="63500"/>
                        <a:pt x="119062" y="63500"/>
                      </a:cubicBezTo>
                      <a:lnTo>
                        <a:pt x="23812" y="63500"/>
                      </a:lnTo>
                      <a:cubicBezTo>
                        <a:pt x="10661" y="63500"/>
                        <a:pt x="0" y="52839"/>
                        <a:pt x="0" y="39688"/>
                      </a:cubicBezTo>
                    </a:path>
                  </a:pathLst>
                </a:custGeom>
                <a:noFill/>
                <a:ln w="19050">
                  <a:solidFill>
                    <a:srgbClr val="91CC75"/>
                  </a:solidFill>
                </a:ln>
                <a:effectLst>
                  <a:outerShdw blurRad="76200" dist="19050" dir="5400000" algn="ctr" rotWithShape="0">
                    <a:srgbClr val="0B0F19">
                      <a:alpha val="37500"/>
                    </a:srgbClr>
                  </a:outerShdw>
                </a:effectLst>
              </p:spPr>
            </p:sp>
            <p:sp>
              <p:nvSpPr>
                <p:cNvPr id="46" name="Freeform 46"/>
                <p:cNvSpPr/>
                <p:nvPr/>
              </p:nvSpPr>
              <p:spPr>
                <a:xfrm>
                  <a:off x="8977312" y="2781300"/>
                  <a:ext cx="142875" cy="63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2875" h="63500">
                      <a:moveTo>
                        <a:pt x="0" y="23812"/>
                      </a:moveTo>
                      <a:cubicBezTo>
                        <a:pt x="0" y="10661"/>
                        <a:pt x="10661" y="0"/>
                        <a:pt x="23812" y="0"/>
                      </a:cubicBezTo>
                      <a:lnTo>
                        <a:pt x="119062" y="0"/>
                      </a:lnTo>
                      <a:cubicBezTo>
                        <a:pt x="132214" y="0"/>
                        <a:pt x="142875" y="10661"/>
                        <a:pt x="142875" y="23812"/>
                      </a:cubicBezTo>
                      <a:lnTo>
                        <a:pt x="142875" y="39688"/>
                      </a:lnTo>
                      <a:cubicBezTo>
                        <a:pt x="142875" y="52839"/>
                        <a:pt x="132214" y="63500"/>
                        <a:pt x="119062" y="63500"/>
                      </a:cubicBezTo>
                      <a:lnTo>
                        <a:pt x="23812" y="63500"/>
                      </a:lnTo>
                      <a:cubicBezTo>
                        <a:pt x="10661" y="63500"/>
                        <a:pt x="0" y="52839"/>
                        <a:pt x="0" y="39688"/>
                      </a:cubicBezTo>
                      <a:lnTo>
                        <a:pt x="0" y="23812"/>
                      </a:lnTo>
                    </a:path>
                  </a:pathLst>
                </a:custGeom>
                <a:noFill/>
                <a:ln w="19050">
                  <a:solidFill>
                    <a:srgbClr val="91CC75"/>
                  </a:solidFill>
                </a:ln>
                <a:effectLst>
                  <a:outerShdw blurRad="76200" dist="19050" dir="5400000" algn="ctr" rotWithShape="0">
                    <a:srgbClr val="0B0F19">
                      <a:alpha val="37500"/>
                    </a:srgbClr>
                  </a:outerShdw>
                </a:effectLst>
              </p:spPr>
            </p:sp>
            <p:sp>
              <p:nvSpPr>
                <p:cNvPr id="47" name="Freeform 47"/>
                <p:cNvSpPr/>
                <p:nvPr/>
              </p:nvSpPr>
              <p:spPr>
                <a:xfrm>
                  <a:off x="9009062" y="2749550"/>
                  <a:ext cx="95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>
                      <a:moveTo>
                        <a:pt x="0" y="0"/>
                      </a:moveTo>
                      <a:lnTo>
                        <a:pt x="0" y="79"/>
                      </a:lnTo>
                    </a:path>
                  </a:pathLst>
                </a:custGeom>
                <a:noFill/>
                <a:ln w="19050">
                  <a:solidFill>
                    <a:srgbClr val="91CC75"/>
                  </a:solidFill>
                </a:ln>
                <a:effectLst>
                  <a:outerShdw blurRad="76200" dist="19050" dir="5400000" algn="ctr" rotWithShape="0">
                    <a:srgbClr val="0B0F19">
                      <a:alpha val="37500"/>
                    </a:srgbClr>
                  </a:outerShdw>
                </a:effectLst>
              </p:spPr>
            </p:sp>
            <p:sp>
              <p:nvSpPr>
                <p:cNvPr id="48" name="Freeform 48"/>
                <p:cNvSpPr/>
                <p:nvPr/>
              </p:nvSpPr>
              <p:spPr>
                <a:xfrm>
                  <a:off x="9009062" y="2813050"/>
                  <a:ext cx="95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>
                      <a:moveTo>
                        <a:pt x="0" y="0"/>
                      </a:moveTo>
                      <a:lnTo>
                        <a:pt x="0" y="79"/>
                      </a:lnTo>
                    </a:path>
                  </a:pathLst>
                </a:custGeom>
                <a:noFill/>
                <a:ln w="19050">
                  <a:solidFill>
                    <a:srgbClr val="91CC75"/>
                  </a:solidFill>
                </a:ln>
                <a:effectLst>
                  <a:outerShdw blurRad="76200" dist="19050" dir="5400000" algn="ctr" rotWithShape="0">
                    <a:srgbClr val="0B0F19">
                      <a:alpha val="37500"/>
                    </a:srgbClr>
                  </a:outerShdw>
                </a:effectLst>
              </p:spPr>
            </p:sp>
          </p:grpSp>
          <p:sp>
            <p:nvSpPr>
              <p:cNvPr id="50" name="TextBox 50"/>
              <p:cNvSpPr txBox="1"/>
              <p:nvPr/>
            </p:nvSpPr>
            <p:spPr>
              <a:xfrm>
                <a:off x="9205912" y="2717006"/>
                <a:ext cx="1736538" cy="22860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19050" dir="5400000" algn="ctr" rotWithShape="0">
                  <a:srgbClr val="0B0F19">
                    <a:alpha val="37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b="1" dirty="0">
                    <a:solidFill>
                      <a:srgbClr val="F8FAFC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后端 FastAPI API 服务</a:t>
                </a:r>
                <a:endParaRPr lang="zh-CN" sz="1125" b="1" dirty="0">
                  <a:solidFill>
                    <a:srgbClr val="F8FAFC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51" name="TextBox 51"/>
              <p:cNvSpPr txBox="1"/>
              <p:nvPr/>
            </p:nvSpPr>
            <p:spPr>
              <a:xfrm>
                <a:off x="8942070" y="2998470"/>
                <a:ext cx="2362581" cy="18288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19050" dir="5400000" algn="ctr" rotWithShape="0">
                  <a:srgbClr val="0B0F19">
                    <a:alpha val="37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94A3B8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异步路由 / Ingest / WebSocket 长连接</a:t>
                </a:r>
                <a:endParaRPr lang="zh-CN" sz="900" dirty="0">
                  <a:solidFill>
                    <a:srgbClr val="94A3B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52" name="TextBox 52"/>
              <p:cNvSpPr txBox="1"/>
              <p:nvPr/>
            </p:nvSpPr>
            <p:spPr>
              <a:xfrm>
                <a:off x="8942070" y="3217545"/>
                <a:ext cx="1879192" cy="18288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19050" dir="5400000" algn="ctr" rotWithShape="0">
                  <a:srgbClr val="0B0F19">
                    <a:alpha val="37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b="1" dirty="0">
                    <a:solidFill>
                      <a:srgbClr val="91CC75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Tech: FastAPI + SQLAlchemy</a:t>
                </a:r>
                <a:endParaRPr lang="zh-CN" sz="900" b="1" dirty="0">
                  <a:solidFill>
                    <a:srgbClr val="91CC75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  <p:grpSp>
          <p:nvGrpSpPr>
            <p:cNvPr id="66" name="Group 66"/>
            <p:cNvGrpSpPr/>
            <p:nvPr/>
          </p:nvGrpSpPr>
          <p:grpSpPr>
            <a:xfrm>
              <a:off x="8763000" y="3667125"/>
              <a:ext cx="2667000" cy="1000125"/>
              <a:chOff x="8763000" y="3667125"/>
              <a:chExt cx="2667000" cy="1000125"/>
            </a:xfrm>
            <a:effectLst>
              <a:outerShdw blurRad="76200" dist="19050" dir="5400000" algn="ctr" rotWithShape="0">
                <a:srgbClr val="0B0F19">
                  <a:alpha val="37500"/>
                </a:srgbClr>
              </a:outerShdw>
            </a:effectLst>
          </p:grpSpPr>
          <p:sp>
            <p:nvSpPr>
              <p:cNvPr id="54" name="Rectangle 54"/>
              <p:cNvSpPr/>
              <p:nvPr/>
            </p:nvSpPr>
            <p:spPr>
              <a:xfrm>
                <a:off x="8763000" y="3667125"/>
                <a:ext cx="2667000" cy="1000125"/>
              </a:xfrm>
              <a:prstGeom prst="roundRect">
                <a:avLst>
                  <a:gd name="adj" fmla="val 9524"/>
                </a:avLst>
              </a:prstGeom>
              <a:solidFill>
                <a:srgbClr val="0B0F19"/>
              </a:solidFill>
              <a:ln w="9525">
                <a:solidFill>
                  <a:srgbClr val="1E293B"/>
                </a:solidFill>
              </a:ln>
              <a:effectLst>
                <a:outerShdw blurRad="76200" dist="19050" dir="5400000" algn="ctr" rotWithShape="0">
                  <a:srgbClr val="0B0F19">
                    <a:alpha val="37500"/>
                  </a:srgbClr>
                </a:outerShdw>
              </a:effectLst>
            </p:spPr>
          </p:sp>
          <p:sp>
            <p:nvSpPr>
              <p:cNvPr id="55" name="Rectangle 55"/>
              <p:cNvSpPr/>
              <p:nvPr/>
            </p:nvSpPr>
            <p:spPr>
              <a:xfrm>
                <a:off x="8763000" y="3667125"/>
                <a:ext cx="57150" cy="1000125"/>
              </a:xfrm>
              <a:prstGeom prst="roundRect">
                <a:avLst>
                  <a:gd name="adj" fmla="val 50000"/>
                </a:avLst>
              </a:prstGeom>
              <a:solidFill>
                <a:srgbClr val="91CC75"/>
              </a:solidFill>
              <a:ln>
                <a:noFill/>
              </a:ln>
              <a:effectLst>
                <a:outerShdw blurRad="76200" dist="19050" dir="5400000" algn="ctr" rotWithShape="0">
                  <a:srgbClr val="0B0F19">
                    <a:alpha val="37500"/>
                  </a:srgbClr>
                </a:outerShdw>
              </a:effectLst>
            </p:spPr>
          </p:sp>
          <p:grpSp>
            <p:nvGrpSpPr>
              <p:cNvPr id="62" name="Group 62"/>
              <p:cNvGrpSpPr/>
              <p:nvPr/>
            </p:nvGrpSpPr>
            <p:grpSpPr>
              <a:xfrm>
                <a:off x="8977312" y="3805238"/>
                <a:ext cx="142876" cy="142874"/>
                <a:chOff x="8977312" y="3805238"/>
                <a:chExt cx="142876" cy="142874"/>
              </a:xfrm>
            </p:grpSpPr>
            <p:sp>
              <p:nvSpPr>
                <p:cNvPr id="56" name="Freeform 56"/>
                <p:cNvSpPr/>
                <p:nvPr/>
              </p:nvSpPr>
              <p:spPr>
                <a:xfrm>
                  <a:off x="9048750" y="3884612"/>
                  <a:ext cx="55563" cy="63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5563" h="63500">
                      <a:moveTo>
                        <a:pt x="27781" y="0"/>
                      </a:moveTo>
                      <a:cubicBezTo>
                        <a:pt x="12438" y="0"/>
                        <a:pt x="0" y="12438"/>
                        <a:pt x="0" y="27781"/>
                      </a:cubicBezTo>
                      <a:lnTo>
                        <a:pt x="0" y="35719"/>
                      </a:lnTo>
                      <a:cubicBezTo>
                        <a:pt x="0" y="51062"/>
                        <a:pt x="12438" y="63500"/>
                        <a:pt x="27781" y="63500"/>
                      </a:cubicBezTo>
                      <a:cubicBezTo>
                        <a:pt x="43124" y="63500"/>
                        <a:pt x="55563" y="51062"/>
                        <a:pt x="55563" y="35719"/>
                      </a:cubicBezTo>
                      <a:lnTo>
                        <a:pt x="55563" y="21431"/>
                      </a:lnTo>
                    </a:path>
                  </a:pathLst>
                </a:custGeom>
                <a:noFill/>
                <a:ln w="19050">
                  <a:solidFill>
                    <a:srgbClr val="91CC75"/>
                  </a:solidFill>
                </a:ln>
                <a:effectLst>
                  <a:outerShdw blurRad="76200" dist="19050" dir="5400000" algn="ctr" rotWithShape="0">
                    <a:srgbClr val="0B0F19">
                      <a:alpha val="37500"/>
                    </a:srgbClr>
                  </a:outerShdw>
                </a:effectLst>
              </p:spPr>
            </p:sp>
            <p:sp>
              <p:nvSpPr>
                <p:cNvPr id="57" name="Freeform 57"/>
                <p:cNvSpPr/>
                <p:nvPr/>
              </p:nvSpPr>
              <p:spPr>
                <a:xfrm>
                  <a:off x="8993188" y="3884612"/>
                  <a:ext cx="55563" cy="63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5563" h="63500">
                      <a:moveTo>
                        <a:pt x="27781" y="0"/>
                      </a:moveTo>
                      <a:cubicBezTo>
                        <a:pt x="43124" y="0"/>
                        <a:pt x="55563" y="12438"/>
                        <a:pt x="55563" y="27781"/>
                      </a:cubicBezTo>
                      <a:lnTo>
                        <a:pt x="55563" y="35719"/>
                      </a:lnTo>
                      <a:cubicBezTo>
                        <a:pt x="55563" y="51062"/>
                        <a:pt x="43124" y="63500"/>
                        <a:pt x="27781" y="63500"/>
                      </a:cubicBezTo>
                      <a:cubicBezTo>
                        <a:pt x="12438" y="63500"/>
                        <a:pt x="0" y="51062"/>
                        <a:pt x="0" y="35719"/>
                      </a:cubicBezTo>
                      <a:lnTo>
                        <a:pt x="0" y="21431"/>
                      </a:lnTo>
                    </a:path>
                  </a:pathLst>
                </a:custGeom>
                <a:noFill/>
                <a:ln w="19050">
                  <a:solidFill>
                    <a:srgbClr val="91CC75"/>
                  </a:solidFill>
                </a:ln>
                <a:effectLst>
                  <a:outerShdw blurRad="76200" dist="19050" dir="5400000" algn="ctr" rotWithShape="0">
                    <a:srgbClr val="0B0F19">
                      <a:alpha val="37500"/>
                    </a:srgbClr>
                  </a:outerShdw>
                </a:effectLst>
              </p:spPr>
            </p:sp>
            <p:sp>
              <p:nvSpPr>
                <p:cNvPr id="58" name="Freeform 58"/>
                <p:cNvSpPr/>
                <p:nvPr/>
              </p:nvSpPr>
              <p:spPr>
                <a:xfrm>
                  <a:off x="9088438" y="3852862"/>
                  <a:ext cx="31750" cy="555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750" h="55562">
                      <a:moveTo>
                        <a:pt x="3969" y="55562"/>
                      </a:moveTo>
                      <a:cubicBezTo>
                        <a:pt x="19312" y="55562"/>
                        <a:pt x="31750" y="43124"/>
                        <a:pt x="31750" y="27781"/>
                      </a:cubicBezTo>
                      <a:cubicBezTo>
                        <a:pt x="31750" y="12438"/>
                        <a:pt x="19312" y="0"/>
                        <a:pt x="3969" y="0"/>
                      </a:cubicBezTo>
                      <a:lnTo>
                        <a:pt x="0" y="0"/>
                      </a:lnTo>
                    </a:path>
                  </a:pathLst>
                </a:custGeom>
                <a:noFill/>
                <a:ln w="19050">
                  <a:solidFill>
                    <a:srgbClr val="91CC75"/>
                  </a:solidFill>
                </a:ln>
                <a:effectLst>
                  <a:outerShdw blurRad="76200" dist="19050" dir="5400000" algn="ctr" rotWithShape="0">
                    <a:srgbClr val="0B0F19">
                      <a:alpha val="37500"/>
                    </a:srgbClr>
                  </a:outerShdw>
                </a:effectLst>
              </p:spPr>
            </p:sp>
            <p:sp>
              <p:nvSpPr>
                <p:cNvPr id="59" name="Freeform 59"/>
                <p:cNvSpPr/>
                <p:nvPr/>
              </p:nvSpPr>
              <p:spPr>
                <a:xfrm>
                  <a:off x="9048750" y="3805238"/>
                  <a:ext cx="55563" cy="5000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5563" h="50006">
                      <a:moveTo>
                        <a:pt x="55563" y="50006"/>
                      </a:moveTo>
                      <a:lnTo>
                        <a:pt x="55563" y="27781"/>
                      </a:lnTo>
                      <a:cubicBezTo>
                        <a:pt x="55563" y="12438"/>
                        <a:pt x="43124" y="0"/>
                        <a:pt x="27781" y="0"/>
                      </a:cubicBezTo>
                      <a:cubicBezTo>
                        <a:pt x="12438" y="0"/>
                        <a:pt x="0" y="12438"/>
                        <a:pt x="0" y="27781"/>
                      </a:cubicBezTo>
                    </a:path>
                  </a:pathLst>
                </a:custGeom>
                <a:noFill/>
                <a:ln w="19050">
                  <a:solidFill>
                    <a:srgbClr val="91CC75"/>
                  </a:solidFill>
                </a:ln>
                <a:effectLst>
                  <a:outerShdw blurRad="76200" dist="19050" dir="5400000" algn="ctr" rotWithShape="0">
                    <a:srgbClr val="0B0F19">
                      <a:alpha val="37500"/>
                    </a:srgbClr>
                  </a:outerShdw>
                </a:effectLst>
              </p:spPr>
            </p:sp>
            <p:sp>
              <p:nvSpPr>
                <p:cNvPr id="60" name="Freeform 60"/>
                <p:cNvSpPr/>
                <p:nvPr/>
              </p:nvSpPr>
              <p:spPr>
                <a:xfrm>
                  <a:off x="8977312" y="3852862"/>
                  <a:ext cx="31750" cy="555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750" h="55562">
                      <a:moveTo>
                        <a:pt x="27781" y="55562"/>
                      </a:moveTo>
                      <a:cubicBezTo>
                        <a:pt x="12438" y="55562"/>
                        <a:pt x="0" y="43124"/>
                        <a:pt x="0" y="27781"/>
                      </a:cubicBezTo>
                      <a:cubicBezTo>
                        <a:pt x="0" y="12438"/>
                        <a:pt x="12438" y="0"/>
                        <a:pt x="27781" y="0"/>
                      </a:cubicBezTo>
                      <a:lnTo>
                        <a:pt x="31750" y="0"/>
                      </a:lnTo>
                    </a:path>
                  </a:pathLst>
                </a:custGeom>
                <a:noFill/>
                <a:ln w="19050">
                  <a:solidFill>
                    <a:srgbClr val="91CC75"/>
                  </a:solidFill>
                </a:ln>
                <a:effectLst>
                  <a:outerShdw blurRad="76200" dist="19050" dir="5400000" algn="ctr" rotWithShape="0">
                    <a:srgbClr val="0B0F19">
                      <a:alpha val="37500"/>
                    </a:srgbClr>
                  </a:outerShdw>
                </a:effectLst>
              </p:spPr>
            </p:sp>
            <p:sp>
              <p:nvSpPr>
                <p:cNvPr id="61" name="Freeform 61"/>
                <p:cNvSpPr/>
                <p:nvPr/>
              </p:nvSpPr>
              <p:spPr>
                <a:xfrm>
                  <a:off x="8993188" y="3805238"/>
                  <a:ext cx="55563" cy="10715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5563" h="107156">
                      <a:moveTo>
                        <a:pt x="0" y="50006"/>
                      </a:moveTo>
                      <a:lnTo>
                        <a:pt x="0" y="27781"/>
                      </a:lnTo>
                      <a:cubicBezTo>
                        <a:pt x="0" y="12438"/>
                        <a:pt x="12438" y="0"/>
                        <a:pt x="27781" y="0"/>
                      </a:cubicBezTo>
                      <a:cubicBezTo>
                        <a:pt x="43124" y="0"/>
                        <a:pt x="55563" y="12438"/>
                        <a:pt x="55563" y="27781"/>
                      </a:cubicBezTo>
                      <a:lnTo>
                        <a:pt x="55563" y="107156"/>
                      </a:lnTo>
                    </a:path>
                  </a:pathLst>
                </a:custGeom>
                <a:noFill/>
                <a:ln w="19050">
                  <a:solidFill>
                    <a:srgbClr val="91CC75"/>
                  </a:solidFill>
                </a:ln>
                <a:effectLst>
                  <a:outerShdw blurRad="76200" dist="19050" dir="5400000" algn="ctr" rotWithShape="0">
                    <a:srgbClr val="0B0F19">
                      <a:alpha val="37500"/>
                    </a:srgbClr>
                  </a:outerShdw>
                </a:effectLst>
              </p:spPr>
            </p:sp>
          </p:grpSp>
          <p:sp>
            <p:nvSpPr>
              <p:cNvPr id="63" name="TextBox 63"/>
              <p:cNvSpPr txBox="1"/>
              <p:nvPr/>
            </p:nvSpPr>
            <p:spPr>
              <a:xfrm>
                <a:off x="9205912" y="3812381"/>
                <a:ext cx="1434626" cy="22860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19050" dir="5400000" algn="ctr" rotWithShape="0">
                  <a:srgbClr val="0B0F19">
                    <a:alpha val="37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b="1" dirty="0">
                    <a:solidFill>
                      <a:srgbClr val="F8FAFC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AI 智能推理微服务</a:t>
                </a:r>
                <a:endParaRPr lang="zh-CN" sz="1125" b="1" dirty="0">
                  <a:solidFill>
                    <a:srgbClr val="F8FAFC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64" name="TextBox 64"/>
              <p:cNvSpPr txBox="1"/>
              <p:nvPr/>
            </p:nvSpPr>
            <p:spPr>
              <a:xfrm>
                <a:off x="8942070" y="4093845"/>
                <a:ext cx="2086546" cy="18288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19050" dir="5400000" algn="ctr" rotWithShape="0">
                  <a:srgbClr val="0B0F19">
                    <a:alpha val="37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94A3B8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常驻内存推理 / 规则拦截 / XAI计算</a:t>
                </a:r>
                <a:endParaRPr lang="zh-CN" sz="900" dirty="0">
                  <a:solidFill>
                    <a:srgbClr val="94A3B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65" name="TextBox 65"/>
              <p:cNvSpPr txBox="1"/>
              <p:nvPr/>
            </p:nvSpPr>
            <p:spPr>
              <a:xfrm>
                <a:off x="8942070" y="4312920"/>
                <a:ext cx="1865390" cy="18288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19050" dir="5400000" algn="ctr" rotWithShape="0">
                  <a:srgbClr val="0B0F19">
                    <a:alpha val="37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b="1" dirty="0">
                    <a:solidFill>
                      <a:srgbClr val="91CC75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Tech: Scikit-learn + Pandas</a:t>
                </a:r>
                <a:endParaRPr lang="zh-CN" sz="900" b="1" dirty="0">
                  <a:solidFill>
                    <a:srgbClr val="91CC75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  <p:grpSp>
          <p:nvGrpSpPr>
            <p:cNvPr id="77" name="Group 77"/>
            <p:cNvGrpSpPr/>
            <p:nvPr/>
          </p:nvGrpSpPr>
          <p:grpSpPr>
            <a:xfrm>
              <a:off x="8763000" y="4762500"/>
              <a:ext cx="2667000" cy="1143000"/>
              <a:chOff x="8763000" y="4762500"/>
              <a:chExt cx="2667000" cy="1143000"/>
            </a:xfrm>
            <a:effectLst>
              <a:outerShdw blurRad="76200" dist="19050" dir="5400000" algn="ctr" rotWithShape="0">
                <a:srgbClr val="0B0F19">
                  <a:alpha val="37500"/>
                </a:srgbClr>
              </a:outerShdw>
            </a:effectLst>
          </p:grpSpPr>
          <p:sp>
            <p:nvSpPr>
              <p:cNvPr id="67" name="Rectangle 67"/>
              <p:cNvSpPr/>
              <p:nvPr/>
            </p:nvSpPr>
            <p:spPr>
              <a:xfrm>
                <a:off x="8763000" y="4762500"/>
                <a:ext cx="2667000" cy="1143000"/>
              </a:xfrm>
              <a:prstGeom prst="roundRect">
                <a:avLst>
                  <a:gd name="adj" fmla="val 8333"/>
                </a:avLst>
              </a:prstGeom>
              <a:solidFill>
                <a:srgbClr val="0B0F19"/>
              </a:solidFill>
              <a:ln w="9525">
                <a:solidFill>
                  <a:srgbClr val="1E293B"/>
                </a:solidFill>
              </a:ln>
              <a:effectLst>
                <a:outerShdw blurRad="76200" dist="19050" dir="5400000" algn="ctr" rotWithShape="0">
                  <a:srgbClr val="0B0F19">
                    <a:alpha val="37500"/>
                  </a:srgbClr>
                </a:outerShdw>
              </a:effectLst>
            </p:spPr>
          </p:sp>
          <p:sp>
            <p:nvSpPr>
              <p:cNvPr id="68" name="Rectangle 68"/>
              <p:cNvSpPr/>
              <p:nvPr/>
            </p:nvSpPr>
            <p:spPr>
              <a:xfrm>
                <a:off x="8763000" y="4762500"/>
                <a:ext cx="57150" cy="1143000"/>
              </a:xfrm>
              <a:prstGeom prst="roundRect">
                <a:avLst>
                  <a:gd name="adj" fmla="val 50000"/>
                </a:avLst>
              </a:prstGeom>
              <a:solidFill>
                <a:srgbClr val="91CC75"/>
              </a:solidFill>
              <a:ln>
                <a:noFill/>
              </a:ln>
              <a:effectLst>
                <a:outerShdw blurRad="76200" dist="19050" dir="5400000" algn="ctr" rotWithShape="0">
                  <a:srgbClr val="0B0F19">
                    <a:alpha val="37500"/>
                  </a:srgbClr>
                </a:outerShdw>
              </a:effectLst>
            </p:spPr>
          </p:sp>
          <p:grpSp>
            <p:nvGrpSpPr>
              <p:cNvPr id="72" name="Group 72"/>
              <p:cNvGrpSpPr/>
              <p:nvPr/>
            </p:nvGrpSpPr>
            <p:grpSpPr>
              <a:xfrm>
                <a:off x="8985250" y="4900612"/>
                <a:ext cx="127000" cy="142876"/>
                <a:chOff x="8985250" y="4900612"/>
                <a:chExt cx="127000" cy="142876"/>
              </a:xfrm>
            </p:grpSpPr>
            <p:sp>
              <p:nvSpPr>
                <p:cNvPr id="69" name="Freeform 69"/>
                <p:cNvSpPr/>
                <p:nvPr/>
              </p:nvSpPr>
              <p:spPr>
                <a:xfrm>
                  <a:off x="8985250" y="4900612"/>
                  <a:ext cx="127000" cy="47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7000" h="47625">
                      <a:moveTo>
                        <a:pt x="0" y="23812"/>
                      </a:moveTo>
                      <a:cubicBezTo>
                        <a:pt x="0" y="36964"/>
                        <a:pt x="28430" y="47625"/>
                        <a:pt x="63500" y="47625"/>
                      </a:cubicBezTo>
                      <a:cubicBezTo>
                        <a:pt x="98570" y="47625"/>
                        <a:pt x="127000" y="36964"/>
                        <a:pt x="127000" y="23812"/>
                      </a:cubicBezTo>
                      <a:cubicBezTo>
                        <a:pt x="127000" y="10661"/>
                        <a:pt x="98570" y="0"/>
                        <a:pt x="63500" y="0"/>
                      </a:cubicBezTo>
                      <a:cubicBezTo>
                        <a:pt x="28430" y="0"/>
                        <a:pt x="0" y="10661"/>
                        <a:pt x="0" y="23812"/>
                      </a:cubicBezTo>
                    </a:path>
                  </a:pathLst>
                </a:custGeom>
                <a:noFill/>
                <a:ln w="19050">
                  <a:solidFill>
                    <a:srgbClr val="91CC75"/>
                  </a:solidFill>
                </a:ln>
                <a:effectLst>
                  <a:outerShdw blurRad="76200" dist="19050" dir="5400000" algn="ctr" rotWithShape="0">
                    <a:srgbClr val="0B0F19">
                      <a:alpha val="37500"/>
                    </a:srgbClr>
                  </a:outerShdw>
                </a:effectLst>
              </p:spPr>
            </p:sp>
            <p:sp>
              <p:nvSpPr>
                <p:cNvPr id="70" name="Freeform 70"/>
                <p:cNvSpPr/>
                <p:nvPr/>
              </p:nvSpPr>
              <p:spPr>
                <a:xfrm>
                  <a:off x="8985250" y="4924425"/>
                  <a:ext cx="127000" cy="714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7000" h="71438">
                      <a:moveTo>
                        <a:pt x="0" y="0"/>
                      </a:moveTo>
                      <a:lnTo>
                        <a:pt x="0" y="47625"/>
                      </a:lnTo>
                      <a:cubicBezTo>
                        <a:pt x="0" y="60776"/>
                        <a:pt x="28430" y="71438"/>
                        <a:pt x="63500" y="71438"/>
                      </a:cubicBezTo>
                      <a:cubicBezTo>
                        <a:pt x="98570" y="71438"/>
                        <a:pt x="127000" y="60776"/>
                        <a:pt x="127000" y="47625"/>
                      </a:cubicBezTo>
                      <a:lnTo>
                        <a:pt x="127000" y="0"/>
                      </a:lnTo>
                    </a:path>
                  </a:pathLst>
                </a:custGeom>
                <a:noFill/>
                <a:ln w="19050">
                  <a:solidFill>
                    <a:srgbClr val="91CC75"/>
                  </a:solidFill>
                </a:ln>
                <a:effectLst>
                  <a:outerShdw blurRad="76200" dist="19050" dir="5400000" algn="ctr" rotWithShape="0">
                    <a:srgbClr val="0B0F19">
                      <a:alpha val="37500"/>
                    </a:srgbClr>
                  </a:outerShdw>
                </a:effectLst>
              </p:spPr>
            </p:sp>
            <p:sp>
              <p:nvSpPr>
                <p:cNvPr id="71" name="Freeform 71"/>
                <p:cNvSpPr/>
                <p:nvPr/>
              </p:nvSpPr>
              <p:spPr>
                <a:xfrm>
                  <a:off x="8985250" y="4972050"/>
                  <a:ext cx="127000" cy="714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7000" h="71438">
                      <a:moveTo>
                        <a:pt x="0" y="0"/>
                      </a:moveTo>
                      <a:lnTo>
                        <a:pt x="0" y="47625"/>
                      </a:lnTo>
                      <a:cubicBezTo>
                        <a:pt x="0" y="60776"/>
                        <a:pt x="28430" y="71438"/>
                        <a:pt x="63500" y="71438"/>
                      </a:cubicBezTo>
                      <a:cubicBezTo>
                        <a:pt x="98570" y="71438"/>
                        <a:pt x="127000" y="60776"/>
                        <a:pt x="127000" y="47625"/>
                      </a:cubicBezTo>
                      <a:lnTo>
                        <a:pt x="127000" y="0"/>
                      </a:lnTo>
                    </a:path>
                  </a:pathLst>
                </a:custGeom>
                <a:noFill/>
                <a:ln w="19050">
                  <a:solidFill>
                    <a:srgbClr val="91CC75"/>
                  </a:solidFill>
                </a:ln>
                <a:effectLst>
                  <a:outerShdw blurRad="76200" dist="19050" dir="5400000" algn="ctr" rotWithShape="0">
                    <a:srgbClr val="0B0F19">
                      <a:alpha val="37500"/>
                    </a:srgbClr>
                  </a:outerShdw>
                </a:effectLst>
              </p:spPr>
            </p:sp>
          </p:grpSp>
          <p:sp>
            <p:nvSpPr>
              <p:cNvPr id="73" name="TextBox 73"/>
              <p:cNvSpPr txBox="1"/>
              <p:nvPr/>
            </p:nvSpPr>
            <p:spPr>
              <a:xfrm>
                <a:off x="9205912" y="4907756"/>
                <a:ext cx="1408747" cy="22860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19050" dir="5400000" algn="ctr" rotWithShape="0">
                  <a:srgbClr val="0B0F19">
                    <a:alpha val="37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b="1" dirty="0">
                    <a:solidFill>
                      <a:srgbClr val="F8FAFC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存储与高速缓存层</a:t>
                </a:r>
                <a:endParaRPr lang="zh-CN" sz="1125" b="1" dirty="0">
                  <a:solidFill>
                    <a:srgbClr val="F8FAFC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74" name="TextBox 74"/>
              <p:cNvSpPr txBox="1"/>
              <p:nvPr/>
            </p:nvSpPr>
            <p:spPr>
              <a:xfrm>
                <a:off x="8942070" y="5189220"/>
                <a:ext cx="1803940" cy="18288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19050" dir="5400000" algn="ctr" rotWithShape="0">
                  <a:srgbClr val="0B0F19">
                    <a:alpha val="37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94A3B8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订单落库持久化 / KPI实时汇总</a:t>
                </a:r>
                <a:endParaRPr lang="zh-CN" sz="900" dirty="0">
                  <a:solidFill>
                    <a:srgbClr val="94A3B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75" name="TextBox 75"/>
              <p:cNvSpPr txBox="1"/>
              <p:nvPr/>
            </p:nvSpPr>
            <p:spPr>
              <a:xfrm>
                <a:off x="8942070" y="5379720"/>
                <a:ext cx="1797368" cy="18288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19050" dir="5400000" algn="ctr" rotWithShape="0">
                  <a:srgbClr val="0B0F19">
                    <a:alpha val="37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94A3B8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Redis大屏缓存与发布订阅通道</a:t>
                </a:r>
                <a:endParaRPr lang="zh-CN" sz="900" dirty="0">
                  <a:solidFill>
                    <a:srgbClr val="94A3B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76" name="TextBox 76"/>
              <p:cNvSpPr txBox="1"/>
              <p:nvPr/>
            </p:nvSpPr>
            <p:spPr>
              <a:xfrm>
                <a:off x="8942070" y="5598795"/>
                <a:ext cx="1920597" cy="18288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19050" dir="5400000" algn="ctr" rotWithShape="0">
                  <a:srgbClr val="0B0F19">
                    <a:alpha val="37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b="1" dirty="0">
                    <a:solidFill>
                      <a:srgbClr val="91CC75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Tech: MySQL 8.0 + Redis 7.0</a:t>
                </a:r>
                <a:endParaRPr lang="zh-CN" sz="900" b="1" dirty="0">
                  <a:solidFill>
                    <a:srgbClr val="91CC75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</p:grpSp>
      <p:grpSp>
        <p:nvGrpSpPr>
          <p:cNvPr id="100" name="Group 100"/>
          <p:cNvGrpSpPr/>
          <p:nvPr/>
        </p:nvGrpSpPr>
        <p:grpSpPr>
          <a:xfrm>
            <a:off x="3619500" y="2172652"/>
            <a:ext cx="4914900" cy="3487579"/>
            <a:chOff x="3619500" y="2172652"/>
            <a:chExt cx="4914900" cy="3487579"/>
          </a:xfrm>
        </p:grpSpPr>
        <p:sp>
          <p:nvSpPr>
            <p:cNvPr id="79" name="TextBox 79"/>
            <p:cNvSpPr txBox="1"/>
            <p:nvPr/>
          </p:nvSpPr>
          <p:spPr>
            <a:xfrm>
              <a:off x="5032009" y="2172652"/>
              <a:ext cx="212798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8FAFC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全链路通信时序 (Key Flows)</a:t>
              </a:r>
              <a:endParaRPr lang="zh-CN" sz="1050" b="1" dirty="0">
                <a:solidFill>
                  <a:srgbClr val="F8FAFC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grpSp>
          <p:nvGrpSpPr>
            <p:cNvPr id="83" name="Group 83"/>
            <p:cNvGrpSpPr/>
            <p:nvPr/>
          </p:nvGrpSpPr>
          <p:grpSpPr>
            <a:xfrm>
              <a:off x="3619500" y="2571750"/>
              <a:ext cx="4914900" cy="230981"/>
              <a:chOff x="3619500" y="2571750"/>
              <a:chExt cx="4914900" cy="230981"/>
            </a:xfrm>
          </p:grpSpPr>
          <p:sp>
            <p:nvSpPr>
              <p:cNvPr id="80" name="Line 80"/>
              <p:cNvSpPr/>
              <p:nvPr/>
            </p:nvSpPr>
            <p:spPr>
              <a:xfrm>
                <a:off x="3619500" y="2714625"/>
                <a:ext cx="4914900" cy="1"/>
              </a:xfrm>
              <a:prstGeom prst="line">
                <a:avLst/>
              </a:prstGeom>
              <a:noFill/>
              <a:ln w="19050">
                <a:solidFill>
                  <a:srgbClr val="4FACFE"/>
                </a:solidFill>
                <a:tailEnd type="triangle" w="lg" len="lg"/>
              </a:ln>
            </p:spPr>
          </p:sp>
          <p:sp>
            <p:nvSpPr>
              <p:cNvPr id="81" name="Rectangle 81"/>
              <p:cNvSpPr/>
              <p:nvPr/>
            </p:nvSpPr>
            <p:spPr>
              <a:xfrm>
                <a:off x="4714875" y="2571750"/>
                <a:ext cx="2762250" cy="209550"/>
              </a:xfrm>
              <a:prstGeom prst="roundRect">
                <a:avLst>
                  <a:gd name="adj" fmla="val 50000"/>
                </a:avLst>
              </a:prstGeom>
              <a:solidFill>
                <a:srgbClr val="161F30"/>
              </a:solidFill>
              <a:ln w="9525">
                <a:solidFill>
                  <a:srgbClr val="4FACFE"/>
                </a:solidFill>
              </a:ln>
            </p:spPr>
          </p:sp>
          <p:sp>
            <p:nvSpPr>
              <p:cNvPr id="82" name="TextBox 82"/>
              <p:cNvSpPr txBox="1"/>
              <p:nvPr/>
            </p:nvSpPr>
            <p:spPr>
              <a:xfrm>
                <a:off x="5035441" y="2635091"/>
                <a:ext cx="2121117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825" b="1" dirty="0">
                    <a:solidFill>
                      <a:srgbClr val="4FACFE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① 流式订单注入 (POST/HMAC防篡改)</a:t>
                </a:r>
                <a:endParaRPr lang="zh-CN" sz="825" b="1" dirty="0">
                  <a:solidFill>
                    <a:srgbClr val="4FACFE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  <p:grpSp>
          <p:nvGrpSpPr>
            <p:cNvPr id="87" name="Group 87"/>
            <p:cNvGrpSpPr/>
            <p:nvPr/>
          </p:nvGrpSpPr>
          <p:grpSpPr>
            <a:xfrm>
              <a:off x="3657600" y="3048000"/>
              <a:ext cx="4876800" cy="230981"/>
              <a:chOff x="3657600" y="3048000"/>
              <a:chExt cx="4876800" cy="230981"/>
            </a:xfrm>
          </p:grpSpPr>
          <p:sp>
            <p:nvSpPr>
              <p:cNvPr id="84" name="Line 84"/>
              <p:cNvSpPr/>
              <p:nvPr/>
            </p:nvSpPr>
            <p:spPr>
              <a:xfrm flipH="1">
                <a:off x="3657600" y="3190875"/>
                <a:ext cx="4876800" cy="1"/>
              </a:xfrm>
              <a:prstGeom prst="line">
                <a:avLst/>
              </a:prstGeom>
              <a:noFill/>
              <a:ln w="19050">
                <a:solidFill>
                  <a:srgbClr val="91CC75"/>
                </a:solidFill>
                <a:tailEnd type="triangle" w="lg" len="lg"/>
              </a:ln>
            </p:spPr>
          </p:sp>
          <p:sp>
            <p:nvSpPr>
              <p:cNvPr id="85" name="Rectangle 85"/>
              <p:cNvSpPr/>
              <p:nvPr/>
            </p:nvSpPr>
            <p:spPr>
              <a:xfrm>
                <a:off x="4714875" y="3048000"/>
                <a:ext cx="2762250" cy="209550"/>
              </a:xfrm>
              <a:prstGeom prst="roundRect">
                <a:avLst>
                  <a:gd name="adj" fmla="val 50000"/>
                </a:avLst>
              </a:prstGeom>
              <a:solidFill>
                <a:srgbClr val="161F30"/>
              </a:solidFill>
              <a:ln w="9525">
                <a:solidFill>
                  <a:srgbClr val="91CC75"/>
                </a:solidFill>
              </a:ln>
            </p:spPr>
          </p:sp>
          <p:sp>
            <p:nvSpPr>
              <p:cNvPr id="86" name="TextBox 86"/>
              <p:cNvSpPr txBox="1"/>
              <p:nvPr/>
            </p:nvSpPr>
            <p:spPr>
              <a:xfrm>
                <a:off x="4921577" y="3111341"/>
                <a:ext cx="2348846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825" b="1" dirty="0">
                    <a:solidFill>
                      <a:srgbClr val="91CC75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② IngestResponse 写入状态返回 (JSON)</a:t>
                </a:r>
                <a:endParaRPr lang="zh-CN" sz="825" b="1" dirty="0">
                  <a:solidFill>
                    <a:srgbClr val="91CC75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  <p:grpSp>
          <p:nvGrpSpPr>
            <p:cNvPr id="91" name="Group 91"/>
            <p:cNvGrpSpPr/>
            <p:nvPr/>
          </p:nvGrpSpPr>
          <p:grpSpPr>
            <a:xfrm>
              <a:off x="3619500" y="4381500"/>
              <a:ext cx="4914900" cy="230981"/>
              <a:chOff x="3619500" y="4381500"/>
              <a:chExt cx="4914900" cy="230981"/>
            </a:xfrm>
          </p:grpSpPr>
          <p:sp>
            <p:nvSpPr>
              <p:cNvPr id="88" name="Line 88"/>
              <p:cNvSpPr/>
              <p:nvPr/>
            </p:nvSpPr>
            <p:spPr>
              <a:xfrm>
                <a:off x="3619500" y="4524375"/>
                <a:ext cx="4914900" cy="1"/>
              </a:xfrm>
              <a:prstGeom prst="line">
                <a:avLst/>
              </a:prstGeom>
              <a:noFill/>
              <a:ln w="19050">
                <a:solidFill>
                  <a:srgbClr val="4FACFE"/>
                </a:solidFill>
                <a:tailEnd type="triangle" w="lg" len="lg"/>
              </a:ln>
            </p:spPr>
          </p:sp>
          <p:sp>
            <p:nvSpPr>
              <p:cNvPr id="89" name="Rectangle 89"/>
              <p:cNvSpPr/>
              <p:nvPr/>
            </p:nvSpPr>
            <p:spPr>
              <a:xfrm>
                <a:off x="4714875" y="4381500"/>
                <a:ext cx="2762250" cy="209550"/>
              </a:xfrm>
              <a:prstGeom prst="roundRect">
                <a:avLst>
                  <a:gd name="adj" fmla="val 50000"/>
                </a:avLst>
              </a:prstGeom>
              <a:solidFill>
                <a:srgbClr val="161F30"/>
              </a:solidFill>
              <a:ln w="9525">
                <a:solidFill>
                  <a:srgbClr val="4FACFE"/>
                </a:solidFill>
              </a:ln>
            </p:spPr>
          </p:sp>
          <p:sp>
            <p:nvSpPr>
              <p:cNvPr id="90" name="TextBox 90"/>
              <p:cNvSpPr txBox="1"/>
              <p:nvPr/>
            </p:nvSpPr>
            <p:spPr>
              <a:xfrm>
                <a:off x="4918414" y="4444841"/>
                <a:ext cx="2355172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825" b="1" dirty="0">
                    <a:solidFill>
                      <a:srgbClr val="4FACFE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③ WebSocket 长连接握手 &amp; 历史告警回补</a:t>
                </a:r>
                <a:endParaRPr lang="zh-CN" sz="825" b="1" dirty="0">
                  <a:solidFill>
                    <a:srgbClr val="4FACFE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  <p:grpSp>
          <p:nvGrpSpPr>
            <p:cNvPr id="95" name="Group 95"/>
            <p:cNvGrpSpPr/>
            <p:nvPr/>
          </p:nvGrpSpPr>
          <p:grpSpPr>
            <a:xfrm>
              <a:off x="3657600" y="4857750"/>
              <a:ext cx="4876800" cy="230981"/>
              <a:chOff x="3657600" y="4857750"/>
              <a:chExt cx="4876800" cy="230981"/>
            </a:xfrm>
          </p:grpSpPr>
          <p:sp>
            <p:nvSpPr>
              <p:cNvPr id="92" name="Line 92"/>
              <p:cNvSpPr/>
              <p:nvPr/>
            </p:nvSpPr>
            <p:spPr>
              <a:xfrm flipH="1">
                <a:off x="3657600" y="5000625"/>
                <a:ext cx="4876800" cy="1"/>
              </a:xfrm>
              <a:prstGeom prst="line">
                <a:avLst/>
              </a:prstGeom>
              <a:noFill/>
              <a:ln w="19050">
                <a:solidFill>
                  <a:srgbClr val="91CC75"/>
                </a:solidFill>
                <a:tailEnd type="triangle" w="lg" len="lg"/>
              </a:ln>
            </p:spPr>
          </p:sp>
          <p:sp>
            <p:nvSpPr>
              <p:cNvPr id="93" name="Rectangle 93"/>
              <p:cNvSpPr/>
              <p:nvPr/>
            </p:nvSpPr>
            <p:spPr>
              <a:xfrm>
                <a:off x="4714875" y="4857750"/>
                <a:ext cx="2762250" cy="209550"/>
              </a:xfrm>
              <a:prstGeom prst="roundRect">
                <a:avLst>
                  <a:gd name="adj" fmla="val 50000"/>
                </a:avLst>
              </a:prstGeom>
              <a:solidFill>
                <a:srgbClr val="161F30"/>
              </a:solidFill>
              <a:ln w="9525">
                <a:solidFill>
                  <a:srgbClr val="91CC75"/>
                </a:solidFill>
              </a:ln>
            </p:spPr>
          </p:sp>
          <p:sp>
            <p:nvSpPr>
              <p:cNvPr id="94" name="TextBox 94"/>
              <p:cNvSpPr txBox="1"/>
              <p:nvPr/>
            </p:nvSpPr>
            <p:spPr>
              <a:xfrm>
                <a:off x="4801387" y="4921091"/>
                <a:ext cx="2589226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825" b="1" dirty="0">
                    <a:solidFill>
                      <a:srgbClr val="91CC75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④ AI告警/指标变动实时推送 (Redis Pub/Sub)</a:t>
                </a:r>
                <a:endParaRPr lang="zh-CN" sz="825" b="1" dirty="0">
                  <a:solidFill>
                    <a:srgbClr val="91CC75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  <p:grpSp>
          <p:nvGrpSpPr>
            <p:cNvPr id="99" name="Group 99"/>
            <p:cNvGrpSpPr/>
            <p:nvPr/>
          </p:nvGrpSpPr>
          <p:grpSpPr>
            <a:xfrm>
              <a:off x="3619500" y="5429250"/>
              <a:ext cx="4914900" cy="230981"/>
              <a:chOff x="3619500" y="5429250"/>
              <a:chExt cx="4914900" cy="230981"/>
            </a:xfrm>
          </p:grpSpPr>
          <p:sp>
            <p:nvSpPr>
              <p:cNvPr id="96" name="Line 96"/>
              <p:cNvSpPr/>
              <p:nvPr/>
            </p:nvSpPr>
            <p:spPr>
              <a:xfrm>
                <a:off x="3619500" y="5572125"/>
                <a:ext cx="4914900" cy="1"/>
              </a:xfrm>
              <a:prstGeom prst="line">
                <a:avLst/>
              </a:prstGeom>
              <a:noFill/>
              <a:ln w="19050">
                <a:solidFill>
                  <a:srgbClr val="4FACFE"/>
                </a:solidFill>
                <a:tailEnd type="triangle" w="lg" len="lg"/>
              </a:ln>
            </p:spPr>
          </p:sp>
          <p:sp>
            <p:nvSpPr>
              <p:cNvPr id="97" name="Rectangle 97"/>
              <p:cNvSpPr/>
              <p:nvPr/>
            </p:nvSpPr>
            <p:spPr>
              <a:xfrm>
                <a:off x="4714875" y="5429250"/>
                <a:ext cx="2762250" cy="209550"/>
              </a:xfrm>
              <a:prstGeom prst="roundRect">
                <a:avLst>
                  <a:gd name="adj" fmla="val 50000"/>
                </a:avLst>
              </a:prstGeom>
              <a:solidFill>
                <a:srgbClr val="161F30"/>
              </a:solidFill>
              <a:ln w="9525">
                <a:solidFill>
                  <a:srgbClr val="4FACFE"/>
                </a:solidFill>
              </a:ln>
            </p:spPr>
          </p:sp>
          <p:sp>
            <p:nvSpPr>
              <p:cNvPr id="98" name="TextBox 98"/>
              <p:cNvSpPr txBox="1"/>
              <p:nvPr/>
            </p:nvSpPr>
            <p:spPr>
              <a:xfrm>
                <a:off x="5006975" y="5492591"/>
                <a:ext cx="2178050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825" b="1" dirty="0">
                    <a:solidFill>
                      <a:srgbClr val="4FACFE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⑤ 趋势及未来 7 天销量预测查询 (GET)</a:t>
                </a:r>
                <a:endParaRPr lang="zh-CN" sz="825" b="1" dirty="0">
                  <a:solidFill>
                    <a:srgbClr val="4FACFE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</p:grpSp>
      <p:sp>
        <p:nvSpPr>
          <p:cNvPr id="101" name="TextBox 101"/>
          <p:cNvSpPr txBox="1"/>
          <p:nvPr/>
        </p:nvSpPr>
        <p:spPr>
          <a:xfrm>
            <a:off x="561975" y="6443662"/>
            <a:ext cx="3442097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94A3B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部署架构：基于 Docker Compose 容器化编排，支持一键式无缝拉起。</a:t>
            </a:r>
            <a:endParaRPr lang="zh-CN" sz="750" dirty="0">
              <a:solidFill>
                <a:srgbClr val="94A3B8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4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8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5" dur="4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9" dur="4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39" grpId="0"/>
      <p:bldP spid="78" grpId="0"/>
      <p:bldP spid="100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0B0F19"/>
            </a:solidFill>
            <a:ln>
              <a:noFill/>
            </a:ln>
          </p:spPr>
        </p:sp>
        <p:sp>
          <p:nvSpPr>
            <p:cNvPr id="3" name="Freeform 3"/>
            <p:cNvSpPr/>
            <p:nvPr/>
          </p:nvSpPr>
          <p:spPr>
            <a:xfrm>
              <a:off x="571500" y="85725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solidFill>
              <a:srgbClr val="000000"/>
            </a:solidFill>
            <a:ln w="14288">
              <a:solidFill>
                <a:srgbClr val="1E293B"/>
              </a:solidFill>
            </a:ln>
          </p:spPr>
        </p:sp>
      </p:grpSp>
      <p:grpSp>
        <p:nvGrpSpPr>
          <p:cNvPr id="7" name="Group 7"/>
          <p:cNvGrpSpPr/>
          <p:nvPr/>
        </p:nvGrpSpPr>
        <p:grpSpPr>
          <a:xfrm>
            <a:off x="560070" y="331470"/>
            <a:ext cx="11071860" cy="182880"/>
            <a:chOff x="560070" y="331470"/>
            <a:chExt cx="11071860" cy="182880"/>
          </a:xfrm>
        </p:grpSpPr>
        <p:sp>
          <p:nvSpPr>
            <p:cNvPr id="5" name="TextBox 5"/>
            <p:cNvSpPr txBox="1"/>
            <p:nvPr/>
          </p:nvSpPr>
          <p:spPr>
            <a:xfrm>
              <a:off x="560070" y="331470"/>
              <a:ext cx="223803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94A3B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核心算法流程 · INFERENCE PIPELINE</a:t>
              </a:r>
              <a:endParaRPr lang="zh-CN" sz="900" b="1" dirty="0">
                <a:solidFill>
                  <a:srgbClr val="94A3B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10912411" y="331470"/>
              <a:ext cx="71951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94A3B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Page 5 of 8</a:t>
              </a:r>
              <a:endParaRPr lang="zh-CN" sz="900" dirty="0">
                <a:solidFill>
                  <a:srgbClr val="94A3B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544830" y="963930"/>
            <a:ext cx="11075670" cy="874395"/>
            <a:chOff x="544830" y="963930"/>
            <a:chExt cx="11075670" cy="874395"/>
          </a:xfrm>
        </p:grpSpPr>
        <p:sp>
          <p:nvSpPr>
            <p:cNvPr id="8" name="TextBox 8"/>
            <p:cNvSpPr txBox="1"/>
            <p:nvPr/>
          </p:nvSpPr>
          <p:spPr>
            <a:xfrm>
              <a:off x="544830" y="963930"/>
              <a:ext cx="3740701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F8FAFC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双模 AI 智能推理与决策流</a:t>
              </a:r>
              <a:endParaRPr lang="zh-CN" sz="2100" b="1" dirty="0">
                <a:solidFill>
                  <a:srgbClr val="F8FAFC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9" name="Rectangle 9"/>
            <p:cNvSpPr/>
            <p:nvPr/>
          </p:nvSpPr>
          <p:spPr>
            <a:xfrm>
              <a:off x="571500" y="1381125"/>
              <a:ext cx="11049000" cy="457200"/>
            </a:xfrm>
            <a:prstGeom prst="roundRect">
              <a:avLst>
                <a:gd name="adj" fmla="val 16667"/>
              </a:avLst>
            </a:prstGeom>
            <a:solidFill>
              <a:srgbClr val="161F30"/>
            </a:solidFill>
            <a:ln w="9525">
              <a:solidFill>
                <a:srgbClr val="1E293B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748665" y="1544002"/>
              <a:ext cx="920481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94A3B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在线决策流对 </a:t>
              </a:r>
              <a:r>
                <a:rPr lang="zh-CN" sz="1050" b="1" dirty="0">
                  <a:solidFill>
                    <a:srgbClr val="F43F5E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负利润订单</a:t>
              </a:r>
              <a:r>
                <a:rPr lang="zh-CN" sz="1050" dirty="0">
                  <a:solidFill>
                    <a:srgbClr val="94A3B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 执行确定性财务拦截，对正常订单路由至 </a:t>
              </a:r>
              <a:r>
                <a:rPr lang="zh-CN" sz="1050" b="1" dirty="0">
                  <a:solidFill>
                    <a:srgbClr val="4FACFE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随机森林与ANN双模</a:t>
              </a:r>
              <a:r>
                <a:rPr lang="zh-CN" sz="1050" dirty="0">
                  <a:solidFill>
                    <a:srgbClr val="94A3B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 进行并行打分预测，保证推理敏捷与可解释性。</a:t>
              </a:r>
              <a:endParaRPr lang="zh-CN" sz="1050" dirty="0">
                <a:solidFill>
                  <a:srgbClr val="94A3B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62" name="Group 62"/>
          <p:cNvGrpSpPr/>
          <p:nvPr/>
        </p:nvGrpSpPr>
        <p:grpSpPr>
          <a:xfrm>
            <a:off x="571500" y="1809750"/>
            <a:ext cx="10953750" cy="3714750"/>
            <a:chOff x="571500" y="1809750"/>
            <a:chExt cx="10953750" cy="3714750"/>
          </a:xfrm>
        </p:grpSpPr>
        <p:grpSp>
          <p:nvGrpSpPr>
            <p:cNvPr id="26" name="Group 26"/>
            <p:cNvGrpSpPr/>
            <p:nvPr/>
          </p:nvGrpSpPr>
          <p:grpSpPr>
            <a:xfrm>
              <a:off x="2095500" y="2066449"/>
              <a:ext cx="9385639" cy="2600801"/>
              <a:chOff x="2095500" y="2066449"/>
              <a:chExt cx="9385639" cy="2600801"/>
            </a:xfrm>
          </p:grpSpPr>
          <p:sp>
            <p:nvSpPr>
              <p:cNvPr id="12" name="Line 12"/>
              <p:cNvSpPr/>
              <p:nvPr/>
            </p:nvSpPr>
            <p:spPr>
              <a:xfrm>
                <a:off x="2095500" y="2286000"/>
                <a:ext cx="571500" cy="1"/>
              </a:xfrm>
              <a:prstGeom prst="line">
                <a:avLst/>
              </a:prstGeom>
              <a:noFill/>
              <a:ln w="23812">
                <a:solidFill>
                  <a:srgbClr val="94A3B8"/>
                </a:solidFill>
                <a:tailEnd type="triangle" w="lg" len="lg"/>
              </a:ln>
            </p:spPr>
          </p:sp>
          <p:sp>
            <p:nvSpPr>
              <p:cNvPr id="13" name="Line 13"/>
              <p:cNvSpPr/>
              <p:nvPr/>
            </p:nvSpPr>
            <p:spPr>
              <a:xfrm>
                <a:off x="4381500" y="2286000"/>
                <a:ext cx="476250" cy="1"/>
              </a:xfrm>
              <a:prstGeom prst="line">
                <a:avLst/>
              </a:prstGeom>
              <a:noFill/>
              <a:ln w="23812">
                <a:solidFill>
                  <a:srgbClr val="94A3B8"/>
                </a:solidFill>
                <a:tailEnd type="triangle" w="lg" len="lg"/>
              </a:ln>
            </p:spPr>
          </p:sp>
          <p:sp>
            <p:nvSpPr>
              <p:cNvPr id="14" name="Line 14"/>
              <p:cNvSpPr/>
              <p:nvPr/>
            </p:nvSpPr>
            <p:spPr>
              <a:xfrm>
                <a:off x="5619750" y="2762250"/>
                <a:ext cx="1" cy="571500"/>
              </a:xfrm>
              <a:prstGeom prst="line">
                <a:avLst/>
              </a:prstGeom>
              <a:noFill/>
              <a:ln w="23812">
                <a:solidFill>
                  <a:srgbClr val="F43F5E"/>
                </a:solidFill>
                <a:tailEnd type="triangle" w="lg" len="lg"/>
              </a:ln>
            </p:spPr>
          </p:sp>
          <p:sp>
            <p:nvSpPr>
              <p:cNvPr id="15" name="TextBox 15"/>
              <p:cNvSpPr txBox="1"/>
              <p:nvPr/>
            </p:nvSpPr>
            <p:spPr>
              <a:xfrm>
                <a:off x="5750242" y="2990374"/>
                <a:ext cx="682647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b="1" dirty="0">
                    <a:solidFill>
                      <a:srgbClr val="F43F5E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是 (亏损)</a:t>
                </a:r>
                <a:endParaRPr lang="zh-CN" sz="975" b="1" dirty="0">
                  <a:solidFill>
                    <a:srgbClr val="F43F5E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16" name="Line 16"/>
              <p:cNvSpPr/>
              <p:nvPr/>
            </p:nvSpPr>
            <p:spPr>
              <a:xfrm>
                <a:off x="6381750" y="2286000"/>
                <a:ext cx="857250" cy="1"/>
              </a:xfrm>
              <a:prstGeom prst="line">
                <a:avLst/>
              </a:prstGeom>
              <a:noFill/>
              <a:ln w="23812">
                <a:solidFill>
                  <a:srgbClr val="91CC75"/>
                </a:solidFill>
                <a:tailEnd type="triangle" w="lg" len="lg"/>
              </a:ln>
            </p:spPr>
          </p:sp>
          <p:sp>
            <p:nvSpPr>
              <p:cNvPr id="17" name="TextBox 17"/>
              <p:cNvSpPr txBox="1"/>
              <p:nvPr/>
            </p:nvSpPr>
            <p:spPr>
              <a:xfrm>
                <a:off x="6797992" y="2066449"/>
                <a:ext cx="682647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b="1" dirty="0">
                    <a:solidFill>
                      <a:srgbClr val="91CC75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否 (盈利)</a:t>
                </a:r>
                <a:endParaRPr lang="zh-CN" sz="975" b="1" dirty="0">
                  <a:solidFill>
                    <a:srgbClr val="91CC75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18" name="Line 18"/>
              <p:cNvSpPr/>
              <p:nvPr/>
            </p:nvSpPr>
            <p:spPr>
              <a:xfrm>
                <a:off x="9048750" y="2286000"/>
                <a:ext cx="857250" cy="1"/>
              </a:xfrm>
              <a:prstGeom prst="line">
                <a:avLst/>
              </a:prstGeom>
              <a:noFill/>
              <a:ln w="23812">
                <a:solidFill>
                  <a:srgbClr val="94A3B8"/>
                </a:solidFill>
                <a:tailEnd type="triangle" w="lg" len="lg"/>
              </a:ln>
            </p:spPr>
          </p:sp>
          <p:sp>
            <p:nvSpPr>
              <p:cNvPr id="19" name="Line 19"/>
              <p:cNvSpPr/>
              <p:nvPr/>
            </p:nvSpPr>
            <p:spPr>
              <a:xfrm>
                <a:off x="10668000" y="2762250"/>
                <a:ext cx="1" cy="571500"/>
              </a:xfrm>
              <a:prstGeom prst="line">
                <a:avLst/>
              </a:prstGeom>
              <a:noFill/>
              <a:ln w="23812">
                <a:solidFill>
                  <a:srgbClr val="F43F5E"/>
                </a:solidFill>
                <a:tailEnd type="triangle" w="lg" len="lg"/>
              </a:ln>
            </p:spPr>
          </p:sp>
          <p:sp>
            <p:nvSpPr>
              <p:cNvPr id="20" name="TextBox 20"/>
              <p:cNvSpPr txBox="1"/>
              <p:nvPr/>
            </p:nvSpPr>
            <p:spPr>
              <a:xfrm>
                <a:off x="10798492" y="2990374"/>
                <a:ext cx="682647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b="1" dirty="0">
                    <a:solidFill>
                      <a:srgbClr val="F43F5E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是 (高危)</a:t>
                </a:r>
                <a:endParaRPr lang="zh-CN" sz="975" b="1" dirty="0">
                  <a:solidFill>
                    <a:srgbClr val="F43F5E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21" name="Line 21"/>
              <p:cNvSpPr/>
              <p:nvPr/>
            </p:nvSpPr>
            <p:spPr>
              <a:xfrm flipH="1">
                <a:off x="8934450" y="2619375"/>
                <a:ext cx="1123950" cy="762000"/>
              </a:xfrm>
              <a:prstGeom prst="line">
                <a:avLst/>
              </a:prstGeom>
              <a:noFill/>
              <a:ln w="23812">
                <a:solidFill>
                  <a:srgbClr val="91CC75"/>
                </a:solidFill>
                <a:tailEnd type="triangle" w="lg" len="lg"/>
              </a:ln>
            </p:spPr>
          </p:sp>
          <p:sp>
            <p:nvSpPr>
              <p:cNvPr id="22" name="TextBox 22"/>
              <p:cNvSpPr txBox="1"/>
              <p:nvPr/>
            </p:nvSpPr>
            <p:spPr>
              <a:xfrm>
                <a:off x="9322118" y="2895124"/>
                <a:ext cx="682647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b="1" dirty="0">
                    <a:solidFill>
                      <a:srgbClr val="91CC75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否 (正常)</a:t>
                </a:r>
                <a:endParaRPr lang="zh-CN" sz="975" b="1" dirty="0">
                  <a:solidFill>
                    <a:srgbClr val="91CC75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23" name="Freeform 23"/>
              <p:cNvSpPr/>
              <p:nvPr/>
            </p:nvSpPr>
            <p:spPr>
              <a:xfrm>
                <a:off x="5619750" y="4191000"/>
                <a:ext cx="9525" cy="4762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76250">
                    <a:moveTo>
                      <a:pt x="0" y="0"/>
                    </a:moveTo>
                    <a:lnTo>
                      <a:pt x="0" y="476250"/>
                    </a:lnTo>
                  </a:path>
                </a:pathLst>
              </a:custGeom>
              <a:noFill/>
              <a:ln w="19050">
                <a:solidFill>
                  <a:srgbClr val="F43F5E"/>
                </a:solidFill>
                <a:custDash>
                  <a:ds d="200000" sp="100000"/>
                </a:custDash>
                <a:tailEnd type="triangle" w="lg" len="lg"/>
              </a:ln>
            </p:spPr>
          </p:sp>
          <p:sp>
            <p:nvSpPr>
              <p:cNvPr id="24" name="Freeform 24"/>
              <p:cNvSpPr/>
              <p:nvPr/>
            </p:nvSpPr>
            <p:spPr>
              <a:xfrm>
                <a:off x="8191500" y="4191000"/>
                <a:ext cx="9525" cy="4762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76250">
                    <a:moveTo>
                      <a:pt x="0" y="0"/>
                    </a:moveTo>
                    <a:lnTo>
                      <a:pt x="0" y="476250"/>
                    </a:lnTo>
                  </a:path>
                </a:pathLst>
              </a:custGeom>
              <a:noFill/>
              <a:ln w="19050">
                <a:solidFill>
                  <a:srgbClr val="91CC75"/>
                </a:solidFill>
                <a:custDash>
                  <a:ds d="200000" sp="100000"/>
                </a:custDash>
                <a:tailEnd type="triangle" w="lg" len="lg"/>
              </a:ln>
            </p:spPr>
          </p:sp>
          <p:sp>
            <p:nvSpPr>
              <p:cNvPr id="25" name="Freeform 25"/>
              <p:cNvSpPr/>
              <p:nvPr/>
            </p:nvSpPr>
            <p:spPr>
              <a:xfrm>
                <a:off x="8763000" y="4191000"/>
                <a:ext cx="1905000" cy="476250"/>
              </a:xfrm>
              <a:custGeom>
                <a:avLst/>
                <a:gdLst/>
                <a:ahLst/>
                <a:cxnLst/>
                <a:rect l="l" t="t" r="r" b="b"/>
                <a:pathLst>
                  <a:path w="1905000" h="476250">
                    <a:moveTo>
                      <a:pt x="1905000" y="0"/>
                    </a:moveTo>
                    <a:lnTo>
                      <a:pt x="1905000" y="285750"/>
                    </a:lnTo>
                    <a:lnTo>
                      <a:pt x="0" y="285750"/>
                    </a:lnTo>
                    <a:lnTo>
                      <a:pt x="0" y="476250"/>
                    </a:lnTo>
                  </a:path>
                </a:pathLst>
              </a:custGeom>
              <a:noFill/>
              <a:ln w="19050">
                <a:solidFill>
                  <a:srgbClr val="F43F5E"/>
                </a:solidFill>
                <a:custDash>
                  <a:ds d="200000" sp="100000"/>
                </a:custDash>
                <a:tailEnd type="triangle" w="lg" len="lg"/>
              </a:ln>
            </p:spPr>
          </p:sp>
        </p:grpSp>
        <p:grpSp>
          <p:nvGrpSpPr>
            <p:cNvPr id="61" name="Group 61"/>
            <p:cNvGrpSpPr/>
            <p:nvPr/>
          </p:nvGrpSpPr>
          <p:grpSpPr>
            <a:xfrm>
              <a:off x="571500" y="1809750"/>
              <a:ext cx="10953750" cy="3714750"/>
              <a:chOff x="571500" y="1809750"/>
              <a:chExt cx="10953750" cy="3714750"/>
            </a:xfrm>
          </p:grpSpPr>
          <p:grpSp>
            <p:nvGrpSpPr>
              <p:cNvPr id="30" name="Group 30"/>
              <p:cNvGrpSpPr/>
              <p:nvPr/>
            </p:nvGrpSpPr>
            <p:grpSpPr>
              <a:xfrm>
                <a:off x="571500" y="1905000"/>
                <a:ext cx="1524000" cy="762000"/>
                <a:chOff x="571500" y="1905000"/>
                <a:chExt cx="1524000" cy="762000"/>
              </a:xfrm>
              <a:effectLst>
                <a:outerShdw blurRad="76200" dist="19050" dir="5400000" algn="ctr" rotWithShape="0">
                  <a:srgbClr val="0B0F19">
                    <a:alpha val="37500"/>
                  </a:srgbClr>
                </a:outerShdw>
              </a:effectLst>
            </p:grpSpPr>
            <p:sp>
              <p:nvSpPr>
                <p:cNvPr id="27" name="Rectangle 27"/>
                <p:cNvSpPr/>
                <p:nvPr/>
              </p:nvSpPr>
              <p:spPr>
                <a:xfrm>
                  <a:off x="571500" y="1905000"/>
                  <a:ext cx="1524000" cy="762000"/>
                </a:xfrm>
                <a:prstGeom prst="roundRect">
                  <a:avLst>
                    <a:gd name="adj" fmla="val 10000"/>
                  </a:avLst>
                </a:prstGeom>
                <a:solidFill>
                  <a:srgbClr val="161F30"/>
                </a:solidFill>
                <a:ln w="14288">
                  <a:solidFill>
                    <a:srgbClr val="4FACFE"/>
                  </a:solidFill>
                </a:ln>
                <a:effectLst>
                  <a:outerShdw blurRad="76200" dist="19050" dir="5400000" algn="ctr" rotWithShape="0">
                    <a:srgbClr val="0B0F19">
                      <a:alpha val="37500"/>
                    </a:srgbClr>
                  </a:outerShdw>
                </a:effectLst>
              </p:spPr>
            </p:sp>
            <p:sp>
              <p:nvSpPr>
                <p:cNvPr id="28" name="TextBox 28"/>
                <p:cNvSpPr txBox="1"/>
                <p:nvPr/>
              </p:nvSpPr>
              <p:spPr>
                <a:xfrm>
                  <a:off x="715387" y="2145506"/>
                  <a:ext cx="1236226" cy="228600"/>
                </a:xfrm>
                <a:prstGeom prst="rect">
                  <a:avLst/>
                </a:prstGeom>
                <a:noFill/>
                <a:ln>
                  <a:noFill/>
                </a:ln>
                <a:effectLst>
                  <a:outerShdw blurRad="76200" dist="19050" dir="5400000" algn="ctr" rotWithShape="0">
                    <a:srgbClr val="0B0F19">
                      <a:alpha val="37500"/>
                    </a:srgbClr>
                  </a:outerShdw>
                </a:effectLst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125" b="1" dirty="0">
                      <a:solidFill>
                        <a:srgbClr val="F8FAFC"/>
                      </a:solidFill>
                      <a:latin typeface="Arial" panose="020B0604020202020204"/>
                      <a:ea typeface="微软雅黑" panose="020B0503020204020204" charset="-122"/>
                      <a:cs typeface="Arial" panose="020B0604020202020204"/>
                    </a:rPr>
                    <a:t>订单数据流注入</a:t>
                  </a:r>
                  <a:endParaRPr lang="zh-CN" sz="1125" b="1" dirty="0">
                    <a:solidFill>
                      <a:srgbClr val="F8FAFC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endParaRPr>
                </a:p>
              </p:txBody>
            </p:sp>
            <p:sp>
              <p:nvSpPr>
                <p:cNvPr id="29" name="TextBox 29"/>
                <p:cNvSpPr txBox="1"/>
                <p:nvPr/>
              </p:nvSpPr>
              <p:spPr>
                <a:xfrm>
                  <a:off x="822984" y="2368391"/>
                  <a:ext cx="1021032" cy="167640"/>
                </a:xfrm>
                <a:prstGeom prst="rect">
                  <a:avLst/>
                </a:prstGeom>
                <a:noFill/>
                <a:ln>
                  <a:noFill/>
                </a:ln>
                <a:effectLst>
                  <a:outerShdw blurRad="76200" dist="19050" dir="5400000" algn="ctr" rotWithShape="0">
                    <a:srgbClr val="0B0F19">
                      <a:alpha val="37500"/>
                    </a:srgbClr>
                  </a:outerShdw>
                </a:effectLst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825" dirty="0">
                      <a:solidFill>
                        <a:srgbClr val="94A3B8"/>
                      </a:solidFill>
                      <a:latin typeface="Arial" panose="020B0604020202020204"/>
                      <a:ea typeface="微软雅黑" panose="020B0503020204020204" charset="-122"/>
                      <a:cs typeface="Arial" panose="020B0604020202020204"/>
                    </a:rPr>
                    <a:t>replay_script.py</a:t>
                  </a:r>
                  <a:endParaRPr lang="zh-CN" sz="825" dirty="0">
                    <a:solidFill>
                      <a:srgbClr val="94A3B8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endParaRPr>
                </a:p>
              </p:txBody>
            </p:sp>
          </p:grpSp>
          <p:grpSp>
            <p:nvGrpSpPr>
              <p:cNvPr id="34" name="Group 34"/>
              <p:cNvGrpSpPr/>
              <p:nvPr/>
            </p:nvGrpSpPr>
            <p:grpSpPr>
              <a:xfrm>
                <a:off x="2667000" y="1905000"/>
                <a:ext cx="1714500" cy="762000"/>
                <a:chOff x="2667000" y="1905000"/>
                <a:chExt cx="1714500" cy="762000"/>
              </a:xfrm>
              <a:effectLst>
                <a:outerShdw blurRad="76200" dist="19050" dir="5400000" algn="ctr" rotWithShape="0">
                  <a:srgbClr val="0B0F19">
                    <a:alpha val="37500"/>
                  </a:srgbClr>
                </a:outerShdw>
              </a:effectLst>
            </p:grpSpPr>
            <p:sp>
              <p:nvSpPr>
                <p:cNvPr id="31" name="Rectangle 31"/>
                <p:cNvSpPr/>
                <p:nvPr/>
              </p:nvSpPr>
              <p:spPr>
                <a:xfrm>
                  <a:off x="2667000" y="1905000"/>
                  <a:ext cx="1714500" cy="762000"/>
                </a:xfrm>
                <a:prstGeom prst="roundRect">
                  <a:avLst>
                    <a:gd name="adj" fmla="val 10000"/>
                  </a:avLst>
                </a:prstGeom>
                <a:solidFill>
                  <a:srgbClr val="161F30"/>
                </a:solidFill>
                <a:ln w="14288">
                  <a:solidFill>
                    <a:srgbClr val="4FACFE"/>
                  </a:solidFill>
                </a:ln>
                <a:effectLst>
                  <a:outerShdw blurRad="76200" dist="19050" dir="5400000" algn="ctr" rotWithShape="0">
                    <a:srgbClr val="0B0F19">
                      <a:alpha val="37500"/>
                    </a:srgbClr>
                  </a:outerShdw>
                </a:effectLst>
              </p:spPr>
            </p:sp>
            <p:sp>
              <p:nvSpPr>
                <p:cNvPr id="32" name="TextBox 32"/>
                <p:cNvSpPr txBox="1"/>
                <p:nvPr/>
              </p:nvSpPr>
              <p:spPr>
                <a:xfrm>
                  <a:off x="2932015" y="2145506"/>
                  <a:ext cx="1184469" cy="228600"/>
                </a:xfrm>
                <a:prstGeom prst="rect">
                  <a:avLst/>
                </a:prstGeom>
                <a:noFill/>
                <a:ln>
                  <a:noFill/>
                </a:ln>
                <a:effectLst>
                  <a:outerShdw blurRad="76200" dist="19050" dir="5400000" algn="ctr" rotWithShape="0">
                    <a:srgbClr val="0B0F19">
                      <a:alpha val="37500"/>
                    </a:srgbClr>
                  </a:outerShdw>
                </a:effectLst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125" b="1" dirty="0">
                      <a:solidFill>
                        <a:srgbClr val="F8FAFC"/>
                      </a:solidFill>
                      <a:latin typeface="Arial" panose="020B0604020202020204"/>
                      <a:ea typeface="微软雅黑" panose="020B0503020204020204" charset="-122"/>
                      <a:cs typeface="Arial" panose="020B0604020202020204"/>
                    </a:rPr>
                    <a:t>HMAC 签名校验</a:t>
                  </a:r>
                  <a:endParaRPr lang="zh-CN" sz="1125" b="1" dirty="0">
                    <a:solidFill>
                      <a:srgbClr val="F8FAFC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endParaRPr>
                </a:p>
              </p:txBody>
            </p:sp>
            <p:sp>
              <p:nvSpPr>
                <p:cNvPr id="33" name="TextBox 33"/>
                <p:cNvSpPr txBox="1"/>
                <p:nvPr/>
              </p:nvSpPr>
              <p:spPr>
                <a:xfrm>
                  <a:off x="3022771" y="2368391"/>
                  <a:ext cx="1002959" cy="167640"/>
                </a:xfrm>
                <a:prstGeom prst="rect">
                  <a:avLst/>
                </a:prstGeom>
                <a:noFill/>
                <a:ln>
                  <a:noFill/>
                </a:ln>
                <a:effectLst>
                  <a:outerShdw blurRad="76200" dist="19050" dir="5400000" algn="ctr" rotWithShape="0">
                    <a:srgbClr val="0B0F19">
                      <a:alpha val="37500"/>
                    </a:srgbClr>
                  </a:outerShdw>
                </a:effectLst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825" dirty="0">
                      <a:solidFill>
                        <a:srgbClr val="94A3B8"/>
                      </a:solidFill>
                      <a:latin typeface="Arial" panose="020B0604020202020204"/>
                      <a:ea typeface="微软雅黑" panose="020B0503020204020204" charset="-122"/>
                      <a:cs typeface="Arial" panose="020B0604020202020204"/>
                    </a:rPr>
                    <a:t>防篡改 &amp; 签名拦截</a:t>
                  </a:r>
                  <a:endParaRPr lang="zh-CN" sz="825" dirty="0">
                    <a:solidFill>
                      <a:srgbClr val="94A3B8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endParaRPr>
                </a:p>
              </p:txBody>
            </p:sp>
          </p:grpSp>
          <p:grpSp>
            <p:nvGrpSpPr>
              <p:cNvPr id="37" name="Group 37"/>
              <p:cNvGrpSpPr/>
              <p:nvPr/>
            </p:nvGrpSpPr>
            <p:grpSpPr>
              <a:xfrm>
                <a:off x="4857750" y="1809750"/>
                <a:ext cx="1524000" cy="952500"/>
                <a:chOff x="4857750" y="1809750"/>
                <a:chExt cx="1524000" cy="952500"/>
              </a:xfrm>
              <a:effectLst>
                <a:outerShdw blurRad="76200" dist="19050" dir="5400000" algn="ctr" rotWithShape="0">
                  <a:srgbClr val="0B0F19">
                    <a:alpha val="37500"/>
                  </a:srgbClr>
                </a:outerShdw>
              </a:effectLst>
            </p:grpSpPr>
            <p:sp>
              <p:nvSpPr>
                <p:cNvPr id="35" name="Freeform 35"/>
                <p:cNvSpPr/>
                <p:nvPr/>
              </p:nvSpPr>
              <p:spPr>
                <a:xfrm>
                  <a:off x="4857750" y="1809750"/>
                  <a:ext cx="1524000" cy="952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24000" h="952500">
                      <a:moveTo>
                        <a:pt x="762000" y="0"/>
                      </a:moveTo>
                      <a:lnTo>
                        <a:pt x="1524000" y="476250"/>
                      </a:lnTo>
                      <a:lnTo>
                        <a:pt x="762000" y="952500"/>
                      </a:lnTo>
                      <a:lnTo>
                        <a:pt x="0" y="476250"/>
                      </a:lnTo>
                      <a:close/>
                    </a:path>
                  </a:pathLst>
                </a:custGeom>
                <a:solidFill>
                  <a:srgbClr val="161F30"/>
                </a:solidFill>
                <a:ln w="14288">
                  <a:solidFill>
                    <a:srgbClr val="F43F5E"/>
                  </a:solidFill>
                </a:ln>
                <a:effectLst>
                  <a:outerShdw blurRad="76200" dist="19050" dir="5400000" algn="ctr" rotWithShape="0">
                    <a:srgbClr val="0B0F19">
                      <a:alpha val="37500"/>
                    </a:srgbClr>
                  </a:outerShdw>
                </a:effectLst>
              </p:spPr>
            </p:sp>
            <p:sp>
              <p:nvSpPr>
                <p:cNvPr id="36" name="TextBox 36"/>
                <p:cNvSpPr txBox="1"/>
                <p:nvPr/>
              </p:nvSpPr>
              <p:spPr>
                <a:xfrm>
                  <a:off x="5240094" y="2229802"/>
                  <a:ext cx="759312" cy="213360"/>
                </a:xfrm>
                <a:prstGeom prst="rect">
                  <a:avLst/>
                </a:prstGeom>
                <a:noFill/>
                <a:ln>
                  <a:noFill/>
                </a:ln>
                <a:effectLst>
                  <a:outerShdw blurRad="76200" dist="19050" dir="5400000" algn="ctr" rotWithShape="0">
                    <a:srgbClr val="0B0F19">
                      <a:alpha val="37500"/>
                    </a:srgbClr>
                  </a:outerShdw>
                </a:effectLst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050" b="1" dirty="0">
                      <a:solidFill>
                        <a:srgbClr val="F8FAFC"/>
                      </a:solidFill>
                      <a:latin typeface="Arial" panose="020B0604020202020204"/>
                      <a:ea typeface="微软雅黑" panose="020B0503020204020204" charset="-122"/>
                      <a:cs typeface="Arial" panose="020B0604020202020204"/>
                    </a:rPr>
                    <a:t>利润为负?</a:t>
                  </a:r>
                  <a:endParaRPr lang="zh-CN" sz="1050" b="1" dirty="0">
                    <a:solidFill>
                      <a:srgbClr val="F8FAFC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endParaRPr>
                </a:p>
              </p:txBody>
            </p:sp>
          </p:grpSp>
          <p:grpSp>
            <p:nvGrpSpPr>
              <p:cNvPr id="41" name="Group 41"/>
              <p:cNvGrpSpPr/>
              <p:nvPr/>
            </p:nvGrpSpPr>
            <p:grpSpPr>
              <a:xfrm>
                <a:off x="4762500" y="3429000"/>
                <a:ext cx="1714500" cy="762000"/>
                <a:chOff x="4762500" y="3429000"/>
                <a:chExt cx="1714500" cy="762000"/>
              </a:xfrm>
              <a:effectLst>
                <a:outerShdw blurRad="76200" dist="19050" dir="5400000" algn="ctr" rotWithShape="0">
                  <a:srgbClr val="0B0F19">
                    <a:alpha val="37500"/>
                  </a:srgbClr>
                </a:outerShdw>
              </a:effectLst>
            </p:grpSpPr>
            <p:sp>
              <p:nvSpPr>
                <p:cNvPr id="38" name="Rectangle 38"/>
                <p:cNvSpPr/>
                <p:nvPr/>
              </p:nvSpPr>
              <p:spPr>
                <a:xfrm>
                  <a:off x="4762500" y="3429000"/>
                  <a:ext cx="1714500" cy="762000"/>
                </a:xfrm>
                <a:prstGeom prst="roundRect">
                  <a:avLst>
                    <a:gd name="adj" fmla="val 10000"/>
                  </a:avLst>
                </a:prstGeom>
                <a:solidFill>
                  <a:srgbClr val="161F30"/>
                </a:solidFill>
                <a:ln w="14288">
                  <a:solidFill>
                    <a:srgbClr val="F43F5E"/>
                  </a:solidFill>
                </a:ln>
                <a:effectLst>
                  <a:outerShdw blurRad="76200" dist="19050" dir="5400000" algn="ctr" rotWithShape="0">
                    <a:srgbClr val="0B0F19">
                      <a:alpha val="37500"/>
                    </a:srgbClr>
                  </a:outerShdw>
                </a:effectLst>
              </p:spPr>
            </p:sp>
            <p:sp>
              <p:nvSpPr>
                <p:cNvPr id="39" name="TextBox 39"/>
                <p:cNvSpPr txBox="1"/>
                <p:nvPr/>
              </p:nvSpPr>
              <p:spPr>
                <a:xfrm>
                  <a:off x="5001637" y="3669506"/>
                  <a:ext cx="1236226" cy="228600"/>
                </a:xfrm>
                <a:prstGeom prst="rect">
                  <a:avLst/>
                </a:prstGeom>
                <a:noFill/>
                <a:ln>
                  <a:noFill/>
                </a:ln>
                <a:effectLst>
                  <a:outerShdw blurRad="76200" dist="19050" dir="5400000" algn="ctr" rotWithShape="0">
                    <a:srgbClr val="0B0F19">
                      <a:alpha val="37500"/>
                    </a:srgbClr>
                  </a:outerShdw>
                </a:effectLst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125" b="1" dirty="0">
                      <a:solidFill>
                        <a:srgbClr val="F8FAFC"/>
                      </a:solidFill>
                      <a:latin typeface="Arial" panose="020B0604020202020204"/>
                      <a:ea typeface="微软雅黑" panose="020B0503020204020204" charset="-122"/>
                      <a:cs typeface="Arial" panose="020B0604020202020204"/>
                    </a:rPr>
                    <a:t>财务规则硬拦截</a:t>
                  </a:r>
                  <a:endParaRPr lang="zh-CN" sz="1125" b="1" dirty="0">
                    <a:solidFill>
                      <a:srgbClr val="F8FAFC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endParaRPr>
                </a:p>
              </p:txBody>
            </p:sp>
            <p:sp>
              <p:nvSpPr>
                <p:cNvPr id="40" name="TextBox 40"/>
                <p:cNvSpPr txBox="1"/>
                <p:nvPr/>
              </p:nvSpPr>
              <p:spPr>
                <a:xfrm>
                  <a:off x="4991755" y="3892391"/>
                  <a:ext cx="1255990" cy="167640"/>
                </a:xfrm>
                <a:prstGeom prst="rect">
                  <a:avLst/>
                </a:prstGeom>
                <a:noFill/>
                <a:ln>
                  <a:noFill/>
                </a:ln>
                <a:effectLst>
                  <a:outerShdw blurRad="76200" dist="19050" dir="5400000" algn="ctr" rotWithShape="0">
                    <a:srgbClr val="0B0F19">
                      <a:alpha val="37500"/>
                    </a:srgbClr>
                  </a:outerShdw>
                </a:effectLst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825" dirty="0">
                      <a:solidFill>
                        <a:srgbClr val="F43F5E"/>
                      </a:solidFill>
                      <a:latin typeface="Arial" panose="020B0604020202020204"/>
                      <a:ea typeface="微软雅黑" panose="020B0503020204020204" charset="-122"/>
                      <a:cs typeface="Arial" panose="020B0604020202020204"/>
                    </a:rPr>
                    <a:t>风险分 90-98.5% + XAI</a:t>
                  </a:r>
                  <a:endParaRPr lang="zh-CN" sz="825" dirty="0">
                    <a:solidFill>
                      <a:srgbClr val="F43F5E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endParaRPr>
                </a:p>
              </p:txBody>
            </p:sp>
          </p:grpSp>
          <p:grpSp>
            <p:nvGrpSpPr>
              <p:cNvPr id="45" name="Group 45"/>
              <p:cNvGrpSpPr/>
              <p:nvPr/>
            </p:nvGrpSpPr>
            <p:grpSpPr>
              <a:xfrm>
                <a:off x="7239000" y="1905000"/>
                <a:ext cx="1809750" cy="762000"/>
                <a:chOff x="7239000" y="1905000"/>
                <a:chExt cx="1809750" cy="762000"/>
              </a:xfrm>
              <a:effectLst>
                <a:outerShdw blurRad="76200" dist="19050" dir="5400000" algn="ctr" rotWithShape="0">
                  <a:srgbClr val="0B0F19">
                    <a:alpha val="37500"/>
                  </a:srgbClr>
                </a:outerShdw>
              </a:effectLst>
            </p:grpSpPr>
            <p:sp>
              <p:nvSpPr>
                <p:cNvPr id="42" name="Rectangle 42"/>
                <p:cNvSpPr/>
                <p:nvPr/>
              </p:nvSpPr>
              <p:spPr>
                <a:xfrm>
                  <a:off x="7239000" y="1905000"/>
                  <a:ext cx="1809750" cy="762000"/>
                </a:xfrm>
                <a:prstGeom prst="roundRect">
                  <a:avLst>
                    <a:gd name="adj" fmla="val 10000"/>
                  </a:avLst>
                </a:prstGeom>
                <a:solidFill>
                  <a:srgbClr val="161F30"/>
                </a:solidFill>
                <a:ln w="14288">
                  <a:solidFill>
                    <a:srgbClr val="4FACFE"/>
                  </a:solidFill>
                </a:ln>
                <a:effectLst>
                  <a:outerShdw blurRad="76200" dist="19050" dir="5400000" algn="ctr" rotWithShape="0">
                    <a:srgbClr val="0B0F19">
                      <a:alpha val="37500"/>
                    </a:srgbClr>
                  </a:outerShdw>
                </a:effectLst>
              </p:spPr>
            </p:sp>
            <p:sp>
              <p:nvSpPr>
                <p:cNvPr id="43" name="TextBox 43"/>
                <p:cNvSpPr txBox="1"/>
                <p:nvPr/>
              </p:nvSpPr>
              <p:spPr>
                <a:xfrm>
                  <a:off x="7499884" y="2145506"/>
                  <a:ext cx="1287982" cy="228600"/>
                </a:xfrm>
                <a:prstGeom prst="rect">
                  <a:avLst/>
                </a:prstGeom>
                <a:noFill/>
                <a:ln>
                  <a:noFill/>
                </a:ln>
                <a:effectLst>
                  <a:outerShdw blurRad="76200" dist="19050" dir="5400000" algn="ctr" rotWithShape="0">
                    <a:srgbClr val="0B0F19">
                      <a:alpha val="37500"/>
                    </a:srgbClr>
                  </a:outerShdw>
                </a:effectLst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125" b="1" dirty="0">
                      <a:solidFill>
                        <a:srgbClr val="F8FAFC"/>
                      </a:solidFill>
                      <a:latin typeface="Arial" panose="020B0604020202020204"/>
                      <a:ea typeface="微软雅黑" panose="020B0503020204020204" charset="-122"/>
                      <a:cs typeface="Arial" panose="020B0604020202020204"/>
                    </a:rPr>
                    <a:t>ML双模并行打分</a:t>
                  </a:r>
                  <a:endParaRPr lang="zh-CN" sz="1125" b="1" dirty="0">
                    <a:solidFill>
                      <a:srgbClr val="F8FAFC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endParaRPr>
                </a:p>
              </p:txBody>
            </p:sp>
            <p:sp>
              <p:nvSpPr>
                <p:cNvPr id="44" name="TextBox 44"/>
                <p:cNvSpPr txBox="1"/>
                <p:nvPr/>
              </p:nvSpPr>
              <p:spPr>
                <a:xfrm>
                  <a:off x="7555039" y="2368391"/>
                  <a:ext cx="1177671" cy="167640"/>
                </a:xfrm>
                <a:prstGeom prst="rect">
                  <a:avLst/>
                </a:prstGeom>
                <a:noFill/>
                <a:ln>
                  <a:noFill/>
                </a:ln>
                <a:effectLst>
                  <a:outerShdw blurRad="76200" dist="19050" dir="5400000" algn="ctr" rotWithShape="0">
                    <a:srgbClr val="0B0F19">
                      <a:alpha val="37500"/>
                    </a:srgbClr>
                  </a:outerShdw>
                </a:effectLst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825" dirty="0">
                      <a:solidFill>
                        <a:srgbClr val="94A3B8"/>
                      </a:solidFill>
                      <a:latin typeface="Arial" panose="020B0604020202020204"/>
                      <a:ea typeface="微软雅黑" panose="020B0503020204020204" charset="-122"/>
                      <a:cs typeface="Arial" panose="020B0604020202020204"/>
                    </a:rPr>
                    <a:t>RandomForest &amp; ANN</a:t>
                  </a:r>
                  <a:endParaRPr lang="zh-CN" sz="825" dirty="0">
                    <a:solidFill>
                      <a:srgbClr val="94A3B8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endParaRPr>
                </a:p>
              </p:txBody>
            </p:sp>
          </p:grpSp>
          <p:grpSp>
            <p:nvGrpSpPr>
              <p:cNvPr id="48" name="Group 48"/>
              <p:cNvGrpSpPr/>
              <p:nvPr/>
            </p:nvGrpSpPr>
            <p:grpSpPr>
              <a:xfrm>
                <a:off x="9906000" y="1809750"/>
                <a:ext cx="1524000" cy="952500"/>
                <a:chOff x="9906000" y="1809750"/>
                <a:chExt cx="1524000" cy="952500"/>
              </a:xfrm>
              <a:effectLst>
                <a:outerShdw blurRad="76200" dist="19050" dir="5400000" algn="ctr" rotWithShape="0">
                  <a:srgbClr val="0B0F19">
                    <a:alpha val="37500"/>
                  </a:srgbClr>
                </a:outerShdw>
              </a:effectLst>
            </p:grpSpPr>
            <p:sp>
              <p:nvSpPr>
                <p:cNvPr id="46" name="Freeform 46"/>
                <p:cNvSpPr/>
                <p:nvPr/>
              </p:nvSpPr>
              <p:spPr>
                <a:xfrm>
                  <a:off x="9906000" y="1809750"/>
                  <a:ext cx="1524000" cy="952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24000" h="952500">
                      <a:moveTo>
                        <a:pt x="762000" y="0"/>
                      </a:moveTo>
                      <a:lnTo>
                        <a:pt x="1524000" y="476250"/>
                      </a:lnTo>
                      <a:lnTo>
                        <a:pt x="762000" y="952500"/>
                      </a:lnTo>
                      <a:lnTo>
                        <a:pt x="0" y="476250"/>
                      </a:lnTo>
                      <a:close/>
                    </a:path>
                  </a:pathLst>
                </a:custGeom>
                <a:solidFill>
                  <a:srgbClr val="161F30"/>
                </a:solidFill>
                <a:ln w="14288">
                  <a:solidFill>
                    <a:srgbClr val="4FACFE"/>
                  </a:solidFill>
                </a:ln>
                <a:effectLst>
                  <a:outerShdw blurRad="76200" dist="19050" dir="5400000" algn="ctr" rotWithShape="0">
                    <a:srgbClr val="0B0F19">
                      <a:alpha val="37500"/>
                    </a:srgbClr>
                  </a:outerShdw>
                </a:effectLst>
              </p:spPr>
            </p:sp>
            <p:sp>
              <p:nvSpPr>
                <p:cNvPr id="47" name="TextBox 47"/>
                <p:cNvSpPr txBox="1"/>
                <p:nvPr/>
              </p:nvSpPr>
              <p:spPr>
                <a:xfrm>
                  <a:off x="10288344" y="2229802"/>
                  <a:ext cx="759312" cy="213360"/>
                </a:xfrm>
                <a:prstGeom prst="rect">
                  <a:avLst/>
                </a:prstGeom>
                <a:noFill/>
                <a:ln>
                  <a:noFill/>
                </a:ln>
                <a:effectLst>
                  <a:outerShdw blurRad="76200" dist="19050" dir="5400000" algn="ctr" rotWithShape="0">
                    <a:srgbClr val="0B0F19">
                      <a:alpha val="37500"/>
                    </a:srgbClr>
                  </a:outerShdw>
                </a:effectLst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050" b="1" dirty="0">
                      <a:solidFill>
                        <a:srgbClr val="F8FAFC"/>
                      </a:solidFill>
                      <a:latin typeface="Arial" panose="020B0604020202020204"/>
                      <a:ea typeface="微软雅黑" panose="020B0503020204020204" charset="-122"/>
                      <a:cs typeface="Arial" panose="020B0604020202020204"/>
                    </a:rPr>
                    <a:t>风险超标?</a:t>
                  </a:r>
                  <a:endParaRPr lang="zh-CN" sz="1050" b="1" dirty="0">
                    <a:solidFill>
                      <a:srgbClr val="F8FAFC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endParaRPr>
                </a:p>
              </p:txBody>
            </p:sp>
          </p:grpSp>
          <p:grpSp>
            <p:nvGrpSpPr>
              <p:cNvPr id="52" name="Group 52"/>
              <p:cNvGrpSpPr/>
              <p:nvPr/>
            </p:nvGrpSpPr>
            <p:grpSpPr>
              <a:xfrm>
                <a:off x="9810750" y="3429000"/>
                <a:ext cx="1714500" cy="762000"/>
                <a:chOff x="9810750" y="3429000"/>
                <a:chExt cx="1714500" cy="762000"/>
              </a:xfrm>
              <a:effectLst>
                <a:outerShdw blurRad="76200" dist="19050" dir="5400000" algn="ctr" rotWithShape="0">
                  <a:srgbClr val="0B0F19">
                    <a:alpha val="37500"/>
                  </a:srgbClr>
                </a:outerShdw>
              </a:effectLst>
            </p:grpSpPr>
            <p:sp>
              <p:nvSpPr>
                <p:cNvPr id="49" name="Rectangle 49"/>
                <p:cNvSpPr/>
                <p:nvPr/>
              </p:nvSpPr>
              <p:spPr>
                <a:xfrm>
                  <a:off x="9810750" y="3429000"/>
                  <a:ext cx="1714500" cy="762000"/>
                </a:xfrm>
                <a:prstGeom prst="roundRect">
                  <a:avLst>
                    <a:gd name="adj" fmla="val 10000"/>
                  </a:avLst>
                </a:prstGeom>
                <a:solidFill>
                  <a:srgbClr val="161F30"/>
                </a:solidFill>
                <a:ln w="14288">
                  <a:solidFill>
                    <a:srgbClr val="F43F5E"/>
                  </a:solidFill>
                </a:ln>
                <a:effectLst>
                  <a:outerShdw blurRad="76200" dist="19050" dir="5400000" algn="ctr" rotWithShape="0">
                    <a:srgbClr val="0B0F19">
                      <a:alpha val="37500"/>
                    </a:srgbClr>
                  </a:outerShdw>
                </a:effectLst>
              </p:spPr>
            </p:sp>
            <p:sp>
              <p:nvSpPr>
                <p:cNvPr id="50" name="TextBox 50"/>
                <p:cNvSpPr txBox="1"/>
                <p:nvPr/>
              </p:nvSpPr>
              <p:spPr>
                <a:xfrm>
                  <a:off x="9989504" y="3669506"/>
                  <a:ext cx="1356991" cy="228600"/>
                </a:xfrm>
                <a:prstGeom prst="rect">
                  <a:avLst/>
                </a:prstGeom>
                <a:noFill/>
                <a:ln>
                  <a:noFill/>
                </a:ln>
                <a:effectLst>
                  <a:outerShdw blurRad="76200" dist="19050" dir="5400000" algn="ctr" rotWithShape="0">
                    <a:srgbClr val="0B0F19">
                      <a:alpha val="37500"/>
                    </a:srgbClr>
                  </a:outerShdw>
                </a:effectLst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125" b="1" dirty="0">
                      <a:solidFill>
                        <a:srgbClr val="F8FAFC"/>
                      </a:solidFill>
                      <a:latin typeface="Arial" panose="020B0604020202020204"/>
                      <a:ea typeface="微软雅黑" panose="020B0503020204020204" charset="-122"/>
                      <a:cs typeface="Arial" panose="020B0604020202020204"/>
                    </a:rPr>
                    <a:t>XAI 特征归因提取</a:t>
                  </a:r>
                  <a:endParaRPr lang="zh-CN" sz="1125" b="1" dirty="0">
                    <a:solidFill>
                      <a:srgbClr val="F8FAFC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endParaRPr>
                </a:p>
              </p:txBody>
            </p:sp>
            <p:sp>
              <p:nvSpPr>
                <p:cNvPr id="51" name="TextBox 51"/>
                <p:cNvSpPr txBox="1"/>
                <p:nvPr/>
              </p:nvSpPr>
              <p:spPr>
                <a:xfrm>
                  <a:off x="10109287" y="3892391"/>
                  <a:ext cx="1117425" cy="167640"/>
                </a:xfrm>
                <a:prstGeom prst="rect">
                  <a:avLst/>
                </a:prstGeom>
                <a:noFill/>
                <a:ln>
                  <a:noFill/>
                </a:ln>
                <a:effectLst>
                  <a:outerShdw blurRad="76200" dist="19050" dir="5400000" algn="ctr" rotWithShape="0">
                    <a:srgbClr val="0B0F19">
                      <a:alpha val="37500"/>
                    </a:srgbClr>
                  </a:outerShdw>
                </a:effectLst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825" dirty="0">
                      <a:solidFill>
                        <a:srgbClr val="94A3B8"/>
                      </a:solidFill>
                      <a:latin typeface="Arial" panose="020B0604020202020204"/>
                      <a:ea typeface="微软雅黑" panose="020B0503020204020204" charset="-122"/>
                      <a:cs typeface="Arial" panose="020B0604020202020204"/>
                    </a:rPr>
                    <a:t>计算 Top 5 局部贡献</a:t>
                  </a:r>
                  <a:endParaRPr lang="zh-CN" sz="825" dirty="0">
                    <a:solidFill>
                      <a:srgbClr val="94A3B8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endParaRPr>
                </a:p>
              </p:txBody>
            </p:sp>
          </p:grpSp>
          <p:grpSp>
            <p:nvGrpSpPr>
              <p:cNvPr id="56" name="Group 56"/>
              <p:cNvGrpSpPr/>
              <p:nvPr/>
            </p:nvGrpSpPr>
            <p:grpSpPr>
              <a:xfrm>
                <a:off x="7334250" y="3429000"/>
                <a:ext cx="1714500" cy="762000"/>
                <a:chOff x="7334250" y="3429000"/>
                <a:chExt cx="1714500" cy="762000"/>
              </a:xfrm>
              <a:effectLst>
                <a:outerShdw blurRad="76200" dist="19050" dir="5400000" algn="ctr" rotWithShape="0">
                  <a:srgbClr val="0B0F19">
                    <a:alpha val="37500"/>
                  </a:srgbClr>
                </a:outerShdw>
              </a:effectLst>
            </p:grpSpPr>
            <p:sp>
              <p:nvSpPr>
                <p:cNvPr id="53" name="Rectangle 53"/>
                <p:cNvSpPr/>
                <p:nvPr/>
              </p:nvSpPr>
              <p:spPr>
                <a:xfrm>
                  <a:off x="7334250" y="3429000"/>
                  <a:ext cx="1714500" cy="762000"/>
                </a:xfrm>
                <a:prstGeom prst="roundRect">
                  <a:avLst>
                    <a:gd name="adj" fmla="val 10000"/>
                  </a:avLst>
                </a:prstGeom>
                <a:solidFill>
                  <a:srgbClr val="161F30"/>
                </a:solidFill>
                <a:ln w="14288">
                  <a:solidFill>
                    <a:srgbClr val="91CC75"/>
                  </a:solidFill>
                </a:ln>
                <a:effectLst>
                  <a:outerShdw blurRad="76200" dist="19050" dir="5400000" algn="ctr" rotWithShape="0">
                    <a:srgbClr val="0B0F19">
                      <a:alpha val="37500"/>
                    </a:srgbClr>
                  </a:outerShdw>
                </a:effectLst>
              </p:spPr>
            </p:sp>
            <p:sp>
              <p:nvSpPr>
                <p:cNvPr id="54" name="TextBox 54"/>
                <p:cNvSpPr txBox="1"/>
                <p:nvPr/>
              </p:nvSpPr>
              <p:spPr>
                <a:xfrm>
                  <a:off x="7659648" y="3669506"/>
                  <a:ext cx="1063704" cy="228600"/>
                </a:xfrm>
                <a:prstGeom prst="rect">
                  <a:avLst/>
                </a:prstGeom>
                <a:noFill/>
                <a:ln>
                  <a:noFill/>
                </a:ln>
                <a:effectLst>
                  <a:outerShdw blurRad="76200" dist="19050" dir="5400000" algn="ctr" rotWithShape="0">
                    <a:srgbClr val="0B0F19">
                      <a:alpha val="37500"/>
                    </a:srgbClr>
                  </a:outerShdw>
                </a:effectLst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125" b="1" dirty="0">
                      <a:solidFill>
                        <a:srgbClr val="F8FAFC"/>
                      </a:solidFill>
                      <a:latin typeface="Arial" panose="020B0604020202020204"/>
                      <a:ea typeface="微软雅黑" panose="020B0503020204020204" charset="-122"/>
                      <a:cs typeface="Arial" panose="020B0604020202020204"/>
                    </a:rPr>
                    <a:t>订单正常放行</a:t>
                  </a:r>
                  <a:endParaRPr lang="zh-CN" sz="1125" b="1" dirty="0">
                    <a:solidFill>
                      <a:srgbClr val="F8FAFC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endParaRPr>
                </a:p>
              </p:txBody>
            </p:sp>
            <p:sp>
              <p:nvSpPr>
                <p:cNvPr id="55" name="TextBox 55"/>
                <p:cNvSpPr txBox="1"/>
                <p:nvPr/>
              </p:nvSpPr>
              <p:spPr>
                <a:xfrm>
                  <a:off x="7638812" y="3892391"/>
                  <a:ext cx="1105376" cy="167640"/>
                </a:xfrm>
                <a:prstGeom prst="rect">
                  <a:avLst/>
                </a:prstGeom>
                <a:noFill/>
                <a:ln>
                  <a:noFill/>
                </a:ln>
                <a:effectLst>
                  <a:outerShdw blurRad="76200" dist="19050" dir="5400000" algn="ctr" rotWithShape="0">
                    <a:srgbClr val="0B0F19">
                      <a:alpha val="37500"/>
                    </a:srgbClr>
                  </a:outerShdw>
                </a:effectLst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825" dirty="0">
                      <a:solidFill>
                        <a:srgbClr val="91CC75"/>
                      </a:solidFill>
                      <a:latin typeface="Arial" panose="020B0604020202020204"/>
                      <a:ea typeface="微软雅黑" panose="020B0503020204020204" charset="-122"/>
                      <a:cs typeface="Arial" panose="020B0604020202020204"/>
                    </a:rPr>
                    <a:t>落库，更新 KPI 缓存</a:t>
                  </a:r>
                  <a:endParaRPr lang="zh-CN" sz="825" dirty="0">
                    <a:solidFill>
                      <a:srgbClr val="91CC75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endParaRPr>
                </a:p>
              </p:txBody>
            </p:sp>
          </p:grpSp>
          <p:grpSp>
            <p:nvGrpSpPr>
              <p:cNvPr id="60" name="Group 60"/>
              <p:cNvGrpSpPr/>
              <p:nvPr/>
            </p:nvGrpSpPr>
            <p:grpSpPr>
              <a:xfrm>
                <a:off x="4762500" y="4762500"/>
                <a:ext cx="5143500" cy="762000"/>
                <a:chOff x="4762500" y="4762500"/>
                <a:chExt cx="5143500" cy="762000"/>
              </a:xfrm>
              <a:effectLst>
                <a:outerShdw blurRad="76200" dist="19050" dir="5400000" algn="ctr" rotWithShape="0">
                  <a:srgbClr val="0B0F19">
                    <a:alpha val="37500"/>
                  </a:srgbClr>
                </a:outerShdw>
              </a:effectLst>
            </p:grpSpPr>
            <p:sp>
              <p:nvSpPr>
                <p:cNvPr id="57" name="Rectangle 57"/>
                <p:cNvSpPr/>
                <p:nvPr/>
              </p:nvSpPr>
              <p:spPr>
                <a:xfrm>
                  <a:off x="4762500" y="4762500"/>
                  <a:ext cx="5143500" cy="762000"/>
                </a:xfrm>
                <a:prstGeom prst="roundRect">
                  <a:avLst>
                    <a:gd name="adj" fmla="val 10000"/>
                  </a:avLst>
                </a:prstGeom>
                <a:solidFill>
                  <a:srgbClr val="161F30"/>
                </a:solidFill>
                <a:ln w="14288">
                  <a:solidFill>
                    <a:srgbClr val="4FACFE"/>
                  </a:solidFill>
                </a:ln>
                <a:effectLst>
                  <a:outerShdw blurRad="76200" dist="19050" dir="5400000" algn="ctr" rotWithShape="0">
                    <a:srgbClr val="0B0F19">
                      <a:alpha val="37500"/>
                    </a:srgbClr>
                  </a:outerShdw>
                </a:effectLst>
              </p:spPr>
            </p:sp>
            <p:sp>
              <p:nvSpPr>
                <p:cNvPr id="58" name="TextBox 58"/>
                <p:cNvSpPr txBox="1"/>
                <p:nvPr/>
              </p:nvSpPr>
              <p:spPr>
                <a:xfrm>
                  <a:off x="5216547" y="4994910"/>
                  <a:ext cx="4235406" cy="243840"/>
                </a:xfrm>
                <a:prstGeom prst="rect">
                  <a:avLst/>
                </a:prstGeom>
                <a:noFill/>
                <a:ln>
                  <a:noFill/>
                </a:ln>
                <a:effectLst>
                  <a:outerShdw blurRad="76200" dist="19050" dir="5400000" algn="ctr" rotWithShape="0">
                    <a:srgbClr val="0B0F19">
                      <a:alpha val="37500"/>
                    </a:srgbClr>
                  </a:outerShdw>
                </a:effectLst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200" b="1" dirty="0">
                      <a:solidFill>
                        <a:srgbClr val="F8FAFC"/>
                      </a:solidFill>
                      <a:latin typeface="Arial" panose="020B0604020202020204"/>
                      <a:ea typeface="微软雅黑" panose="020B0503020204020204" charset="-122"/>
                      <a:cs typeface="Arial" panose="020B0604020202020204"/>
                    </a:rPr>
                    <a:t>后端 MySQL 存储持久化 &amp; Redis Pub/Sub 通道广播</a:t>
                  </a:r>
                  <a:endParaRPr lang="zh-CN" sz="1200" b="1" dirty="0">
                    <a:solidFill>
                      <a:srgbClr val="F8FAFC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endParaRPr>
                </a:p>
              </p:txBody>
            </p:sp>
            <p:sp>
              <p:nvSpPr>
                <p:cNvPr id="59" name="TextBox 59"/>
                <p:cNvSpPr txBox="1"/>
                <p:nvPr/>
              </p:nvSpPr>
              <p:spPr>
                <a:xfrm>
                  <a:off x="5620607" y="5217795"/>
                  <a:ext cx="3427285" cy="182880"/>
                </a:xfrm>
                <a:prstGeom prst="rect">
                  <a:avLst/>
                </a:prstGeom>
                <a:noFill/>
                <a:ln>
                  <a:noFill/>
                </a:ln>
                <a:effectLst>
                  <a:outerShdw blurRad="76200" dist="19050" dir="5400000" algn="ctr" rotWithShape="0">
                    <a:srgbClr val="0B0F19">
                      <a:alpha val="37500"/>
                    </a:srgbClr>
                  </a:outerShdw>
                </a:effectLst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900" dirty="0">
                      <a:solidFill>
                        <a:srgbClr val="94A3B8"/>
                      </a:solidFill>
                      <a:latin typeface="Arial" panose="020B0604020202020204"/>
                      <a:ea typeface="微软雅黑" panose="020B0503020204020204" charset="-122"/>
                      <a:cs typeface="Arial" panose="020B0604020202020204"/>
                    </a:rPr>
                    <a:t>通过 WebSocket 实时长连接将数据 &amp; 告警推送到前端大屏</a:t>
                  </a:r>
                  <a:endParaRPr lang="zh-CN" sz="900" dirty="0">
                    <a:solidFill>
                      <a:srgbClr val="94A3B8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endParaRPr>
                </a:p>
              </p:txBody>
            </p:sp>
          </p:grpSp>
        </p:grpSp>
      </p:grpSp>
      <p:grpSp>
        <p:nvGrpSpPr>
          <p:cNvPr id="66" name="Group 66"/>
          <p:cNvGrpSpPr/>
          <p:nvPr/>
        </p:nvGrpSpPr>
        <p:grpSpPr>
          <a:xfrm>
            <a:off x="561975" y="6381750"/>
            <a:ext cx="11068050" cy="309562"/>
            <a:chOff x="561975" y="6381750"/>
            <a:chExt cx="11068050" cy="309562"/>
          </a:xfrm>
        </p:grpSpPr>
        <p:sp>
          <p:nvSpPr>
            <p:cNvPr id="63" name="Line 63"/>
            <p:cNvSpPr/>
            <p:nvPr/>
          </p:nvSpPr>
          <p:spPr>
            <a:xfrm>
              <a:off x="571500" y="638175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rgbClr val="1E293B"/>
              </a:solidFill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561975" y="6538912"/>
              <a:ext cx="3135392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50" dirty="0">
                  <a:solidFill>
                    <a:srgbClr val="94A3B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算法机制：离线阶段对齐独热特征，剔除利润防 Leakage 泄露。</a:t>
              </a:r>
              <a:endParaRPr lang="zh-CN" sz="750" dirty="0">
                <a:solidFill>
                  <a:srgbClr val="94A3B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9108043" y="6538912"/>
              <a:ext cx="2521982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750" dirty="0">
                  <a:solidFill>
                    <a:srgbClr val="94A3B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AI-Enabled Supply Chain Visualization Dashboard</a:t>
              </a:r>
              <a:endParaRPr lang="zh-CN" sz="750" dirty="0">
                <a:solidFill>
                  <a:srgbClr val="94A3B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1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11" dur="4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6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0B0F19"/>
            </a:solidFill>
            <a:ln>
              <a:noFill/>
            </a:ln>
          </p:spPr>
        </p:sp>
        <p:sp>
          <p:nvSpPr>
            <p:cNvPr id="3" name="Freeform 3"/>
            <p:cNvSpPr/>
            <p:nvPr/>
          </p:nvSpPr>
          <p:spPr>
            <a:xfrm>
              <a:off x="571500" y="85725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solidFill>
              <a:srgbClr val="000000"/>
            </a:solidFill>
            <a:ln w="14288">
              <a:solidFill>
                <a:srgbClr val="1E293B"/>
              </a:solidFill>
            </a:ln>
          </p:spPr>
        </p:sp>
      </p:grpSp>
      <p:grpSp>
        <p:nvGrpSpPr>
          <p:cNvPr id="7" name="Group 7"/>
          <p:cNvGrpSpPr/>
          <p:nvPr/>
        </p:nvGrpSpPr>
        <p:grpSpPr>
          <a:xfrm>
            <a:off x="560070" y="331470"/>
            <a:ext cx="11071860" cy="182880"/>
            <a:chOff x="560070" y="331470"/>
            <a:chExt cx="11071860" cy="182880"/>
          </a:xfrm>
        </p:grpSpPr>
        <p:sp>
          <p:nvSpPr>
            <p:cNvPr id="5" name="TextBox 5"/>
            <p:cNvSpPr txBox="1"/>
            <p:nvPr/>
          </p:nvSpPr>
          <p:spPr>
            <a:xfrm>
              <a:off x="560070" y="331470"/>
              <a:ext cx="1913696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94A3B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开发组织分工 · TEAM DIVISION</a:t>
              </a:r>
              <a:endParaRPr lang="zh-CN" sz="900" b="1" dirty="0">
                <a:solidFill>
                  <a:srgbClr val="94A3B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10912411" y="331470"/>
              <a:ext cx="71951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94A3B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Page 6 of 8</a:t>
              </a:r>
              <a:endParaRPr lang="zh-CN" sz="900" dirty="0">
                <a:solidFill>
                  <a:srgbClr val="94A3B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544830" y="963930"/>
            <a:ext cx="11075670" cy="874395"/>
            <a:chOff x="544830" y="963930"/>
            <a:chExt cx="11075670" cy="874395"/>
          </a:xfrm>
        </p:grpSpPr>
        <p:sp>
          <p:nvSpPr>
            <p:cNvPr id="8" name="TextBox 8"/>
            <p:cNvSpPr txBox="1"/>
            <p:nvPr/>
          </p:nvSpPr>
          <p:spPr>
            <a:xfrm>
              <a:off x="544830" y="963930"/>
              <a:ext cx="3595783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F8FAFC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团队任务分工与开发协同</a:t>
              </a:r>
              <a:endParaRPr lang="zh-CN" sz="2100" b="1" dirty="0">
                <a:solidFill>
                  <a:srgbClr val="F8FAFC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9" name="Rectangle 9"/>
            <p:cNvSpPr/>
            <p:nvPr/>
          </p:nvSpPr>
          <p:spPr>
            <a:xfrm>
              <a:off x="571500" y="1381125"/>
              <a:ext cx="11049000" cy="457200"/>
            </a:xfrm>
            <a:prstGeom prst="roundRect">
              <a:avLst>
                <a:gd name="adj" fmla="val 16667"/>
              </a:avLst>
            </a:prstGeom>
            <a:solidFill>
              <a:srgbClr val="161F30"/>
            </a:solidFill>
            <a:ln w="9525">
              <a:solidFill>
                <a:srgbClr val="1E293B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748665" y="1544002"/>
              <a:ext cx="818502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94A3B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团队四人分工明确，紧密围绕 </a:t>
              </a:r>
              <a:r>
                <a:rPr lang="zh-CN" sz="1050" b="1" dirty="0">
                  <a:solidFill>
                    <a:srgbClr val="4FACFE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数据中台</a:t>
              </a:r>
              <a:r>
                <a:rPr lang="zh-CN" sz="1050" dirty="0">
                  <a:solidFill>
                    <a:srgbClr val="94A3B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、</a:t>
              </a:r>
              <a:r>
                <a:rPr lang="zh-CN" sz="1050" b="1" dirty="0">
                  <a:solidFill>
                    <a:srgbClr val="91CC75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可视化大屏</a:t>
              </a:r>
              <a:r>
                <a:rPr lang="zh-CN" sz="1050" dirty="0">
                  <a:solidFill>
                    <a:srgbClr val="94A3B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、</a:t>
              </a:r>
              <a:r>
                <a:rPr lang="zh-CN" sz="1050" b="1" dirty="0">
                  <a:solidFill>
                    <a:srgbClr val="A855F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模型微服务</a:t>
              </a:r>
              <a:r>
                <a:rPr lang="zh-CN" sz="1050" dirty="0">
                  <a:solidFill>
                    <a:srgbClr val="94A3B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 和 </a:t>
              </a:r>
              <a:r>
                <a:rPr lang="zh-CN" sz="1050" b="1" dirty="0">
                  <a:solidFill>
                    <a:srgbClr val="FB923C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质量工程</a:t>
              </a:r>
              <a:r>
                <a:rPr lang="zh-CN" sz="1050" dirty="0">
                  <a:solidFill>
                    <a:srgbClr val="94A3B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 四大核心支柱展开开发，实现高效交付。</a:t>
              </a:r>
              <a:endParaRPr lang="zh-CN" sz="1050" dirty="0">
                <a:solidFill>
                  <a:srgbClr val="94A3B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72" name="Group 72"/>
          <p:cNvGrpSpPr/>
          <p:nvPr/>
        </p:nvGrpSpPr>
        <p:grpSpPr>
          <a:xfrm>
            <a:off x="619125" y="2000250"/>
            <a:ext cx="10858500" cy="4048125"/>
            <a:chOff x="619125" y="2000250"/>
            <a:chExt cx="10858500" cy="4048125"/>
          </a:xfrm>
        </p:grpSpPr>
        <p:grpSp>
          <p:nvGrpSpPr>
            <p:cNvPr id="26" name="Group 26"/>
            <p:cNvGrpSpPr/>
            <p:nvPr/>
          </p:nvGrpSpPr>
          <p:grpSpPr>
            <a:xfrm>
              <a:off x="619125" y="2000250"/>
              <a:ext cx="2588538" cy="4048125"/>
              <a:chOff x="619125" y="2000250"/>
              <a:chExt cx="2588538" cy="4048125"/>
            </a:xfrm>
          </p:grpSpPr>
          <p:sp>
            <p:nvSpPr>
              <p:cNvPr id="12" name="Rectangle 12"/>
              <p:cNvSpPr/>
              <p:nvPr/>
            </p:nvSpPr>
            <p:spPr>
              <a:xfrm>
                <a:off x="619125" y="2000250"/>
                <a:ext cx="2571750" cy="4048125"/>
              </a:xfrm>
              <a:prstGeom prst="roundRect">
                <a:avLst>
                  <a:gd name="adj" fmla="val 4444"/>
                </a:avLst>
              </a:prstGeom>
              <a:solidFill>
                <a:srgbClr val="161F30"/>
              </a:solidFill>
              <a:ln w="14288">
                <a:solidFill>
                  <a:srgbClr val="1E293B"/>
                </a:solidFill>
              </a:ln>
              <a:effectLst>
                <a:outerShdw blurRad="76200" dist="19050" dir="5400000" algn="ctr" rotWithShape="0">
                  <a:srgbClr val="0B0F19">
                    <a:alpha val="45000"/>
                  </a:srgbClr>
                </a:outerShdw>
              </a:effectLst>
            </p:spPr>
          </p:sp>
          <p:sp>
            <p:nvSpPr>
              <p:cNvPr id="13" name="Rectangle 13"/>
              <p:cNvSpPr/>
              <p:nvPr/>
            </p:nvSpPr>
            <p:spPr>
              <a:xfrm>
                <a:off x="619125" y="2000250"/>
                <a:ext cx="2571750" cy="57150"/>
              </a:xfrm>
              <a:prstGeom prst="roundRect">
                <a:avLst>
                  <a:gd name="adj" fmla="val 50000"/>
                </a:avLst>
              </a:prstGeom>
              <a:solidFill>
                <a:srgbClr val="4FACFE"/>
              </a:solidFill>
              <a:ln>
                <a:noFill/>
              </a:ln>
            </p:spPr>
          </p:sp>
          <p:grpSp>
            <p:nvGrpSpPr>
              <p:cNvPr id="18" name="Group 18"/>
              <p:cNvGrpSpPr/>
              <p:nvPr/>
            </p:nvGrpSpPr>
            <p:grpSpPr>
              <a:xfrm>
                <a:off x="1238250" y="2286000"/>
                <a:ext cx="1333500" cy="1514475"/>
                <a:chOff x="1238250" y="2286000"/>
                <a:chExt cx="1333500" cy="1514475"/>
              </a:xfrm>
            </p:grpSpPr>
            <p:sp>
              <p:nvSpPr>
                <p:cNvPr id="14" name="Ellipse 14"/>
                <p:cNvSpPr/>
                <p:nvPr/>
              </p:nvSpPr>
              <p:spPr>
                <a:xfrm>
                  <a:off x="1333500" y="3724275"/>
                  <a:ext cx="1143000" cy="76200"/>
                </a:xfrm>
                <a:prstGeom prst="ellipse">
                  <a:avLst/>
                </a:prstGeom>
                <a:solidFill>
                  <a:srgbClr val="000000">
                    <a:alpha val="30000"/>
                  </a:srgbClr>
                </a:solidFill>
                <a:ln>
                  <a:noFill/>
                </a:ln>
              </p:spPr>
            </p:sp>
            <p:sp>
              <p:nvSpPr>
                <p:cNvPr id="15" name="Ellipse 15"/>
                <p:cNvSpPr/>
                <p:nvPr/>
              </p:nvSpPr>
              <p:spPr>
                <a:xfrm>
                  <a:off x="1238250" y="2286000"/>
                  <a:ext cx="1333500" cy="1333500"/>
                </a:xfrm>
                <a:prstGeom prst="ellipse">
                  <a:avLst/>
                </a:prstGeom>
                <a:solidFill>
                  <a:srgbClr val="0B0F19"/>
                </a:solidFill>
                <a:ln w="9525">
                  <a:solidFill>
                    <a:srgbClr val="1E293B"/>
                  </a:solidFill>
                </a:ln>
              </p:spPr>
            </p:sp>
            <p:sp>
              <p:nvSpPr>
                <p:cNvPr id="16" name="Ellipse 16"/>
                <p:cNvSpPr/>
                <p:nvPr/>
              </p:nvSpPr>
              <p:spPr>
                <a:xfrm>
                  <a:off x="1676400" y="2609850"/>
                  <a:ext cx="457200" cy="457200"/>
                </a:xfrm>
                <a:prstGeom prst="ellipse">
                  <a:avLst/>
                </a:prstGeom>
                <a:solidFill>
                  <a:srgbClr val="4FACFE">
                    <a:alpha val="80000"/>
                  </a:srgbClr>
                </a:solidFill>
                <a:ln>
                  <a:noFill/>
                </a:ln>
              </p:spPr>
            </p:sp>
            <p:sp>
              <p:nvSpPr>
                <p:cNvPr id="17" name="Freeform 17"/>
                <p:cNvSpPr/>
                <p:nvPr/>
              </p:nvSpPr>
              <p:spPr>
                <a:xfrm>
                  <a:off x="1447800" y="3159125"/>
                  <a:ext cx="914400" cy="317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14400" h="317500">
                      <a:moveTo>
                        <a:pt x="0" y="317500"/>
                      </a:moveTo>
                      <a:cubicBezTo>
                        <a:pt x="304800" y="0"/>
                        <a:pt x="609600" y="0"/>
                        <a:pt x="914400" y="317500"/>
                      </a:cubicBezTo>
                    </a:path>
                  </a:pathLst>
                </a:custGeom>
                <a:noFill/>
                <a:ln w="285750" cap="rnd">
                  <a:solidFill>
                    <a:srgbClr val="4FACFE">
                      <a:alpha val="80000"/>
                    </a:srgbClr>
                  </a:solidFill>
                </a:ln>
              </p:spPr>
            </p:sp>
          </p:grpSp>
          <p:sp>
            <p:nvSpPr>
              <p:cNvPr id="19" name="TextBox 19"/>
              <p:cNvSpPr txBox="1"/>
              <p:nvPr/>
            </p:nvSpPr>
            <p:spPr>
              <a:xfrm>
                <a:off x="1619250" y="3933825"/>
                <a:ext cx="571500" cy="23050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b="1" dirty="0">
                    <a:solidFill>
                      <a:srgbClr val="F8FAFC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  <a:sym typeface="+mn-ea"/>
                  </a:rPr>
                  <a:t>虞诗颢</a:t>
                </a:r>
                <a:endParaRPr lang="zh-CN" sz="1500" b="1" dirty="0">
                  <a:solidFill>
                    <a:srgbClr val="F8FAFC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1369302" y="4257199"/>
                <a:ext cx="1071396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75" b="1" dirty="0">
                    <a:solidFill>
                      <a:srgbClr val="4FACFE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后端与数据中台</a:t>
                </a:r>
                <a:endParaRPr lang="zh-CN" sz="975" b="1" dirty="0">
                  <a:solidFill>
                    <a:srgbClr val="4FACFE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21" name="Line 21"/>
              <p:cNvSpPr/>
              <p:nvPr/>
            </p:nvSpPr>
            <p:spPr>
              <a:xfrm>
                <a:off x="1000125" y="4524375"/>
                <a:ext cx="18097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809750" h="9525">
                    <a:moveTo>
                      <a:pt x="0" y="0"/>
                    </a:moveTo>
                    <a:lnTo>
                      <a:pt x="1809750" y="0"/>
                    </a:lnTo>
                  </a:path>
                </a:pathLst>
              </a:custGeom>
              <a:noFill/>
              <a:ln w="9525">
                <a:solidFill>
                  <a:srgbClr val="1E293B"/>
                </a:solidFill>
              </a:ln>
            </p:spPr>
          </p:sp>
          <p:sp>
            <p:nvSpPr>
              <p:cNvPr id="22" name="TextBox 22"/>
              <p:cNvSpPr txBox="1"/>
              <p:nvPr/>
            </p:nvSpPr>
            <p:spPr>
              <a:xfrm>
                <a:off x="940118" y="4704874"/>
                <a:ext cx="2267545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94A3B8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· 负责 Docker 容器基建与网络配置</a:t>
                </a:r>
                <a:endParaRPr lang="zh-CN" sz="975" dirty="0">
                  <a:solidFill>
                    <a:srgbClr val="94A3B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940118" y="4933474"/>
                <a:ext cx="2267545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94A3B8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· FastAPI 后端主 API 接口模块编写</a:t>
                </a:r>
                <a:endParaRPr lang="zh-CN" sz="975" dirty="0">
                  <a:solidFill>
                    <a:srgbClr val="94A3B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940118" y="5162074"/>
                <a:ext cx="2061067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94A3B8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· WebSocket 双向广播订阅管理</a:t>
                </a:r>
                <a:endParaRPr lang="zh-CN" sz="975" dirty="0">
                  <a:solidFill>
                    <a:srgbClr val="94A3B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940118" y="5390674"/>
                <a:ext cx="2139386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94A3B8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· 微服务调度、路由与安全中间件</a:t>
                </a:r>
                <a:endParaRPr lang="zh-CN" sz="975" dirty="0">
                  <a:solidFill>
                    <a:srgbClr val="94A3B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  <p:grpSp>
          <p:nvGrpSpPr>
            <p:cNvPr id="41" name="Group 41"/>
            <p:cNvGrpSpPr/>
            <p:nvPr/>
          </p:nvGrpSpPr>
          <p:grpSpPr>
            <a:xfrm>
              <a:off x="3381375" y="2000250"/>
              <a:ext cx="2780777" cy="4048125"/>
              <a:chOff x="3381375" y="2000250"/>
              <a:chExt cx="2780777" cy="4048125"/>
            </a:xfrm>
          </p:grpSpPr>
          <p:sp>
            <p:nvSpPr>
              <p:cNvPr id="27" name="Rectangle 27"/>
              <p:cNvSpPr/>
              <p:nvPr/>
            </p:nvSpPr>
            <p:spPr>
              <a:xfrm>
                <a:off x="3381375" y="2000250"/>
                <a:ext cx="2571750" cy="4048125"/>
              </a:xfrm>
              <a:prstGeom prst="roundRect">
                <a:avLst>
                  <a:gd name="adj" fmla="val 4444"/>
                </a:avLst>
              </a:prstGeom>
              <a:solidFill>
                <a:srgbClr val="161F30"/>
              </a:solidFill>
              <a:ln w="14288">
                <a:solidFill>
                  <a:srgbClr val="1E293B"/>
                </a:solidFill>
              </a:ln>
              <a:effectLst>
                <a:outerShdw blurRad="76200" dist="19050" dir="5400000" algn="ctr" rotWithShape="0">
                  <a:srgbClr val="0B0F19">
                    <a:alpha val="45000"/>
                  </a:srgbClr>
                </a:outerShdw>
              </a:effectLst>
            </p:spPr>
          </p:sp>
          <p:sp>
            <p:nvSpPr>
              <p:cNvPr id="28" name="Rectangle 28"/>
              <p:cNvSpPr/>
              <p:nvPr/>
            </p:nvSpPr>
            <p:spPr>
              <a:xfrm>
                <a:off x="3381375" y="2000250"/>
                <a:ext cx="2571750" cy="57150"/>
              </a:xfrm>
              <a:prstGeom prst="roundRect">
                <a:avLst>
                  <a:gd name="adj" fmla="val 50000"/>
                </a:avLst>
              </a:prstGeom>
              <a:solidFill>
                <a:srgbClr val="A855F7"/>
              </a:solidFill>
              <a:ln>
                <a:noFill/>
              </a:ln>
            </p:spPr>
          </p:sp>
          <p:grpSp>
            <p:nvGrpSpPr>
              <p:cNvPr id="33" name="Group 33"/>
              <p:cNvGrpSpPr/>
              <p:nvPr/>
            </p:nvGrpSpPr>
            <p:grpSpPr>
              <a:xfrm>
                <a:off x="4000500" y="2286000"/>
                <a:ext cx="1333500" cy="1514475"/>
                <a:chOff x="4000500" y="2286000"/>
                <a:chExt cx="1333500" cy="1514475"/>
              </a:xfrm>
            </p:grpSpPr>
            <p:sp>
              <p:nvSpPr>
                <p:cNvPr id="29" name="Ellipse 29"/>
                <p:cNvSpPr/>
                <p:nvPr/>
              </p:nvSpPr>
              <p:spPr>
                <a:xfrm>
                  <a:off x="4095750" y="3724275"/>
                  <a:ext cx="1143000" cy="76200"/>
                </a:xfrm>
                <a:prstGeom prst="ellipse">
                  <a:avLst/>
                </a:prstGeom>
                <a:solidFill>
                  <a:srgbClr val="000000">
                    <a:alpha val="30000"/>
                  </a:srgbClr>
                </a:solidFill>
                <a:ln>
                  <a:noFill/>
                </a:ln>
              </p:spPr>
            </p:sp>
            <p:sp>
              <p:nvSpPr>
                <p:cNvPr id="30" name="Ellipse 30"/>
                <p:cNvSpPr/>
                <p:nvPr/>
              </p:nvSpPr>
              <p:spPr>
                <a:xfrm>
                  <a:off x="4000500" y="2286000"/>
                  <a:ext cx="1333500" cy="1333500"/>
                </a:xfrm>
                <a:prstGeom prst="ellipse">
                  <a:avLst/>
                </a:prstGeom>
                <a:solidFill>
                  <a:srgbClr val="0B0F19"/>
                </a:solidFill>
                <a:ln w="9525">
                  <a:solidFill>
                    <a:srgbClr val="1E293B"/>
                  </a:solidFill>
                </a:ln>
              </p:spPr>
            </p:sp>
            <p:sp>
              <p:nvSpPr>
                <p:cNvPr id="31" name="Ellipse 31"/>
                <p:cNvSpPr/>
                <p:nvPr/>
              </p:nvSpPr>
              <p:spPr>
                <a:xfrm>
                  <a:off x="4438650" y="2609850"/>
                  <a:ext cx="457200" cy="457200"/>
                </a:xfrm>
                <a:prstGeom prst="ellipse">
                  <a:avLst/>
                </a:prstGeom>
                <a:solidFill>
                  <a:srgbClr val="A855F7">
                    <a:alpha val="80000"/>
                  </a:srgbClr>
                </a:solidFill>
                <a:ln>
                  <a:noFill/>
                </a:ln>
              </p:spPr>
            </p:sp>
            <p:sp>
              <p:nvSpPr>
                <p:cNvPr id="32" name="Freeform 32"/>
                <p:cNvSpPr/>
                <p:nvPr/>
              </p:nvSpPr>
              <p:spPr>
                <a:xfrm>
                  <a:off x="4210050" y="3159125"/>
                  <a:ext cx="914400" cy="317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14400" h="317500">
                      <a:moveTo>
                        <a:pt x="0" y="317500"/>
                      </a:moveTo>
                      <a:cubicBezTo>
                        <a:pt x="304800" y="0"/>
                        <a:pt x="609600" y="0"/>
                        <a:pt x="914400" y="317500"/>
                      </a:cubicBezTo>
                    </a:path>
                  </a:pathLst>
                </a:custGeom>
                <a:noFill/>
                <a:ln w="285750" cap="rnd">
                  <a:solidFill>
                    <a:srgbClr val="A855F7">
                      <a:alpha val="80000"/>
                    </a:srgbClr>
                  </a:solidFill>
                </a:ln>
              </p:spPr>
            </p:sp>
          </p:grpSp>
          <p:sp>
            <p:nvSpPr>
              <p:cNvPr id="34" name="TextBox 34"/>
              <p:cNvSpPr txBox="1"/>
              <p:nvPr/>
            </p:nvSpPr>
            <p:spPr>
              <a:xfrm>
                <a:off x="4381500" y="3933825"/>
                <a:ext cx="571500" cy="46164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b="1" dirty="0">
                    <a:solidFill>
                      <a:srgbClr val="F8FAFC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  <a:sym typeface="+mn-ea"/>
                  </a:rPr>
                  <a:t>蔡子濠</a:t>
                </a:r>
                <a:endParaRPr lang="zh-CN" sz="1500" b="1" dirty="0">
                  <a:solidFill>
                    <a:srgbClr val="F8FAFC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  <a:p>
                <a:pPr algn="ctr"/>
                <a:endParaRPr lang="zh-CN" sz="1500" b="1" dirty="0">
                  <a:solidFill>
                    <a:srgbClr val="F8FAFC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4131552" y="4257199"/>
                <a:ext cx="1071396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75" b="1" dirty="0">
                    <a:solidFill>
                      <a:srgbClr val="A855F7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前端大屏可视化</a:t>
                </a:r>
                <a:endParaRPr lang="zh-CN" sz="975" b="1" dirty="0">
                  <a:solidFill>
                    <a:srgbClr val="A855F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36" name="Line 36"/>
              <p:cNvSpPr/>
              <p:nvPr/>
            </p:nvSpPr>
            <p:spPr>
              <a:xfrm>
                <a:off x="3762375" y="4524375"/>
                <a:ext cx="18097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809750" h="9525">
                    <a:moveTo>
                      <a:pt x="0" y="0"/>
                    </a:moveTo>
                    <a:lnTo>
                      <a:pt x="1809750" y="0"/>
                    </a:lnTo>
                  </a:path>
                </a:pathLst>
              </a:custGeom>
              <a:noFill/>
              <a:ln w="9525">
                <a:solidFill>
                  <a:srgbClr val="1E293B"/>
                </a:solidFill>
              </a:ln>
            </p:spPr>
          </p:sp>
          <p:sp>
            <p:nvSpPr>
              <p:cNvPr id="37" name="TextBox 37"/>
              <p:cNvSpPr txBox="1"/>
              <p:nvPr/>
            </p:nvSpPr>
            <p:spPr>
              <a:xfrm>
                <a:off x="3702368" y="4704874"/>
                <a:ext cx="2110907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94A3B8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· Vue 3 核心可视化框架搭建部署</a:t>
                </a:r>
                <a:endParaRPr lang="zh-CN" sz="975" dirty="0">
                  <a:solidFill>
                    <a:srgbClr val="94A3B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38" name="TextBox 38"/>
              <p:cNvSpPr txBox="1"/>
              <p:nvPr/>
            </p:nvSpPr>
            <p:spPr>
              <a:xfrm>
                <a:off x="3702368" y="4933474"/>
                <a:ext cx="2459784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94A3B8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· ECharts 地图/折线/饼图自适应开发</a:t>
                </a:r>
                <a:endParaRPr lang="zh-CN" sz="975" dirty="0">
                  <a:solidFill>
                    <a:srgbClr val="94A3B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39" name="TextBox 39"/>
              <p:cNvSpPr txBox="1"/>
              <p:nvPr/>
            </p:nvSpPr>
            <p:spPr>
              <a:xfrm>
                <a:off x="3702368" y="5162074"/>
                <a:ext cx="2139386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94A3B8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· 长连接数据缓冲与告警列表高亮</a:t>
                </a:r>
                <a:endParaRPr lang="zh-CN" sz="975" dirty="0">
                  <a:solidFill>
                    <a:srgbClr val="94A3B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40" name="TextBox 40"/>
              <p:cNvSpPr txBox="1"/>
              <p:nvPr/>
            </p:nvSpPr>
            <p:spPr>
              <a:xfrm>
                <a:off x="3702368" y="5390674"/>
                <a:ext cx="2139386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94A3B8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· 挂机运行内存泄露及防溢出优化</a:t>
                </a:r>
                <a:endParaRPr lang="zh-CN" sz="975" dirty="0">
                  <a:solidFill>
                    <a:srgbClr val="94A3B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  <p:grpSp>
          <p:nvGrpSpPr>
            <p:cNvPr id="56" name="Group 56"/>
            <p:cNvGrpSpPr/>
            <p:nvPr/>
          </p:nvGrpSpPr>
          <p:grpSpPr>
            <a:xfrm>
              <a:off x="6143625" y="2000250"/>
              <a:ext cx="2571750" cy="4048125"/>
              <a:chOff x="6143625" y="2000250"/>
              <a:chExt cx="2571750" cy="4048125"/>
            </a:xfrm>
          </p:grpSpPr>
          <p:sp>
            <p:nvSpPr>
              <p:cNvPr id="42" name="Rectangle 42"/>
              <p:cNvSpPr/>
              <p:nvPr/>
            </p:nvSpPr>
            <p:spPr>
              <a:xfrm>
                <a:off x="6143625" y="2000250"/>
                <a:ext cx="2571750" cy="4048125"/>
              </a:xfrm>
              <a:prstGeom prst="roundRect">
                <a:avLst>
                  <a:gd name="adj" fmla="val 4444"/>
                </a:avLst>
              </a:prstGeom>
              <a:solidFill>
                <a:srgbClr val="161F30"/>
              </a:solidFill>
              <a:ln w="14288">
                <a:solidFill>
                  <a:srgbClr val="1E293B"/>
                </a:solidFill>
              </a:ln>
              <a:effectLst>
                <a:outerShdw blurRad="76200" dist="19050" dir="5400000" algn="ctr" rotWithShape="0">
                  <a:srgbClr val="0B0F19">
                    <a:alpha val="45000"/>
                  </a:srgbClr>
                </a:outerShdw>
              </a:effectLst>
            </p:spPr>
          </p:sp>
          <p:sp>
            <p:nvSpPr>
              <p:cNvPr id="43" name="Rectangle 43"/>
              <p:cNvSpPr/>
              <p:nvPr/>
            </p:nvSpPr>
            <p:spPr>
              <a:xfrm>
                <a:off x="6143625" y="2000250"/>
                <a:ext cx="2571750" cy="57150"/>
              </a:xfrm>
              <a:prstGeom prst="roundRect">
                <a:avLst>
                  <a:gd name="adj" fmla="val 50000"/>
                </a:avLst>
              </a:prstGeom>
              <a:solidFill>
                <a:srgbClr val="91CC75"/>
              </a:solidFill>
              <a:ln>
                <a:noFill/>
              </a:ln>
            </p:spPr>
          </p:sp>
          <p:grpSp>
            <p:nvGrpSpPr>
              <p:cNvPr id="48" name="Group 48"/>
              <p:cNvGrpSpPr/>
              <p:nvPr/>
            </p:nvGrpSpPr>
            <p:grpSpPr>
              <a:xfrm>
                <a:off x="6762750" y="2286000"/>
                <a:ext cx="1333500" cy="1514475"/>
                <a:chOff x="6762750" y="2286000"/>
                <a:chExt cx="1333500" cy="1514475"/>
              </a:xfrm>
            </p:grpSpPr>
            <p:sp>
              <p:nvSpPr>
                <p:cNvPr id="44" name="Ellipse 44"/>
                <p:cNvSpPr/>
                <p:nvPr/>
              </p:nvSpPr>
              <p:spPr>
                <a:xfrm>
                  <a:off x="6858000" y="3724275"/>
                  <a:ext cx="1143000" cy="76200"/>
                </a:xfrm>
                <a:prstGeom prst="ellipse">
                  <a:avLst/>
                </a:prstGeom>
                <a:solidFill>
                  <a:srgbClr val="000000">
                    <a:alpha val="30000"/>
                  </a:srgbClr>
                </a:solidFill>
                <a:ln>
                  <a:noFill/>
                </a:ln>
              </p:spPr>
            </p:sp>
            <p:sp>
              <p:nvSpPr>
                <p:cNvPr id="45" name="Ellipse 45"/>
                <p:cNvSpPr/>
                <p:nvPr/>
              </p:nvSpPr>
              <p:spPr>
                <a:xfrm>
                  <a:off x="6762750" y="2286000"/>
                  <a:ext cx="1333500" cy="1333500"/>
                </a:xfrm>
                <a:prstGeom prst="ellipse">
                  <a:avLst/>
                </a:prstGeom>
                <a:solidFill>
                  <a:srgbClr val="0B0F19"/>
                </a:solidFill>
                <a:ln w="9525">
                  <a:solidFill>
                    <a:srgbClr val="1E293B"/>
                  </a:solidFill>
                </a:ln>
              </p:spPr>
            </p:sp>
            <p:sp>
              <p:nvSpPr>
                <p:cNvPr id="46" name="Ellipse 46"/>
                <p:cNvSpPr/>
                <p:nvPr/>
              </p:nvSpPr>
              <p:spPr>
                <a:xfrm>
                  <a:off x="7200900" y="2609850"/>
                  <a:ext cx="457200" cy="457200"/>
                </a:xfrm>
                <a:prstGeom prst="ellipse">
                  <a:avLst/>
                </a:prstGeom>
                <a:solidFill>
                  <a:srgbClr val="91CC75">
                    <a:alpha val="80000"/>
                  </a:srgbClr>
                </a:solidFill>
                <a:ln>
                  <a:noFill/>
                </a:ln>
              </p:spPr>
            </p:sp>
            <p:sp>
              <p:nvSpPr>
                <p:cNvPr id="47" name="Freeform 47"/>
                <p:cNvSpPr/>
                <p:nvPr/>
              </p:nvSpPr>
              <p:spPr>
                <a:xfrm>
                  <a:off x="6972300" y="3159125"/>
                  <a:ext cx="914400" cy="317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14400" h="317500">
                      <a:moveTo>
                        <a:pt x="0" y="317500"/>
                      </a:moveTo>
                      <a:cubicBezTo>
                        <a:pt x="304800" y="0"/>
                        <a:pt x="609600" y="0"/>
                        <a:pt x="914400" y="317500"/>
                      </a:cubicBezTo>
                    </a:path>
                  </a:pathLst>
                </a:custGeom>
                <a:noFill/>
                <a:ln w="285750" cap="rnd">
                  <a:solidFill>
                    <a:srgbClr val="91CC75">
                      <a:alpha val="80000"/>
                    </a:srgbClr>
                  </a:solidFill>
                </a:ln>
              </p:spPr>
            </p:sp>
          </p:grpSp>
          <p:sp>
            <p:nvSpPr>
              <p:cNvPr id="49" name="TextBox 49"/>
              <p:cNvSpPr txBox="1"/>
              <p:nvPr/>
            </p:nvSpPr>
            <p:spPr>
              <a:xfrm>
                <a:off x="7143750" y="3933825"/>
                <a:ext cx="571500" cy="23050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b="1" dirty="0">
                    <a:solidFill>
                      <a:srgbClr val="F8FAFC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  <a:sym typeface="+mn-ea"/>
                  </a:rPr>
                  <a:t>闫若彤</a:t>
                </a:r>
                <a:endParaRPr lang="zh-CN" sz="1500" b="1" dirty="0">
                  <a:solidFill>
                    <a:srgbClr val="F8FAFC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50" name="TextBox 50"/>
              <p:cNvSpPr txBox="1"/>
              <p:nvPr/>
            </p:nvSpPr>
            <p:spPr>
              <a:xfrm>
                <a:off x="6848946" y="4257199"/>
                <a:ext cx="1161107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75" b="1" dirty="0">
                    <a:solidFill>
                      <a:srgbClr val="91CC75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AI 算法与 MLOps</a:t>
                </a:r>
                <a:endParaRPr lang="zh-CN" sz="975" b="1" dirty="0">
                  <a:solidFill>
                    <a:srgbClr val="91CC75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51" name="Line 51"/>
              <p:cNvSpPr/>
              <p:nvPr/>
            </p:nvSpPr>
            <p:spPr>
              <a:xfrm>
                <a:off x="6524625" y="4524375"/>
                <a:ext cx="18097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809750" h="9525">
                    <a:moveTo>
                      <a:pt x="0" y="0"/>
                    </a:moveTo>
                    <a:lnTo>
                      <a:pt x="1809750" y="0"/>
                    </a:lnTo>
                  </a:path>
                </a:pathLst>
              </a:custGeom>
              <a:noFill/>
              <a:ln w="9525">
                <a:solidFill>
                  <a:srgbClr val="1E293B"/>
                </a:solidFill>
              </a:ln>
            </p:spPr>
          </p:sp>
          <p:sp>
            <p:nvSpPr>
              <p:cNvPr id="52" name="TextBox 52"/>
              <p:cNvSpPr txBox="1"/>
              <p:nvPr/>
            </p:nvSpPr>
            <p:spPr>
              <a:xfrm>
                <a:off x="6464618" y="4704874"/>
                <a:ext cx="2046827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94A3B8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· Kaggle 数据预处理与特征对齐</a:t>
                </a:r>
                <a:endParaRPr lang="zh-CN" sz="975" dirty="0">
                  <a:solidFill>
                    <a:srgbClr val="94A3B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53" name="TextBox 53"/>
              <p:cNvSpPr txBox="1"/>
              <p:nvPr/>
            </p:nvSpPr>
            <p:spPr>
              <a:xfrm>
                <a:off x="6464618" y="4933474"/>
                <a:ext cx="2217706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94A3B8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· 离线双模欺诈/延迟分类模型训练</a:t>
                </a:r>
                <a:endParaRPr lang="zh-CN" sz="975" dirty="0">
                  <a:solidFill>
                    <a:srgbClr val="94A3B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54" name="TextBox 54"/>
              <p:cNvSpPr txBox="1"/>
              <p:nvPr/>
            </p:nvSpPr>
            <p:spPr>
              <a:xfrm>
                <a:off x="6464618" y="5162074"/>
                <a:ext cx="1918668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94A3B8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· 包装 AI 推理常驻内存微服务</a:t>
                </a:r>
                <a:endParaRPr lang="zh-CN" sz="975" dirty="0">
                  <a:solidFill>
                    <a:srgbClr val="94A3B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55" name="TextBox 55"/>
              <p:cNvSpPr txBox="1"/>
              <p:nvPr/>
            </p:nvSpPr>
            <p:spPr>
              <a:xfrm>
                <a:off x="6464618" y="5390674"/>
                <a:ext cx="2139386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94A3B8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· 特征重要性提取及 XAI 解析模块</a:t>
                </a:r>
                <a:endParaRPr lang="zh-CN" sz="975" dirty="0">
                  <a:solidFill>
                    <a:srgbClr val="94A3B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  <p:grpSp>
          <p:nvGrpSpPr>
            <p:cNvPr id="71" name="Group 71"/>
            <p:cNvGrpSpPr/>
            <p:nvPr/>
          </p:nvGrpSpPr>
          <p:grpSpPr>
            <a:xfrm>
              <a:off x="8905875" y="2000250"/>
              <a:ext cx="2571750" cy="4048125"/>
              <a:chOff x="8905875" y="2000250"/>
              <a:chExt cx="2571750" cy="4048125"/>
            </a:xfrm>
          </p:grpSpPr>
          <p:sp>
            <p:nvSpPr>
              <p:cNvPr id="57" name="Rectangle 57"/>
              <p:cNvSpPr/>
              <p:nvPr/>
            </p:nvSpPr>
            <p:spPr>
              <a:xfrm>
                <a:off x="8905875" y="2000250"/>
                <a:ext cx="2571750" cy="4048125"/>
              </a:xfrm>
              <a:prstGeom prst="roundRect">
                <a:avLst>
                  <a:gd name="adj" fmla="val 4444"/>
                </a:avLst>
              </a:prstGeom>
              <a:solidFill>
                <a:srgbClr val="161F30"/>
              </a:solidFill>
              <a:ln w="14288">
                <a:solidFill>
                  <a:srgbClr val="1E293B"/>
                </a:solidFill>
              </a:ln>
              <a:effectLst>
                <a:outerShdw blurRad="76200" dist="19050" dir="5400000" algn="ctr" rotWithShape="0">
                  <a:srgbClr val="0B0F19">
                    <a:alpha val="45000"/>
                  </a:srgbClr>
                </a:outerShdw>
              </a:effectLst>
            </p:spPr>
          </p:sp>
          <p:sp>
            <p:nvSpPr>
              <p:cNvPr id="58" name="Rectangle 58"/>
              <p:cNvSpPr/>
              <p:nvPr/>
            </p:nvSpPr>
            <p:spPr>
              <a:xfrm>
                <a:off x="8905875" y="2000250"/>
                <a:ext cx="2571750" cy="57150"/>
              </a:xfrm>
              <a:prstGeom prst="roundRect">
                <a:avLst>
                  <a:gd name="adj" fmla="val 50000"/>
                </a:avLst>
              </a:prstGeom>
              <a:solidFill>
                <a:srgbClr val="FB923C"/>
              </a:solidFill>
              <a:ln>
                <a:noFill/>
              </a:ln>
            </p:spPr>
          </p:sp>
          <p:grpSp>
            <p:nvGrpSpPr>
              <p:cNvPr id="63" name="Group 63"/>
              <p:cNvGrpSpPr/>
              <p:nvPr/>
            </p:nvGrpSpPr>
            <p:grpSpPr>
              <a:xfrm>
                <a:off x="9525000" y="2286000"/>
                <a:ext cx="1333500" cy="1514475"/>
                <a:chOff x="9525000" y="2286000"/>
                <a:chExt cx="1333500" cy="1514475"/>
              </a:xfrm>
            </p:grpSpPr>
            <p:sp>
              <p:nvSpPr>
                <p:cNvPr id="59" name="Ellipse 59"/>
                <p:cNvSpPr/>
                <p:nvPr/>
              </p:nvSpPr>
              <p:spPr>
                <a:xfrm>
                  <a:off x="9620250" y="3724275"/>
                  <a:ext cx="1143000" cy="76200"/>
                </a:xfrm>
                <a:prstGeom prst="ellipse">
                  <a:avLst/>
                </a:prstGeom>
                <a:solidFill>
                  <a:srgbClr val="000000">
                    <a:alpha val="30000"/>
                  </a:srgbClr>
                </a:solidFill>
                <a:ln>
                  <a:noFill/>
                </a:ln>
              </p:spPr>
            </p:sp>
            <p:sp>
              <p:nvSpPr>
                <p:cNvPr id="60" name="Ellipse 60"/>
                <p:cNvSpPr/>
                <p:nvPr/>
              </p:nvSpPr>
              <p:spPr>
                <a:xfrm>
                  <a:off x="9525000" y="2286000"/>
                  <a:ext cx="1333500" cy="1333500"/>
                </a:xfrm>
                <a:prstGeom prst="ellipse">
                  <a:avLst/>
                </a:prstGeom>
                <a:solidFill>
                  <a:srgbClr val="0B0F19"/>
                </a:solidFill>
                <a:ln w="9525">
                  <a:solidFill>
                    <a:srgbClr val="1E293B"/>
                  </a:solidFill>
                </a:ln>
              </p:spPr>
            </p:sp>
            <p:sp>
              <p:nvSpPr>
                <p:cNvPr id="61" name="Ellipse 61"/>
                <p:cNvSpPr/>
                <p:nvPr/>
              </p:nvSpPr>
              <p:spPr>
                <a:xfrm>
                  <a:off x="9963150" y="2609850"/>
                  <a:ext cx="457200" cy="457200"/>
                </a:xfrm>
                <a:prstGeom prst="ellipse">
                  <a:avLst/>
                </a:prstGeom>
                <a:solidFill>
                  <a:srgbClr val="FB923C">
                    <a:alpha val="80000"/>
                  </a:srgbClr>
                </a:solidFill>
                <a:ln>
                  <a:noFill/>
                </a:ln>
              </p:spPr>
            </p:sp>
            <p:sp>
              <p:nvSpPr>
                <p:cNvPr id="62" name="Freeform 62"/>
                <p:cNvSpPr/>
                <p:nvPr/>
              </p:nvSpPr>
              <p:spPr>
                <a:xfrm>
                  <a:off x="9734550" y="3159125"/>
                  <a:ext cx="914400" cy="317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14400" h="317500">
                      <a:moveTo>
                        <a:pt x="0" y="317500"/>
                      </a:moveTo>
                      <a:cubicBezTo>
                        <a:pt x="304800" y="0"/>
                        <a:pt x="609600" y="0"/>
                        <a:pt x="914400" y="317500"/>
                      </a:cubicBezTo>
                    </a:path>
                  </a:pathLst>
                </a:custGeom>
                <a:noFill/>
                <a:ln w="285750" cap="rnd">
                  <a:solidFill>
                    <a:srgbClr val="FB923C">
                      <a:alpha val="80000"/>
                    </a:srgbClr>
                  </a:solidFill>
                </a:ln>
              </p:spPr>
            </p:sp>
          </p:grpSp>
          <p:sp>
            <p:nvSpPr>
              <p:cNvPr id="64" name="TextBox 64"/>
              <p:cNvSpPr txBox="1"/>
              <p:nvPr/>
            </p:nvSpPr>
            <p:spPr>
              <a:xfrm>
                <a:off x="9906000" y="3933825"/>
                <a:ext cx="571500" cy="46164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b="1" dirty="0">
                    <a:solidFill>
                      <a:srgbClr val="F8FAFC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  <a:sym typeface="+mn-ea"/>
                  </a:rPr>
                  <a:t>田锦城</a:t>
                </a:r>
                <a:endParaRPr lang="zh-CN" sz="1500" b="1" dirty="0">
                  <a:solidFill>
                    <a:srgbClr val="F8FAFC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  <a:p>
                <a:pPr algn="ctr"/>
                <a:endParaRPr lang="zh-CN" sz="1500" b="1" dirty="0">
                  <a:solidFill>
                    <a:srgbClr val="F8FAFC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65" name="TextBox 65"/>
              <p:cNvSpPr txBox="1"/>
              <p:nvPr/>
            </p:nvSpPr>
            <p:spPr>
              <a:xfrm>
                <a:off x="9506533" y="4257199"/>
                <a:ext cx="1370433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75" b="1" dirty="0">
                    <a:solidFill>
                      <a:srgbClr val="FB923C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数据工程与质量保障</a:t>
                </a:r>
                <a:endParaRPr lang="zh-CN" sz="975" b="1" dirty="0">
                  <a:solidFill>
                    <a:srgbClr val="FB923C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66" name="Line 66"/>
              <p:cNvSpPr/>
              <p:nvPr/>
            </p:nvSpPr>
            <p:spPr>
              <a:xfrm>
                <a:off x="9286875" y="4524375"/>
                <a:ext cx="18097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809750" h="9525">
                    <a:moveTo>
                      <a:pt x="0" y="0"/>
                    </a:moveTo>
                    <a:lnTo>
                      <a:pt x="1809750" y="0"/>
                    </a:lnTo>
                  </a:path>
                </a:pathLst>
              </a:custGeom>
              <a:noFill/>
              <a:ln w="9525">
                <a:solidFill>
                  <a:srgbClr val="1E293B"/>
                </a:solidFill>
              </a:ln>
            </p:spPr>
          </p:sp>
          <p:sp>
            <p:nvSpPr>
              <p:cNvPr id="67" name="TextBox 67"/>
              <p:cNvSpPr txBox="1"/>
              <p:nvPr/>
            </p:nvSpPr>
            <p:spPr>
              <a:xfrm>
                <a:off x="9226868" y="4704874"/>
                <a:ext cx="1693545" cy="15049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94A3B8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· 服务器部署完验性</a:t>
                </a:r>
                <a:r>
                  <a:rPr lang="zh-CN" sz="975" dirty="0">
                    <a:solidFill>
                      <a:srgbClr val="94A3B8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  <a:sym typeface="+mn-ea"/>
                  </a:rPr>
                  <a:t>开发</a:t>
                </a:r>
                <a:r>
                  <a:rPr lang="zh-CN" sz="975" dirty="0">
                    <a:solidFill>
                      <a:srgbClr val="94A3B8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与</a:t>
                </a:r>
                <a:r>
                  <a:rPr lang="zh-CN" sz="975" dirty="0">
                    <a:solidFill>
                      <a:srgbClr val="94A3B8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  <a:sym typeface="+mn-ea"/>
                  </a:rPr>
                  <a:t>修补</a:t>
                </a:r>
                <a:endParaRPr lang="zh-CN" sz="975" dirty="0">
                  <a:solidFill>
                    <a:srgbClr val="94A3B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68" name="TextBox 68"/>
              <p:cNvSpPr txBox="1"/>
              <p:nvPr/>
            </p:nvSpPr>
            <p:spPr>
              <a:xfrm>
                <a:off x="9226868" y="4933474"/>
                <a:ext cx="2139386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94A3B8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· 断点注入防重放及压测鲁棒检验</a:t>
                </a:r>
                <a:endParaRPr lang="zh-CN" sz="975" dirty="0">
                  <a:solidFill>
                    <a:srgbClr val="94A3B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69" name="TextBox 69"/>
              <p:cNvSpPr txBox="1"/>
              <p:nvPr/>
            </p:nvSpPr>
            <p:spPr>
              <a:xfrm>
                <a:off x="9226868" y="5162074"/>
                <a:ext cx="2032587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94A3B8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· 项目交付文档与 SDD 逻辑整理</a:t>
                </a:r>
                <a:endParaRPr lang="zh-CN" sz="975" dirty="0">
                  <a:solidFill>
                    <a:srgbClr val="94A3B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70" name="TextBox 70"/>
              <p:cNvSpPr txBox="1"/>
              <p:nvPr/>
            </p:nvSpPr>
            <p:spPr>
              <a:xfrm>
                <a:off x="9226868" y="5390674"/>
                <a:ext cx="2032587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94A3B8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· 答辩汇报 PPT 统筹规划与制作</a:t>
                </a:r>
                <a:endParaRPr lang="zh-CN" sz="975" dirty="0">
                  <a:solidFill>
                    <a:srgbClr val="94A3B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</p:grpSp>
      <p:grpSp>
        <p:nvGrpSpPr>
          <p:cNvPr id="76" name="Group 76"/>
          <p:cNvGrpSpPr/>
          <p:nvPr/>
        </p:nvGrpSpPr>
        <p:grpSpPr>
          <a:xfrm>
            <a:off x="561975" y="6381750"/>
            <a:ext cx="11068050" cy="309562"/>
            <a:chOff x="561975" y="6381750"/>
            <a:chExt cx="11068050" cy="309562"/>
          </a:xfrm>
        </p:grpSpPr>
        <p:sp>
          <p:nvSpPr>
            <p:cNvPr id="73" name="Line 73"/>
            <p:cNvSpPr/>
            <p:nvPr/>
          </p:nvSpPr>
          <p:spPr>
            <a:xfrm>
              <a:off x="571500" y="638175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rgbClr val="1E293B"/>
              </a:solidFill>
            </a:ln>
          </p:spPr>
        </p:sp>
        <p:sp>
          <p:nvSpPr>
            <p:cNvPr id="74" name="TextBox 74"/>
            <p:cNvSpPr txBox="1"/>
            <p:nvPr/>
          </p:nvSpPr>
          <p:spPr>
            <a:xfrm>
              <a:off x="561975" y="6538912"/>
              <a:ext cx="4291012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50" dirty="0">
                  <a:solidFill>
                    <a:srgbClr val="94A3B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开发协同：使用 Git 分支模型协作，以需求规格说明书与设计规范为基准进行接口对接。</a:t>
              </a:r>
              <a:endParaRPr lang="zh-CN" sz="750" dirty="0">
                <a:solidFill>
                  <a:srgbClr val="94A3B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9108043" y="6538912"/>
              <a:ext cx="2521982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750" dirty="0">
                  <a:solidFill>
                    <a:srgbClr val="94A3B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AI-Enabled Supply Chain Visualization Dashboard</a:t>
              </a:r>
              <a:endParaRPr lang="zh-CN" sz="750" dirty="0">
                <a:solidFill>
                  <a:srgbClr val="94A3B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4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7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0B0F19"/>
            </a:solidFill>
            <a:ln>
              <a:noFill/>
            </a:ln>
          </p:spPr>
        </p:sp>
        <p:sp>
          <p:nvSpPr>
            <p:cNvPr id="3" name="Freeform 3"/>
            <p:cNvSpPr/>
            <p:nvPr/>
          </p:nvSpPr>
          <p:spPr>
            <a:xfrm>
              <a:off x="571500" y="85725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solidFill>
              <a:srgbClr val="000000"/>
            </a:solidFill>
            <a:ln w="14288">
              <a:solidFill>
                <a:srgbClr val="1E293B"/>
              </a:solidFill>
            </a:ln>
          </p:spPr>
        </p:sp>
      </p:grpSp>
      <p:grpSp>
        <p:nvGrpSpPr>
          <p:cNvPr id="7" name="Group 7"/>
          <p:cNvGrpSpPr/>
          <p:nvPr/>
        </p:nvGrpSpPr>
        <p:grpSpPr>
          <a:xfrm>
            <a:off x="560070" y="331470"/>
            <a:ext cx="11071860" cy="182880"/>
            <a:chOff x="560070" y="331470"/>
            <a:chExt cx="11071860" cy="182880"/>
          </a:xfrm>
        </p:grpSpPr>
        <p:sp>
          <p:nvSpPr>
            <p:cNvPr id="5" name="TextBox 5"/>
            <p:cNvSpPr txBox="1"/>
            <p:nvPr/>
          </p:nvSpPr>
          <p:spPr>
            <a:xfrm>
              <a:off x="560070" y="331470"/>
              <a:ext cx="248646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94A3B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工程实践与管理 · SYSTEM DEPLOYMENT</a:t>
              </a:r>
              <a:endParaRPr lang="zh-CN" sz="900" b="1" dirty="0">
                <a:solidFill>
                  <a:srgbClr val="94A3B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10912411" y="331470"/>
              <a:ext cx="71951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94A3B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Page 7 of 8</a:t>
              </a:r>
              <a:endParaRPr lang="zh-CN" sz="900" dirty="0">
                <a:solidFill>
                  <a:srgbClr val="94A3B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544830" y="963930"/>
            <a:ext cx="11075670" cy="874395"/>
            <a:chOff x="544830" y="963930"/>
            <a:chExt cx="11075670" cy="874395"/>
          </a:xfrm>
        </p:grpSpPr>
        <p:sp>
          <p:nvSpPr>
            <p:cNvPr id="8" name="TextBox 8"/>
            <p:cNvSpPr txBox="1"/>
            <p:nvPr/>
          </p:nvSpPr>
          <p:spPr>
            <a:xfrm>
              <a:off x="544830" y="963930"/>
              <a:ext cx="3595783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F8FAFC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项目管理方式与质量保障</a:t>
              </a:r>
              <a:endParaRPr lang="zh-CN" sz="2100" b="1" dirty="0">
                <a:solidFill>
                  <a:srgbClr val="F8FAFC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9" name="Rectangle 9"/>
            <p:cNvSpPr/>
            <p:nvPr/>
          </p:nvSpPr>
          <p:spPr>
            <a:xfrm>
              <a:off x="571500" y="1381125"/>
              <a:ext cx="11049000" cy="457200"/>
            </a:xfrm>
            <a:prstGeom prst="roundRect">
              <a:avLst>
                <a:gd name="adj" fmla="val 16667"/>
              </a:avLst>
            </a:prstGeom>
            <a:solidFill>
              <a:srgbClr val="161F30"/>
            </a:solidFill>
            <a:ln w="9525">
              <a:solidFill>
                <a:srgbClr val="1E293B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748665" y="1544002"/>
              <a:ext cx="889811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94A3B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项目遵循 </a:t>
              </a:r>
              <a:r>
                <a:rPr lang="zh-CN" sz="1050" b="1" dirty="0">
                  <a:solidFill>
                    <a:srgbClr val="4FACFE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“文档驱动 + 敏捷开发”</a:t>
              </a:r>
              <a:r>
                <a:rPr lang="zh-CN" sz="1050" dirty="0">
                  <a:solidFill>
                    <a:srgbClr val="94A3B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 的工程规范，通过注入脏数据及极端洪峰压力测试保证系统强壮度，引入均值预测实现弹性容灾。</a:t>
              </a:r>
              <a:endParaRPr lang="zh-CN" sz="1050" dirty="0">
                <a:solidFill>
                  <a:srgbClr val="94A3B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84" name="Group 84"/>
          <p:cNvGrpSpPr/>
          <p:nvPr/>
        </p:nvGrpSpPr>
        <p:grpSpPr>
          <a:xfrm>
            <a:off x="571500" y="1905000"/>
            <a:ext cx="11186660" cy="4095750"/>
            <a:chOff x="571500" y="1905000"/>
            <a:chExt cx="11186660" cy="4095750"/>
          </a:xfrm>
        </p:grpSpPr>
        <p:grpSp>
          <p:nvGrpSpPr>
            <p:cNvPr id="24" name="Group 24"/>
            <p:cNvGrpSpPr/>
            <p:nvPr/>
          </p:nvGrpSpPr>
          <p:grpSpPr>
            <a:xfrm>
              <a:off x="571500" y="1905000"/>
              <a:ext cx="11049000" cy="762000"/>
              <a:chOff x="571500" y="1905000"/>
              <a:chExt cx="11049000" cy="762000"/>
            </a:xfrm>
          </p:grpSpPr>
          <p:sp>
            <p:nvSpPr>
              <p:cNvPr id="12" name="Polygon 12"/>
              <p:cNvSpPr/>
              <p:nvPr/>
            </p:nvSpPr>
            <p:spPr>
              <a:xfrm>
                <a:off x="571500" y="1905000"/>
                <a:ext cx="2762250" cy="762000"/>
              </a:xfrm>
              <a:custGeom>
                <a:avLst/>
                <a:gdLst/>
                <a:ahLst/>
                <a:cxnLst/>
                <a:rect l="l" t="t" r="r" b="b"/>
                <a:pathLst>
                  <a:path w="2762250" h="762000">
                    <a:moveTo>
                      <a:pt x="0" y="0"/>
                    </a:moveTo>
                    <a:lnTo>
                      <a:pt x="2571750" y="0"/>
                    </a:lnTo>
                    <a:lnTo>
                      <a:pt x="2762250" y="381000"/>
                    </a:lnTo>
                    <a:lnTo>
                      <a:pt x="2571750" y="762000"/>
                    </a:lnTo>
                    <a:lnTo>
                      <a:pt x="0" y="762000"/>
                    </a:lnTo>
                    <a:close/>
                  </a:path>
                </a:pathLst>
              </a:custGeom>
              <a:gradFill>
                <a:gsLst>
                  <a:gs pos="0">
                    <a:srgbClr val="4FACFE"/>
                  </a:gs>
                  <a:gs pos="100000">
                    <a:srgbClr val="00F2FE"/>
                  </a:gs>
                </a:gsLst>
                <a:lin ang="0" scaled="1"/>
              </a:gradFill>
              <a:ln>
                <a:noFill/>
              </a:ln>
            </p:spPr>
          </p:sp>
          <p:sp>
            <p:nvSpPr>
              <p:cNvPr id="13" name="TextBox 13"/>
              <p:cNvSpPr txBox="1"/>
              <p:nvPr/>
            </p:nvSpPr>
            <p:spPr>
              <a:xfrm>
                <a:off x="1325523" y="2116931"/>
                <a:ext cx="1063704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5" b="1" dirty="0">
                    <a:solidFill>
                      <a:srgbClr val="0B0F19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文档驱动设计</a:t>
                </a:r>
                <a:endParaRPr lang="zh-CN" sz="1125" b="1" dirty="0">
                  <a:solidFill>
                    <a:srgbClr val="0B0F19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1600192" y="2368391"/>
                <a:ext cx="514367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825" b="1" dirty="0">
                    <a:solidFill>
                      <a:srgbClr val="0B0F19">
                        <a:alphaMod val="80000"/>
                      </a:srgbClr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PHASE 01</a:t>
                </a:r>
                <a:endParaRPr lang="zh-CN" sz="825" b="1" dirty="0">
                  <a:solidFill>
                    <a:srgbClr val="0B0F19">
                      <a:alphaMod val="80000"/>
                    </a:srgbClr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15" name="Polygon 15"/>
              <p:cNvSpPr/>
              <p:nvPr/>
            </p:nvSpPr>
            <p:spPr>
              <a:xfrm>
                <a:off x="3190875" y="1905000"/>
                <a:ext cx="2762250" cy="762000"/>
              </a:xfrm>
              <a:custGeom>
                <a:avLst/>
                <a:gdLst/>
                <a:ahLst/>
                <a:cxnLst/>
                <a:rect l="l" t="t" r="r" b="b"/>
                <a:pathLst>
                  <a:path w="2762250" h="762000">
                    <a:moveTo>
                      <a:pt x="0" y="0"/>
                    </a:moveTo>
                    <a:lnTo>
                      <a:pt x="2571750" y="0"/>
                    </a:lnTo>
                    <a:lnTo>
                      <a:pt x="2762250" y="381000"/>
                    </a:lnTo>
                    <a:lnTo>
                      <a:pt x="2571750" y="762000"/>
                    </a:lnTo>
                    <a:lnTo>
                      <a:pt x="0" y="762000"/>
                    </a:lnTo>
                    <a:lnTo>
                      <a:pt x="190500" y="381000"/>
                    </a:lnTo>
                    <a:close/>
                  </a:path>
                </a:pathLst>
              </a:custGeom>
              <a:gradFill>
                <a:gsLst>
                  <a:gs pos="0">
                    <a:srgbClr val="A855F7"/>
                  </a:gs>
                  <a:gs pos="100000">
                    <a:srgbClr val="C084FC"/>
                  </a:gs>
                </a:gsLst>
                <a:lin ang="0" scaled="1"/>
              </a:gradFill>
              <a:ln>
                <a:noFill/>
              </a:ln>
            </p:spPr>
          </p:sp>
          <p:sp>
            <p:nvSpPr>
              <p:cNvPr id="16" name="TextBox 16"/>
              <p:cNvSpPr txBox="1"/>
              <p:nvPr/>
            </p:nvSpPr>
            <p:spPr>
              <a:xfrm>
                <a:off x="4040148" y="2116931"/>
                <a:ext cx="1063704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5" b="1" dirty="0">
                    <a:solidFill>
                      <a:srgbClr val="0B0F19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敏捷迭代开发</a:t>
                </a:r>
                <a:endParaRPr lang="zh-CN" sz="1125" b="1" dirty="0">
                  <a:solidFill>
                    <a:srgbClr val="0B0F19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4299002" y="2368391"/>
                <a:ext cx="545996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825" b="1" dirty="0">
                    <a:solidFill>
                      <a:srgbClr val="0B0F19">
                        <a:alphaMod val="80000"/>
                      </a:srgbClr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PHASE 02</a:t>
                </a:r>
                <a:endParaRPr lang="zh-CN" sz="825" b="1" dirty="0">
                  <a:solidFill>
                    <a:srgbClr val="0B0F19">
                      <a:alphaMod val="80000"/>
                    </a:srgbClr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18" name="Polygon 18"/>
              <p:cNvSpPr/>
              <p:nvPr/>
            </p:nvSpPr>
            <p:spPr>
              <a:xfrm>
                <a:off x="5810250" y="1905000"/>
                <a:ext cx="2762250" cy="762000"/>
              </a:xfrm>
              <a:custGeom>
                <a:avLst/>
                <a:gdLst/>
                <a:ahLst/>
                <a:cxnLst/>
                <a:rect l="l" t="t" r="r" b="b"/>
                <a:pathLst>
                  <a:path w="2762250" h="762000">
                    <a:moveTo>
                      <a:pt x="0" y="0"/>
                    </a:moveTo>
                    <a:lnTo>
                      <a:pt x="2571750" y="0"/>
                    </a:lnTo>
                    <a:lnTo>
                      <a:pt x="2762250" y="381000"/>
                    </a:lnTo>
                    <a:lnTo>
                      <a:pt x="2571750" y="762000"/>
                    </a:lnTo>
                    <a:lnTo>
                      <a:pt x="0" y="762000"/>
                    </a:lnTo>
                    <a:lnTo>
                      <a:pt x="190500" y="381000"/>
                    </a:lnTo>
                    <a:close/>
                  </a:path>
                </a:pathLst>
              </a:custGeom>
              <a:gradFill>
                <a:gsLst>
                  <a:gs pos="0">
                    <a:srgbClr val="91CC75"/>
                  </a:gs>
                  <a:gs pos="100000">
                    <a:srgbClr val="84CC16"/>
                  </a:gs>
                </a:gsLst>
                <a:lin ang="0" scaled="1"/>
              </a:gradFill>
              <a:ln>
                <a:noFill/>
              </a:ln>
            </p:spPr>
          </p:sp>
          <p:sp>
            <p:nvSpPr>
              <p:cNvPr id="19" name="TextBox 19"/>
              <p:cNvSpPr txBox="1"/>
              <p:nvPr/>
            </p:nvSpPr>
            <p:spPr>
              <a:xfrm>
                <a:off x="6573262" y="2116931"/>
                <a:ext cx="1236226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5" b="1" dirty="0">
                    <a:solidFill>
                      <a:srgbClr val="0B0F19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质量保障与压测</a:t>
                </a:r>
                <a:endParaRPr lang="zh-CN" sz="1125" b="1" dirty="0">
                  <a:solidFill>
                    <a:srgbClr val="0B0F19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6918377" y="2368391"/>
                <a:ext cx="545996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825" b="1" dirty="0">
                    <a:solidFill>
                      <a:srgbClr val="0B0F19">
                        <a:alphaMod val="80000"/>
                      </a:srgbClr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PHASE 03</a:t>
                </a:r>
                <a:endParaRPr lang="zh-CN" sz="825" b="1" dirty="0">
                  <a:solidFill>
                    <a:srgbClr val="0B0F19">
                      <a:alphaMod val="80000"/>
                    </a:srgbClr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21" name="Polygon 21"/>
              <p:cNvSpPr/>
              <p:nvPr/>
            </p:nvSpPr>
            <p:spPr>
              <a:xfrm>
                <a:off x="8429625" y="1905000"/>
                <a:ext cx="3190875" cy="762000"/>
              </a:xfrm>
              <a:custGeom>
                <a:avLst/>
                <a:gdLst/>
                <a:ahLst/>
                <a:cxnLst/>
                <a:rect l="l" t="t" r="r" b="b"/>
                <a:pathLst>
                  <a:path w="3190875" h="762000">
                    <a:moveTo>
                      <a:pt x="0" y="0"/>
                    </a:moveTo>
                    <a:lnTo>
                      <a:pt x="3000375" y="0"/>
                    </a:lnTo>
                    <a:lnTo>
                      <a:pt x="3190875" y="381000"/>
                    </a:lnTo>
                    <a:lnTo>
                      <a:pt x="3000375" y="762000"/>
                    </a:lnTo>
                    <a:lnTo>
                      <a:pt x="0" y="762000"/>
                    </a:lnTo>
                    <a:lnTo>
                      <a:pt x="190500" y="381000"/>
                    </a:lnTo>
                    <a:close/>
                  </a:path>
                </a:pathLst>
              </a:custGeom>
              <a:gradFill>
                <a:gsLst>
                  <a:gs pos="0">
                    <a:srgbClr val="FB923C"/>
                  </a:gs>
                  <a:gs pos="100000">
                    <a:srgbClr val="F97316"/>
                  </a:gs>
                </a:gsLst>
                <a:lin ang="0" scaled="1"/>
              </a:gradFill>
              <a:ln>
                <a:noFill/>
              </a:ln>
            </p:spPr>
          </p:sp>
          <p:sp>
            <p:nvSpPr>
              <p:cNvPr id="22" name="TextBox 22"/>
              <p:cNvSpPr txBox="1"/>
              <p:nvPr/>
            </p:nvSpPr>
            <p:spPr>
              <a:xfrm>
                <a:off x="9402187" y="2116931"/>
                <a:ext cx="1236226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5" b="1" dirty="0">
                    <a:solidFill>
                      <a:srgbClr val="0B0F19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系统容灾与拓展</a:t>
                </a:r>
                <a:endParaRPr lang="zh-CN" sz="1125" b="1" dirty="0">
                  <a:solidFill>
                    <a:srgbClr val="0B0F19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9747302" y="2368391"/>
                <a:ext cx="545996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825" b="1" dirty="0">
                    <a:solidFill>
                      <a:srgbClr val="0B0F19">
                        <a:alphaMod val="80000"/>
                      </a:srgbClr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PHASE 04</a:t>
                </a:r>
                <a:endParaRPr lang="zh-CN" sz="825" b="1" dirty="0">
                  <a:solidFill>
                    <a:srgbClr val="0B0F19">
                      <a:alphaMod val="80000"/>
                    </a:srgbClr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  <p:grpSp>
          <p:nvGrpSpPr>
            <p:cNvPr id="33" name="Group 33"/>
            <p:cNvGrpSpPr/>
            <p:nvPr/>
          </p:nvGrpSpPr>
          <p:grpSpPr>
            <a:xfrm>
              <a:off x="571500" y="2809875"/>
              <a:ext cx="11049000" cy="238125"/>
              <a:chOff x="571500" y="2809875"/>
              <a:chExt cx="11049000" cy="238125"/>
            </a:xfrm>
          </p:grpSpPr>
          <p:sp>
            <p:nvSpPr>
              <p:cNvPr id="25" name="Rectangle 25"/>
              <p:cNvSpPr/>
              <p:nvPr/>
            </p:nvSpPr>
            <p:spPr>
              <a:xfrm>
                <a:off x="571500" y="2809875"/>
                <a:ext cx="2571750" cy="209550"/>
              </a:xfrm>
              <a:prstGeom prst="roundRect">
                <a:avLst>
                  <a:gd name="adj" fmla="val 18182"/>
                </a:avLst>
              </a:prstGeom>
              <a:solidFill>
                <a:srgbClr val="4FACFE">
                  <a:alpha val="15000"/>
                </a:srgbClr>
              </a:solidFill>
              <a:ln>
                <a:noFill/>
              </a:ln>
            </p:spPr>
          </p:sp>
          <p:sp>
            <p:nvSpPr>
              <p:cNvPr id="26" name="TextBox 26"/>
              <p:cNvSpPr txBox="1"/>
              <p:nvPr/>
            </p:nvSpPr>
            <p:spPr>
              <a:xfrm>
                <a:off x="1362885" y="2865120"/>
                <a:ext cx="988981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00" b="1" dirty="0">
                    <a:solidFill>
                      <a:srgbClr val="4FACFE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需求与规格确立</a:t>
                </a:r>
                <a:endParaRPr lang="zh-CN" sz="900" b="1" dirty="0">
                  <a:solidFill>
                    <a:srgbClr val="4FACFE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27" name="Rectangle 27"/>
              <p:cNvSpPr/>
              <p:nvPr/>
            </p:nvSpPr>
            <p:spPr>
              <a:xfrm>
                <a:off x="3190875" y="2809875"/>
                <a:ext cx="2571750" cy="209550"/>
              </a:xfrm>
              <a:prstGeom prst="roundRect">
                <a:avLst>
                  <a:gd name="adj" fmla="val 18182"/>
                </a:avLst>
              </a:prstGeom>
              <a:solidFill>
                <a:srgbClr val="A855F7">
                  <a:alpha val="15000"/>
                </a:srgbClr>
              </a:solidFill>
              <a:ln>
                <a:noFill/>
              </a:ln>
            </p:spPr>
          </p:sp>
          <p:sp>
            <p:nvSpPr>
              <p:cNvPr id="28" name="TextBox 28"/>
              <p:cNvSpPr txBox="1"/>
              <p:nvPr/>
            </p:nvSpPr>
            <p:spPr>
              <a:xfrm>
                <a:off x="3913251" y="2865120"/>
                <a:ext cx="1126998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00" b="1" dirty="0">
                    <a:solidFill>
                      <a:srgbClr val="A855F7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双期双轨敏捷演进</a:t>
                </a:r>
                <a:endParaRPr lang="zh-CN" sz="900" b="1" dirty="0">
                  <a:solidFill>
                    <a:srgbClr val="A855F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29" name="Rectangle 29"/>
              <p:cNvSpPr/>
              <p:nvPr/>
            </p:nvSpPr>
            <p:spPr>
              <a:xfrm>
                <a:off x="5810250" y="2809875"/>
                <a:ext cx="2571750" cy="209550"/>
              </a:xfrm>
              <a:prstGeom prst="roundRect">
                <a:avLst>
                  <a:gd name="adj" fmla="val 18182"/>
                </a:avLst>
              </a:prstGeom>
              <a:solidFill>
                <a:srgbClr val="91CC75">
                  <a:alpha val="15000"/>
                </a:srgbClr>
              </a:solidFill>
              <a:ln>
                <a:noFill/>
              </a:ln>
            </p:spPr>
          </p:sp>
          <p:sp>
            <p:nvSpPr>
              <p:cNvPr id="30" name="TextBox 30"/>
              <p:cNvSpPr txBox="1"/>
              <p:nvPr/>
            </p:nvSpPr>
            <p:spPr>
              <a:xfrm>
                <a:off x="6532626" y="2865120"/>
                <a:ext cx="1126998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00" b="1" dirty="0">
                    <a:solidFill>
                      <a:srgbClr val="91CC75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脏数据仿真与压测</a:t>
                </a:r>
                <a:endParaRPr lang="zh-CN" sz="900" b="1" dirty="0">
                  <a:solidFill>
                    <a:srgbClr val="91CC75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31" name="Rectangle 31"/>
              <p:cNvSpPr/>
              <p:nvPr/>
            </p:nvSpPr>
            <p:spPr>
              <a:xfrm>
                <a:off x="8429625" y="2809875"/>
                <a:ext cx="3190875" cy="209550"/>
              </a:xfrm>
              <a:prstGeom prst="roundRect">
                <a:avLst>
                  <a:gd name="adj" fmla="val 18182"/>
                </a:avLst>
              </a:prstGeom>
              <a:solidFill>
                <a:srgbClr val="FB923C">
                  <a:alpha val="15000"/>
                </a:srgbClr>
              </a:solidFill>
              <a:ln>
                <a:noFill/>
              </a:ln>
            </p:spPr>
          </p:sp>
          <p:sp>
            <p:nvSpPr>
              <p:cNvPr id="32" name="TextBox 32"/>
              <p:cNvSpPr txBox="1"/>
              <p:nvPr/>
            </p:nvSpPr>
            <p:spPr>
              <a:xfrm>
                <a:off x="9263577" y="2865120"/>
                <a:ext cx="1513446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00" b="1" dirty="0">
                    <a:solidFill>
                      <a:srgbClr val="FB923C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均值弹性兜底 &amp; ERP集成</a:t>
                </a:r>
                <a:endParaRPr lang="zh-CN" sz="900" b="1" dirty="0">
                  <a:solidFill>
                    <a:srgbClr val="FB923C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  <p:grpSp>
          <p:nvGrpSpPr>
            <p:cNvPr id="83" name="Group 83"/>
            <p:cNvGrpSpPr/>
            <p:nvPr/>
          </p:nvGrpSpPr>
          <p:grpSpPr>
            <a:xfrm>
              <a:off x="571500" y="3143250"/>
              <a:ext cx="11186660" cy="2857500"/>
              <a:chOff x="571500" y="3143250"/>
              <a:chExt cx="11186660" cy="2857500"/>
            </a:xfrm>
          </p:grpSpPr>
          <p:grpSp>
            <p:nvGrpSpPr>
              <p:cNvPr id="45" name="Group 45"/>
              <p:cNvGrpSpPr/>
              <p:nvPr/>
            </p:nvGrpSpPr>
            <p:grpSpPr>
              <a:xfrm>
                <a:off x="571500" y="3143250"/>
                <a:ext cx="2571750" cy="2857500"/>
                <a:chOff x="571500" y="3143250"/>
                <a:chExt cx="2571750" cy="2857500"/>
              </a:xfrm>
              <a:effectLst>
                <a:outerShdw blurRad="76200" dist="19050" dir="5400000" algn="ctr" rotWithShape="0">
                  <a:srgbClr val="0B0F19">
                    <a:alpha val="37500"/>
                  </a:srgbClr>
                </a:outerShdw>
              </a:effectLst>
            </p:grpSpPr>
            <p:sp>
              <p:nvSpPr>
                <p:cNvPr id="34" name="Rectangle 34"/>
                <p:cNvSpPr/>
                <p:nvPr/>
              </p:nvSpPr>
              <p:spPr>
                <a:xfrm>
                  <a:off x="571500" y="3143250"/>
                  <a:ext cx="2571750" cy="2857500"/>
                </a:xfrm>
                <a:prstGeom prst="roundRect">
                  <a:avLst>
                    <a:gd name="adj" fmla="val 3704"/>
                  </a:avLst>
                </a:prstGeom>
                <a:solidFill>
                  <a:srgbClr val="161F30"/>
                </a:solidFill>
                <a:ln w="14288">
                  <a:solidFill>
                    <a:srgbClr val="1E293B"/>
                  </a:solidFill>
                </a:ln>
                <a:effectLst>
                  <a:outerShdw blurRad="76200" dist="19050" dir="5400000" algn="ctr" rotWithShape="0">
                    <a:srgbClr val="0B0F19">
                      <a:alpha val="37500"/>
                    </a:srgbClr>
                  </a:outerShdw>
                </a:effectLst>
              </p:spPr>
            </p:sp>
            <p:sp>
              <p:nvSpPr>
                <p:cNvPr id="35" name="Rectangle 35"/>
                <p:cNvSpPr/>
                <p:nvPr/>
              </p:nvSpPr>
              <p:spPr>
                <a:xfrm>
                  <a:off x="571500" y="3143250"/>
                  <a:ext cx="2571750" cy="47625"/>
                </a:xfrm>
                <a:prstGeom prst="roundRect">
                  <a:avLst>
                    <a:gd name="adj" fmla="val 40000"/>
                  </a:avLst>
                </a:prstGeom>
                <a:solidFill>
                  <a:srgbClr val="4FACFE"/>
                </a:solidFill>
                <a:ln>
                  <a:noFill/>
                </a:ln>
                <a:effectLst>
                  <a:outerShdw blurRad="76200" dist="19050" dir="5400000" algn="ctr" rotWithShape="0">
                    <a:srgbClr val="0B0F19">
                      <a:alpha val="37500"/>
                    </a:srgbClr>
                  </a:outerShdw>
                </a:effectLst>
              </p:spPr>
            </p:sp>
            <p:sp>
              <p:nvSpPr>
                <p:cNvPr id="36" name="TextBox 36"/>
                <p:cNvSpPr txBox="1"/>
                <p:nvPr/>
              </p:nvSpPr>
              <p:spPr>
                <a:xfrm>
                  <a:off x="748665" y="3410902"/>
                  <a:ext cx="1129658" cy="213360"/>
                </a:xfrm>
                <a:prstGeom prst="rect">
                  <a:avLst/>
                </a:prstGeom>
                <a:noFill/>
                <a:ln>
                  <a:noFill/>
                </a:ln>
                <a:effectLst>
                  <a:outerShdw blurRad="76200" dist="19050" dir="5400000" algn="ctr" rotWithShape="0">
                    <a:srgbClr val="0B0F19">
                      <a:alpha val="37500"/>
                    </a:srgbClr>
                  </a:outerShdw>
                </a:effectLst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050" b="1" dirty="0">
                      <a:solidFill>
                        <a:srgbClr val="F8FAFC"/>
                      </a:solidFill>
                      <a:latin typeface="Arial" panose="020B0604020202020204"/>
                      <a:ea typeface="微软雅黑" panose="020B0503020204020204" charset="-122"/>
                      <a:cs typeface="Arial" panose="020B0604020202020204"/>
                    </a:rPr>
                    <a:t>· 规范先行原则</a:t>
                  </a:r>
                  <a:endParaRPr lang="zh-CN" sz="1050" b="1" dirty="0">
                    <a:solidFill>
                      <a:srgbClr val="F8FAFC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endParaRPr>
                </a:p>
              </p:txBody>
            </p:sp>
            <p:sp>
              <p:nvSpPr>
                <p:cNvPr id="37" name="TextBox 37"/>
                <p:cNvSpPr txBox="1"/>
                <p:nvPr/>
              </p:nvSpPr>
              <p:spPr>
                <a:xfrm>
                  <a:off x="749618" y="3628549"/>
                  <a:ext cx="1683710" cy="198120"/>
                </a:xfrm>
                <a:prstGeom prst="rect">
                  <a:avLst/>
                </a:prstGeom>
                <a:noFill/>
                <a:ln>
                  <a:noFill/>
                </a:ln>
                <a:effectLst>
                  <a:outerShdw blurRad="76200" dist="19050" dir="5400000" algn="ctr" rotWithShape="0">
                    <a:srgbClr val="0B0F19">
                      <a:alpha val="37500"/>
                    </a:srgbClr>
                  </a:outerShdw>
                </a:effectLst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975" dirty="0">
                      <a:solidFill>
                        <a:srgbClr val="94A3B8"/>
                      </a:solidFill>
                      <a:latin typeface="Arial" panose="020B0604020202020204"/>
                      <a:ea typeface="微软雅黑" panose="020B0503020204020204" charset="-122"/>
                      <a:cs typeface="Arial" panose="020B0604020202020204"/>
                    </a:rPr>
                    <a:t>以《PRD需求规格说明书》</a:t>
                  </a:r>
                  <a:endParaRPr lang="zh-CN" sz="975" dirty="0">
                    <a:solidFill>
                      <a:srgbClr val="94A3B8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endParaRPr>
                </a:p>
              </p:txBody>
            </p:sp>
            <p:sp>
              <p:nvSpPr>
                <p:cNvPr id="38" name="TextBox 38"/>
                <p:cNvSpPr txBox="1"/>
                <p:nvPr/>
              </p:nvSpPr>
              <p:spPr>
                <a:xfrm>
                  <a:off x="749618" y="3838099"/>
                  <a:ext cx="1875949" cy="198120"/>
                </a:xfrm>
                <a:prstGeom prst="rect">
                  <a:avLst/>
                </a:prstGeom>
                <a:noFill/>
                <a:ln>
                  <a:noFill/>
                </a:ln>
                <a:effectLst>
                  <a:outerShdw blurRad="76200" dist="19050" dir="5400000" algn="ctr" rotWithShape="0">
                    <a:srgbClr val="0B0F19">
                      <a:alpha val="37500"/>
                    </a:srgbClr>
                  </a:outerShdw>
                </a:effectLst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975" dirty="0">
                      <a:solidFill>
                        <a:srgbClr val="94A3B8"/>
                      </a:solidFill>
                      <a:latin typeface="Arial" panose="020B0604020202020204"/>
                      <a:ea typeface="微软雅黑" panose="020B0503020204020204" charset="-122"/>
                      <a:cs typeface="Arial" panose="020B0604020202020204"/>
                    </a:rPr>
                    <a:t>明确功能指标与非功能边界。</a:t>
                  </a:r>
                  <a:endParaRPr lang="zh-CN" sz="975" dirty="0">
                    <a:solidFill>
                      <a:srgbClr val="94A3B8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endParaRPr>
                </a:p>
              </p:txBody>
            </p:sp>
            <p:sp>
              <p:nvSpPr>
                <p:cNvPr id="39" name="TextBox 39"/>
                <p:cNvSpPr txBox="1"/>
                <p:nvPr/>
              </p:nvSpPr>
              <p:spPr>
                <a:xfrm>
                  <a:off x="748665" y="4134802"/>
                  <a:ext cx="1290678" cy="213360"/>
                </a:xfrm>
                <a:prstGeom prst="rect">
                  <a:avLst/>
                </a:prstGeom>
                <a:noFill/>
                <a:ln>
                  <a:noFill/>
                </a:ln>
                <a:effectLst>
                  <a:outerShdw blurRad="76200" dist="19050" dir="5400000" algn="ctr" rotWithShape="0">
                    <a:srgbClr val="0B0F19">
                      <a:alpha val="37500"/>
                    </a:srgbClr>
                  </a:outerShdw>
                </a:effectLst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050" b="1" dirty="0">
                      <a:solidFill>
                        <a:srgbClr val="F8FAFC"/>
                      </a:solidFill>
                      <a:latin typeface="Arial" panose="020B0604020202020204"/>
                      <a:ea typeface="微软雅黑" panose="020B0503020204020204" charset="-122"/>
                      <a:cs typeface="Arial" panose="020B0604020202020204"/>
                    </a:rPr>
                    <a:t>· 技术设计白皮书</a:t>
                  </a:r>
                  <a:endParaRPr lang="zh-CN" sz="1050" b="1" dirty="0">
                    <a:solidFill>
                      <a:srgbClr val="F8FAFC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endParaRPr>
                </a:p>
              </p:txBody>
            </p:sp>
            <p:sp>
              <p:nvSpPr>
                <p:cNvPr id="40" name="TextBox 40"/>
                <p:cNvSpPr txBox="1"/>
                <p:nvPr/>
              </p:nvSpPr>
              <p:spPr>
                <a:xfrm>
                  <a:off x="749618" y="4352449"/>
                  <a:ext cx="1968508" cy="198120"/>
                </a:xfrm>
                <a:prstGeom prst="rect">
                  <a:avLst/>
                </a:prstGeom>
                <a:noFill/>
                <a:ln>
                  <a:noFill/>
                </a:ln>
                <a:effectLst>
                  <a:outerShdw blurRad="76200" dist="19050" dir="5400000" algn="ctr" rotWithShape="0">
                    <a:srgbClr val="0B0F19">
                      <a:alpha val="37500"/>
                    </a:srgbClr>
                  </a:outerShdw>
                </a:effectLst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975" dirty="0">
                      <a:solidFill>
                        <a:srgbClr val="94A3B8"/>
                      </a:solidFill>
                      <a:latin typeface="Arial" panose="020B0604020202020204"/>
                      <a:ea typeface="微软雅黑" panose="020B0503020204020204" charset="-122"/>
                      <a:cs typeface="Arial" panose="020B0604020202020204"/>
                    </a:rPr>
                    <a:t>编写《SDD软件设计说明书》，</a:t>
                  </a:r>
                  <a:endParaRPr lang="zh-CN" sz="975" dirty="0">
                    <a:solidFill>
                      <a:srgbClr val="94A3B8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endParaRPr>
                </a:p>
              </p:txBody>
            </p:sp>
            <p:sp>
              <p:nvSpPr>
                <p:cNvPr id="41" name="TextBox 41"/>
                <p:cNvSpPr txBox="1"/>
                <p:nvPr/>
              </p:nvSpPr>
              <p:spPr>
                <a:xfrm>
                  <a:off x="749618" y="4561999"/>
                  <a:ext cx="1875949" cy="198120"/>
                </a:xfrm>
                <a:prstGeom prst="rect">
                  <a:avLst/>
                </a:prstGeom>
                <a:noFill/>
                <a:ln>
                  <a:noFill/>
                </a:ln>
                <a:effectLst>
                  <a:outerShdw blurRad="76200" dist="19050" dir="5400000" algn="ctr" rotWithShape="0">
                    <a:srgbClr val="0B0F19">
                      <a:alpha val="37500"/>
                    </a:srgbClr>
                  </a:outerShdw>
                </a:effectLst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975" dirty="0">
                      <a:solidFill>
                        <a:srgbClr val="94A3B8"/>
                      </a:solidFill>
                      <a:latin typeface="Arial" panose="020B0604020202020204"/>
                      <a:ea typeface="微软雅黑" panose="020B0503020204020204" charset="-122"/>
                      <a:cs typeface="Arial" panose="020B0604020202020204"/>
                    </a:rPr>
                    <a:t>定义通讯接口规范与数据表。</a:t>
                  </a:r>
                  <a:endParaRPr lang="zh-CN" sz="975" dirty="0">
                    <a:solidFill>
                      <a:srgbClr val="94A3B8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endParaRPr>
                </a:p>
              </p:txBody>
            </p:sp>
            <p:sp>
              <p:nvSpPr>
                <p:cNvPr id="42" name="Line 42"/>
                <p:cNvSpPr/>
                <p:nvPr/>
              </p:nvSpPr>
              <p:spPr>
                <a:xfrm>
                  <a:off x="762000" y="5238750"/>
                  <a:ext cx="219075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90750" h="9525">
                      <a:moveTo>
                        <a:pt x="0" y="0"/>
                      </a:moveTo>
                      <a:lnTo>
                        <a:pt x="2190750" y="0"/>
                      </a:lnTo>
                    </a:path>
                  </a:pathLst>
                </a:custGeom>
                <a:noFill/>
                <a:ln w="9525">
                  <a:solidFill>
                    <a:srgbClr val="1E293B"/>
                  </a:solidFill>
                </a:ln>
              </p:spPr>
            </p:sp>
            <p:sp>
              <p:nvSpPr>
                <p:cNvPr id="43" name="TextBox 43"/>
                <p:cNvSpPr txBox="1"/>
                <p:nvPr/>
              </p:nvSpPr>
              <p:spPr>
                <a:xfrm>
                  <a:off x="750570" y="5379720"/>
                  <a:ext cx="574929" cy="182880"/>
                </a:xfrm>
                <a:prstGeom prst="rect">
                  <a:avLst/>
                </a:prstGeom>
                <a:noFill/>
                <a:ln>
                  <a:noFill/>
                </a:ln>
                <a:effectLst>
                  <a:outerShdw blurRad="76200" dist="19050" dir="5400000" algn="ctr" rotWithShape="0">
                    <a:srgbClr val="0B0F19">
                      <a:alpha val="37500"/>
                    </a:srgbClr>
                  </a:outerShdw>
                </a:effectLst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900" b="1" dirty="0">
                      <a:solidFill>
                        <a:srgbClr val="4FACFE"/>
                      </a:solidFill>
                      <a:latin typeface="Arial" panose="020B0604020202020204"/>
                      <a:ea typeface="微软雅黑" panose="020B0503020204020204" charset="-122"/>
                      <a:cs typeface="Arial" panose="020B0604020202020204"/>
                    </a:rPr>
                    <a:t>交付物：</a:t>
                  </a:r>
                  <a:endParaRPr lang="zh-CN" sz="900" b="1" dirty="0">
                    <a:solidFill>
                      <a:srgbClr val="4FACFE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endParaRPr>
                </a:p>
              </p:txBody>
            </p:sp>
            <p:sp>
              <p:nvSpPr>
                <p:cNvPr id="44" name="TextBox 44"/>
                <p:cNvSpPr txBox="1"/>
                <p:nvPr/>
              </p:nvSpPr>
              <p:spPr>
                <a:xfrm>
                  <a:off x="750570" y="5598795"/>
                  <a:ext cx="1771078" cy="182880"/>
                </a:xfrm>
                <a:prstGeom prst="rect">
                  <a:avLst/>
                </a:prstGeom>
                <a:noFill/>
                <a:ln>
                  <a:noFill/>
                </a:ln>
                <a:effectLst>
                  <a:outerShdw blurRad="76200" dist="19050" dir="5400000" algn="ctr" rotWithShape="0">
                    <a:srgbClr val="0B0F19">
                      <a:alpha val="37500"/>
                    </a:srgbClr>
                  </a:outerShdw>
                </a:effectLst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900" dirty="0">
                      <a:solidFill>
                        <a:srgbClr val="94A3B8"/>
                      </a:solidFill>
                      <a:latin typeface="Arial" panose="020B0604020202020204"/>
                      <a:ea typeface="微软雅黑" panose="020B0503020204020204" charset="-122"/>
                      <a:cs typeface="Arial" panose="020B0604020202020204"/>
                    </a:rPr>
                    <a:t>PRD需求文档、SDD设计说明书</a:t>
                  </a:r>
                  <a:endParaRPr lang="zh-CN" sz="900" dirty="0">
                    <a:solidFill>
                      <a:srgbClr val="94A3B8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endParaRPr>
                </a:p>
              </p:txBody>
            </p:sp>
          </p:grpSp>
          <p:grpSp>
            <p:nvGrpSpPr>
              <p:cNvPr id="57" name="Group 57"/>
              <p:cNvGrpSpPr/>
              <p:nvPr/>
            </p:nvGrpSpPr>
            <p:grpSpPr>
              <a:xfrm>
                <a:off x="3190875" y="3143250"/>
                <a:ext cx="2571750" cy="2857500"/>
                <a:chOff x="3190875" y="3143250"/>
                <a:chExt cx="2571750" cy="2857500"/>
              </a:xfrm>
              <a:effectLst>
                <a:outerShdw blurRad="76200" dist="19050" dir="5400000" algn="ctr" rotWithShape="0">
                  <a:srgbClr val="0B0F19">
                    <a:alpha val="37500"/>
                  </a:srgbClr>
                </a:outerShdw>
              </a:effectLst>
            </p:grpSpPr>
            <p:sp>
              <p:nvSpPr>
                <p:cNvPr id="46" name="Rectangle 46"/>
                <p:cNvSpPr/>
                <p:nvPr/>
              </p:nvSpPr>
              <p:spPr>
                <a:xfrm>
                  <a:off x="3190875" y="3143250"/>
                  <a:ext cx="2571750" cy="2857500"/>
                </a:xfrm>
                <a:prstGeom prst="roundRect">
                  <a:avLst>
                    <a:gd name="adj" fmla="val 3704"/>
                  </a:avLst>
                </a:prstGeom>
                <a:solidFill>
                  <a:srgbClr val="161F30"/>
                </a:solidFill>
                <a:ln w="14288">
                  <a:solidFill>
                    <a:srgbClr val="1E293B"/>
                  </a:solidFill>
                </a:ln>
                <a:effectLst>
                  <a:outerShdw blurRad="76200" dist="19050" dir="5400000" algn="ctr" rotWithShape="0">
                    <a:srgbClr val="0B0F19">
                      <a:alpha val="37500"/>
                    </a:srgbClr>
                  </a:outerShdw>
                </a:effectLst>
              </p:spPr>
            </p:sp>
            <p:sp>
              <p:nvSpPr>
                <p:cNvPr id="47" name="Rectangle 47"/>
                <p:cNvSpPr/>
                <p:nvPr/>
              </p:nvSpPr>
              <p:spPr>
                <a:xfrm>
                  <a:off x="3190875" y="3143250"/>
                  <a:ext cx="2571750" cy="47625"/>
                </a:xfrm>
                <a:prstGeom prst="roundRect">
                  <a:avLst>
                    <a:gd name="adj" fmla="val 40000"/>
                  </a:avLst>
                </a:prstGeom>
                <a:solidFill>
                  <a:srgbClr val="A855F7"/>
                </a:solidFill>
                <a:ln>
                  <a:noFill/>
                </a:ln>
                <a:effectLst>
                  <a:outerShdw blurRad="76200" dist="19050" dir="5400000" algn="ctr" rotWithShape="0">
                    <a:srgbClr val="0B0F19">
                      <a:alpha val="37500"/>
                    </a:srgbClr>
                  </a:outerShdw>
                </a:effectLst>
              </p:spPr>
            </p:sp>
            <p:sp>
              <p:nvSpPr>
                <p:cNvPr id="48" name="TextBox 48"/>
                <p:cNvSpPr txBox="1"/>
                <p:nvPr/>
              </p:nvSpPr>
              <p:spPr>
                <a:xfrm>
                  <a:off x="3368040" y="3410902"/>
                  <a:ext cx="1129658" cy="213360"/>
                </a:xfrm>
                <a:prstGeom prst="rect">
                  <a:avLst/>
                </a:prstGeom>
                <a:noFill/>
                <a:ln>
                  <a:noFill/>
                </a:ln>
                <a:effectLst>
                  <a:outerShdw blurRad="76200" dist="19050" dir="5400000" algn="ctr" rotWithShape="0">
                    <a:srgbClr val="0B0F19">
                      <a:alpha val="37500"/>
                    </a:srgbClr>
                  </a:outerShdw>
                </a:effectLst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050" b="1" dirty="0">
                      <a:solidFill>
                        <a:srgbClr val="F8FAFC"/>
                      </a:solidFill>
                      <a:latin typeface="Arial" panose="020B0604020202020204"/>
                      <a:ea typeface="微软雅黑" panose="020B0503020204020204" charset="-122"/>
                      <a:cs typeface="Arial" panose="020B0604020202020204"/>
                    </a:rPr>
                    <a:t>· 版本控制协作</a:t>
                  </a:r>
                  <a:endParaRPr lang="zh-CN" sz="1050" b="1" dirty="0">
                    <a:solidFill>
                      <a:srgbClr val="F8FAFC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endParaRPr>
                </a:p>
              </p:txBody>
            </p:sp>
            <p:sp>
              <p:nvSpPr>
                <p:cNvPr id="49" name="TextBox 49"/>
                <p:cNvSpPr txBox="1"/>
                <p:nvPr/>
              </p:nvSpPr>
              <p:spPr>
                <a:xfrm>
                  <a:off x="3368992" y="3628549"/>
                  <a:ext cx="1875949" cy="198120"/>
                </a:xfrm>
                <a:prstGeom prst="rect">
                  <a:avLst/>
                </a:prstGeom>
                <a:noFill/>
                <a:ln>
                  <a:noFill/>
                </a:ln>
                <a:effectLst>
                  <a:outerShdw blurRad="76200" dist="19050" dir="5400000" algn="ctr" rotWithShape="0">
                    <a:srgbClr val="0B0F19">
                      <a:alpha val="37500"/>
                    </a:srgbClr>
                  </a:outerShdw>
                </a:effectLst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975" dirty="0">
                      <a:solidFill>
                        <a:srgbClr val="94A3B8"/>
                      </a:solidFill>
                      <a:latin typeface="Arial" panose="020B0604020202020204"/>
                      <a:ea typeface="微软雅黑" panose="020B0503020204020204" charset="-122"/>
                      <a:cs typeface="Arial" panose="020B0604020202020204"/>
                    </a:rPr>
                    <a:t>基于 Git 分支模型代码管理，</a:t>
                  </a:r>
                  <a:endParaRPr lang="zh-CN" sz="975" dirty="0">
                    <a:solidFill>
                      <a:srgbClr val="94A3B8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endParaRPr>
                </a:p>
              </p:txBody>
            </p:sp>
            <p:sp>
              <p:nvSpPr>
                <p:cNvPr id="50" name="TextBox 50"/>
                <p:cNvSpPr txBox="1"/>
                <p:nvPr/>
              </p:nvSpPr>
              <p:spPr>
                <a:xfrm>
                  <a:off x="3368992" y="3838099"/>
                  <a:ext cx="2139386" cy="198120"/>
                </a:xfrm>
                <a:prstGeom prst="rect">
                  <a:avLst/>
                </a:prstGeom>
                <a:noFill/>
                <a:ln>
                  <a:noFill/>
                </a:ln>
                <a:effectLst>
                  <a:outerShdw blurRad="76200" dist="19050" dir="5400000" algn="ctr" rotWithShape="0">
                    <a:srgbClr val="0B0F19">
                      <a:alpha val="37500"/>
                    </a:srgbClr>
                  </a:outerShdw>
                </a:effectLst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975" dirty="0">
                      <a:solidFill>
                        <a:srgbClr val="94A3B8"/>
                      </a:solidFill>
                      <a:latin typeface="Arial" panose="020B0604020202020204"/>
                      <a:ea typeface="微软雅黑" panose="020B0503020204020204" charset="-122"/>
                      <a:cs typeface="Arial" panose="020B0604020202020204"/>
                    </a:rPr>
                    <a:t>严格执行合并前的 Review 审查。</a:t>
                  </a:r>
                  <a:endParaRPr lang="zh-CN" sz="975" dirty="0">
                    <a:solidFill>
                      <a:srgbClr val="94A3B8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endParaRPr>
                </a:p>
              </p:txBody>
            </p:sp>
            <p:sp>
              <p:nvSpPr>
                <p:cNvPr id="51" name="TextBox 51"/>
                <p:cNvSpPr txBox="1"/>
                <p:nvPr/>
              </p:nvSpPr>
              <p:spPr>
                <a:xfrm>
                  <a:off x="3368040" y="4134802"/>
                  <a:ext cx="1129658" cy="213360"/>
                </a:xfrm>
                <a:prstGeom prst="rect">
                  <a:avLst/>
                </a:prstGeom>
                <a:noFill/>
                <a:ln>
                  <a:noFill/>
                </a:ln>
                <a:effectLst>
                  <a:outerShdw blurRad="76200" dist="19050" dir="5400000" algn="ctr" rotWithShape="0">
                    <a:srgbClr val="0B0F19">
                      <a:alpha val="37500"/>
                    </a:srgbClr>
                  </a:outerShdw>
                </a:effectLst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050" b="1" dirty="0">
                      <a:solidFill>
                        <a:srgbClr val="F8FAFC"/>
                      </a:solidFill>
                      <a:latin typeface="Arial" panose="020B0604020202020204"/>
                      <a:ea typeface="微软雅黑" panose="020B0503020204020204" charset="-122"/>
                      <a:cs typeface="Arial" panose="020B0604020202020204"/>
                    </a:rPr>
                    <a:t>· 双期迭代演进</a:t>
                  </a:r>
                  <a:endParaRPr lang="zh-CN" sz="1050" b="1" dirty="0">
                    <a:solidFill>
                      <a:srgbClr val="F8FAFC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endParaRPr>
                </a:p>
              </p:txBody>
            </p:sp>
            <p:sp>
              <p:nvSpPr>
                <p:cNvPr id="52" name="TextBox 52"/>
                <p:cNvSpPr txBox="1"/>
                <p:nvPr/>
              </p:nvSpPr>
              <p:spPr>
                <a:xfrm>
                  <a:off x="3368992" y="4352449"/>
                  <a:ext cx="2018347" cy="198120"/>
                </a:xfrm>
                <a:prstGeom prst="rect">
                  <a:avLst/>
                </a:prstGeom>
                <a:noFill/>
                <a:ln>
                  <a:noFill/>
                </a:ln>
                <a:effectLst>
                  <a:outerShdw blurRad="76200" dist="19050" dir="5400000" algn="ctr" rotWithShape="0">
                    <a:srgbClr val="0B0F19">
                      <a:alpha val="37500"/>
                    </a:srgbClr>
                  </a:outerShdw>
                </a:effectLst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975" dirty="0">
                      <a:solidFill>
                        <a:srgbClr val="94A3B8"/>
                      </a:solidFill>
                      <a:latin typeface="Arial" panose="020B0604020202020204"/>
                      <a:ea typeface="微软雅黑" panose="020B0503020204020204" charset="-122"/>
                      <a:cs typeface="Arial" panose="020B0604020202020204"/>
                    </a:rPr>
                    <a:t>一期搭建基础回放与本地模型；</a:t>
                  </a:r>
                  <a:endParaRPr lang="zh-CN" sz="975" dirty="0">
                    <a:solidFill>
                      <a:srgbClr val="94A3B8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endParaRPr>
                </a:p>
              </p:txBody>
            </p:sp>
            <p:sp>
              <p:nvSpPr>
                <p:cNvPr id="53" name="TextBox 53"/>
                <p:cNvSpPr txBox="1"/>
                <p:nvPr/>
              </p:nvSpPr>
              <p:spPr>
                <a:xfrm>
                  <a:off x="3368992" y="4561999"/>
                  <a:ext cx="2082427" cy="198120"/>
                </a:xfrm>
                <a:prstGeom prst="rect">
                  <a:avLst/>
                </a:prstGeom>
                <a:noFill/>
                <a:ln>
                  <a:noFill/>
                </a:ln>
                <a:effectLst>
                  <a:outerShdw blurRad="76200" dist="19050" dir="5400000" algn="ctr" rotWithShape="0">
                    <a:srgbClr val="0B0F19">
                      <a:alpha val="37500"/>
                    </a:srgbClr>
                  </a:outerShdw>
                </a:effectLst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975" dirty="0">
                      <a:solidFill>
                        <a:srgbClr val="94A3B8"/>
                      </a:solidFill>
                      <a:latin typeface="Arial" panose="020B0604020202020204"/>
                      <a:ea typeface="微软雅黑" panose="020B0503020204020204" charset="-122"/>
                      <a:cs typeface="Arial" panose="020B0604020202020204"/>
                    </a:rPr>
                    <a:t>二期剥离微服务与 WebSocket。</a:t>
                  </a:r>
                  <a:endParaRPr lang="zh-CN" sz="975" dirty="0">
                    <a:solidFill>
                      <a:srgbClr val="94A3B8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endParaRPr>
                </a:p>
              </p:txBody>
            </p:sp>
            <p:sp>
              <p:nvSpPr>
                <p:cNvPr id="54" name="Line 54"/>
                <p:cNvSpPr/>
                <p:nvPr/>
              </p:nvSpPr>
              <p:spPr>
                <a:xfrm>
                  <a:off x="3381375" y="5238750"/>
                  <a:ext cx="219075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90750" h="9525">
                      <a:moveTo>
                        <a:pt x="0" y="0"/>
                      </a:moveTo>
                      <a:lnTo>
                        <a:pt x="2190750" y="0"/>
                      </a:lnTo>
                    </a:path>
                  </a:pathLst>
                </a:custGeom>
                <a:noFill/>
                <a:ln w="9525">
                  <a:solidFill>
                    <a:srgbClr val="1E293B"/>
                  </a:solidFill>
                </a:ln>
              </p:spPr>
            </p:sp>
            <p:sp>
              <p:nvSpPr>
                <p:cNvPr id="55" name="TextBox 55"/>
                <p:cNvSpPr txBox="1"/>
                <p:nvPr/>
              </p:nvSpPr>
              <p:spPr>
                <a:xfrm>
                  <a:off x="3369945" y="5379720"/>
                  <a:ext cx="574929" cy="182880"/>
                </a:xfrm>
                <a:prstGeom prst="rect">
                  <a:avLst/>
                </a:prstGeom>
                <a:noFill/>
                <a:ln>
                  <a:noFill/>
                </a:ln>
                <a:effectLst>
                  <a:outerShdw blurRad="76200" dist="19050" dir="5400000" algn="ctr" rotWithShape="0">
                    <a:srgbClr val="0B0F19">
                      <a:alpha val="37500"/>
                    </a:srgbClr>
                  </a:outerShdw>
                </a:effectLst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900" b="1" dirty="0">
                      <a:solidFill>
                        <a:srgbClr val="A855F7"/>
                      </a:solidFill>
                      <a:latin typeface="Arial" panose="020B0604020202020204"/>
                      <a:ea typeface="微软雅黑" panose="020B0503020204020204" charset="-122"/>
                      <a:cs typeface="Arial" panose="020B0604020202020204"/>
                    </a:rPr>
                    <a:t>交付物：</a:t>
                  </a:r>
                  <a:endParaRPr lang="zh-CN" sz="900" b="1" dirty="0">
                    <a:solidFill>
                      <a:srgbClr val="A855F7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endParaRPr>
                </a:p>
              </p:txBody>
            </p:sp>
            <p:sp>
              <p:nvSpPr>
                <p:cNvPr id="56" name="TextBox 56"/>
                <p:cNvSpPr txBox="1"/>
                <p:nvPr/>
              </p:nvSpPr>
              <p:spPr>
                <a:xfrm>
                  <a:off x="3369945" y="5598795"/>
                  <a:ext cx="1902523" cy="182880"/>
                </a:xfrm>
                <a:prstGeom prst="rect">
                  <a:avLst/>
                </a:prstGeom>
                <a:noFill/>
                <a:ln>
                  <a:noFill/>
                </a:ln>
                <a:effectLst>
                  <a:outerShdw blurRad="76200" dist="19050" dir="5400000" algn="ctr" rotWithShape="0">
                    <a:srgbClr val="0B0F19">
                      <a:alpha val="37500"/>
                    </a:srgbClr>
                  </a:outerShdw>
                </a:effectLst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900" dirty="0">
                      <a:solidFill>
                        <a:srgbClr val="94A3B8"/>
                      </a:solidFill>
                      <a:latin typeface="Arial" panose="020B0604020202020204"/>
                      <a:ea typeface="微软雅黑" panose="020B0503020204020204" charset="-122"/>
                      <a:cs typeface="Arial" panose="020B0604020202020204"/>
                    </a:rPr>
                    <a:t>Git提交日志、Docker-Compose</a:t>
                  </a:r>
                  <a:endParaRPr lang="zh-CN" sz="900" dirty="0">
                    <a:solidFill>
                      <a:srgbClr val="94A3B8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endParaRPr>
                </a:p>
              </p:txBody>
            </p:sp>
          </p:grpSp>
          <p:grpSp>
            <p:nvGrpSpPr>
              <p:cNvPr id="69" name="Group 69"/>
              <p:cNvGrpSpPr/>
              <p:nvPr/>
            </p:nvGrpSpPr>
            <p:grpSpPr>
              <a:xfrm>
                <a:off x="5810250" y="3143250"/>
                <a:ext cx="2571750" cy="2857500"/>
                <a:chOff x="5810250" y="3143250"/>
                <a:chExt cx="2571750" cy="2857500"/>
              </a:xfrm>
              <a:effectLst>
                <a:outerShdw blurRad="76200" dist="19050" dir="5400000" algn="ctr" rotWithShape="0">
                  <a:srgbClr val="0B0F19">
                    <a:alpha val="37500"/>
                  </a:srgbClr>
                </a:outerShdw>
              </a:effectLst>
            </p:grpSpPr>
            <p:sp>
              <p:nvSpPr>
                <p:cNvPr id="58" name="Rectangle 58"/>
                <p:cNvSpPr/>
                <p:nvPr/>
              </p:nvSpPr>
              <p:spPr>
                <a:xfrm>
                  <a:off x="5810250" y="3143250"/>
                  <a:ext cx="2571750" cy="2857500"/>
                </a:xfrm>
                <a:prstGeom prst="roundRect">
                  <a:avLst>
                    <a:gd name="adj" fmla="val 3704"/>
                  </a:avLst>
                </a:prstGeom>
                <a:solidFill>
                  <a:srgbClr val="161F30"/>
                </a:solidFill>
                <a:ln w="14288">
                  <a:solidFill>
                    <a:srgbClr val="1E293B"/>
                  </a:solidFill>
                </a:ln>
                <a:effectLst>
                  <a:outerShdw blurRad="76200" dist="19050" dir="5400000" algn="ctr" rotWithShape="0">
                    <a:srgbClr val="0B0F19">
                      <a:alpha val="37500"/>
                    </a:srgbClr>
                  </a:outerShdw>
                </a:effectLst>
              </p:spPr>
            </p:sp>
            <p:sp>
              <p:nvSpPr>
                <p:cNvPr id="59" name="Rectangle 59"/>
                <p:cNvSpPr/>
                <p:nvPr/>
              </p:nvSpPr>
              <p:spPr>
                <a:xfrm>
                  <a:off x="5810250" y="3143250"/>
                  <a:ext cx="2571750" cy="47625"/>
                </a:xfrm>
                <a:prstGeom prst="roundRect">
                  <a:avLst>
                    <a:gd name="adj" fmla="val 40000"/>
                  </a:avLst>
                </a:prstGeom>
                <a:solidFill>
                  <a:srgbClr val="91CC75"/>
                </a:solidFill>
                <a:ln>
                  <a:noFill/>
                </a:ln>
                <a:effectLst>
                  <a:outerShdw blurRad="76200" dist="19050" dir="5400000" algn="ctr" rotWithShape="0">
                    <a:srgbClr val="0B0F19">
                      <a:alpha val="37500"/>
                    </a:srgbClr>
                  </a:outerShdw>
                </a:effectLst>
              </p:spPr>
            </p:sp>
            <p:sp>
              <p:nvSpPr>
                <p:cNvPr id="60" name="TextBox 60"/>
                <p:cNvSpPr txBox="1"/>
                <p:nvPr/>
              </p:nvSpPr>
              <p:spPr>
                <a:xfrm>
                  <a:off x="5987415" y="3410902"/>
                  <a:ext cx="1290678" cy="213360"/>
                </a:xfrm>
                <a:prstGeom prst="rect">
                  <a:avLst/>
                </a:prstGeom>
                <a:noFill/>
                <a:ln>
                  <a:noFill/>
                </a:ln>
                <a:effectLst>
                  <a:outerShdw blurRad="76200" dist="19050" dir="5400000" algn="ctr" rotWithShape="0">
                    <a:srgbClr val="0B0F19">
                      <a:alpha val="37500"/>
                    </a:srgbClr>
                  </a:outerShdw>
                </a:effectLst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050" b="1" dirty="0">
                      <a:solidFill>
                        <a:srgbClr val="F8FAFC"/>
                      </a:solidFill>
                      <a:latin typeface="Arial" panose="020B0604020202020204"/>
                      <a:ea typeface="微软雅黑" panose="020B0503020204020204" charset="-122"/>
                      <a:cs typeface="Arial" panose="020B0604020202020204"/>
                    </a:rPr>
                    <a:t>· 脏数据仿真注入</a:t>
                  </a:r>
                  <a:endParaRPr lang="zh-CN" sz="1050" b="1" dirty="0">
                    <a:solidFill>
                      <a:srgbClr val="F8FAFC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endParaRPr>
                </a:p>
              </p:txBody>
            </p:sp>
            <p:sp>
              <p:nvSpPr>
                <p:cNvPr id="61" name="TextBox 61"/>
                <p:cNvSpPr txBox="1"/>
                <p:nvPr/>
              </p:nvSpPr>
              <p:spPr>
                <a:xfrm>
                  <a:off x="5988368" y="3628549"/>
                  <a:ext cx="2018347" cy="198120"/>
                </a:xfrm>
                <a:prstGeom prst="rect">
                  <a:avLst/>
                </a:prstGeom>
                <a:noFill/>
                <a:ln>
                  <a:noFill/>
                </a:ln>
                <a:effectLst>
                  <a:outerShdw blurRad="76200" dist="19050" dir="5400000" algn="ctr" rotWithShape="0">
                    <a:srgbClr val="0B0F19">
                      <a:alpha val="37500"/>
                    </a:srgbClr>
                  </a:outerShdw>
                </a:effectLst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975" dirty="0">
                      <a:solidFill>
                        <a:srgbClr val="94A3B8"/>
                      </a:solidFill>
                      <a:latin typeface="Arial" panose="020B0604020202020204"/>
                      <a:ea typeface="微软雅黑" panose="020B0503020204020204" charset="-122"/>
                      <a:cs typeface="Arial" panose="020B0604020202020204"/>
                    </a:rPr>
                    <a:t>回放引擎主动模拟注入脏数据，</a:t>
                  </a:r>
                  <a:endParaRPr lang="zh-CN" sz="975" dirty="0">
                    <a:solidFill>
                      <a:srgbClr val="94A3B8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endParaRPr>
                </a:p>
              </p:txBody>
            </p:sp>
            <p:sp>
              <p:nvSpPr>
                <p:cNvPr id="62" name="TextBox 62"/>
                <p:cNvSpPr txBox="1"/>
                <p:nvPr/>
              </p:nvSpPr>
              <p:spPr>
                <a:xfrm>
                  <a:off x="5988368" y="3838099"/>
                  <a:ext cx="2160746" cy="198120"/>
                </a:xfrm>
                <a:prstGeom prst="rect">
                  <a:avLst/>
                </a:prstGeom>
                <a:noFill/>
                <a:ln>
                  <a:noFill/>
                </a:ln>
                <a:effectLst>
                  <a:outerShdw blurRad="76200" dist="19050" dir="5400000" algn="ctr" rotWithShape="0">
                    <a:srgbClr val="0B0F19">
                      <a:alpha val="37500"/>
                    </a:srgbClr>
                  </a:outerShdw>
                </a:effectLst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975" dirty="0">
                      <a:solidFill>
                        <a:srgbClr val="94A3B8"/>
                      </a:solidFill>
                      <a:latin typeface="Arial" panose="020B0604020202020204"/>
                      <a:ea typeface="微软雅黑" panose="020B0503020204020204" charset="-122"/>
                      <a:cs typeface="Arial" panose="020B0604020202020204"/>
                    </a:rPr>
                    <a:t>检验系统接口的 HMAC 校验拦截。</a:t>
                  </a:r>
                  <a:endParaRPr lang="zh-CN" sz="975" dirty="0">
                    <a:solidFill>
                      <a:srgbClr val="94A3B8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endParaRPr>
                </a:p>
              </p:txBody>
            </p:sp>
            <p:sp>
              <p:nvSpPr>
                <p:cNvPr id="63" name="TextBox 63"/>
                <p:cNvSpPr txBox="1"/>
                <p:nvPr/>
              </p:nvSpPr>
              <p:spPr>
                <a:xfrm>
                  <a:off x="5987415" y="4134802"/>
                  <a:ext cx="1290678" cy="213360"/>
                </a:xfrm>
                <a:prstGeom prst="rect">
                  <a:avLst/>
                </a:prstGeom>
                <a:noFill/>
                <a:ln>
                  <a:noFill/>
                </a:ln>
                <a:effectLst>
                  <a:outerShdw blurRad="76200" dist="19050" dir="5400000" algn="ctr" rotWithShape="0">
                    <a:srgbClr val="0B0F19">
                      <a:alpha val="37500"/>
                    </a:srgbClr>
                  </a:outerShdw>
                </a:effectLst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050" b="1" dirty="0">
                      <a:solidFill>
                        <a:srgbClr val="F8FAFC"/>
                      </a:solidFill>
                      <a:latin typeface="Arial" panose="020B0604020202020204"/>
                      <a:ea typeface="微软雅黑" panose="020B0503020204020204" charset="-122"/>
                      <a:cs typeface="Arial" panose="020B0604020202020204"/>
                    </a:rPr>
                    <a:t>· 压力洪峰稳定性</a:t>
                  </a:r>
                  <a:endParaRPr lang="zh-CN" sz="1050" b="1" dirty="0">
                    <a:solidFill>
                      <a:srgbClr val="F8FAFC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endParaRPr>
                </a:p>
              </p:txBody>
            </p:sp>
            <p:sp>
              <p:nvSpPr>
                <p:cNvPr id="64" name="TextBox 64"/>
                <p:cNvSpPr txBox="1"/>
                <p:nvPr/>
              </p:nvSpPr>
              <p:spPr>
                <a:xfrm>
                  <a:off x="5988368" y="4352449"/>
                  <a:ext cx="2018347" cy="198120"/>
                </a:xfrm>
                <a:prstGeom prst="rect">
                  <a:avLst/>
                </a:prstGeom>
                <a:noFill/>
                <a:ln>
                  <a:noFill/>
                </a:ln>
                <a:effectLst>
                  <a:outerShdw blurRad="76200" dist="19050" dir="5400000" algn="ctr" rotWithShape="0">
                    <a:srgbClr val="0B0F19">
                      <a:alpha val="37500"/>
                    </a:srgbClr>
                  </a:outerShdw>
                </a:effectLst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975" dirty="0">
                      <a:solidFill>
                        <a:srgbClr val="94A3B8"/>
                      </a:solidFill>
                      <a:latin typeface="Arial" panose="020B0604020202020204"/>
                      <a:ea typeface="微软雅黑" panose="020B0503020204020204" charset="-122"/>
                      <a:cs typeface="Arial" panose="020B0604020202020204"/>
                    </a:rPr>
                    <a:t>模拟极端高并发数据写入压测，</a:t>
                  </a:r>
                  <a:endParaRPr lang="zh-CN" sz="975" dirty="0">
                    <a:solidFill>
                      <a:srgbClr val="94A3B8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endParaRPr>
                </a:p>
              </p:txBody>
            </p:sp>
            <p:sp>
              <p:nvSpPr>
                <p:cNvPr id="65" name="TextBox 65"/>
                <p:cNvSpPr txBox="1"/>
                <p:nvPr/>
              </p:nvSpPr>
              <p:spPr>
                <a:xfrm>
                  <a:off x="5988368" y="4561999"/>
                  <a:ext cx="2018347" cy="198120"/>
                </a:xfrm>
                <a:prstGeom prst="rect">
                  <a:avLst/>
                </a:prstGeom>
                <a:noFill/>
                <a:ln>
                  <a:noFill/>
                </a:ln>
                <a:effectLst>
                  <a:outerShdw blurRad="76200" dist="19050" dir="5400000" algn="ctr" rotWithShape="0">
                    <a:srgbClr val="0B0F19">
                      <a:alpha val="37500"/>
                    </a:srgbClr>
                  </a:outerShdw>
                </a:effectLst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975" dirty="0">
                      <a:solidFill>
                        <a:srgbClr val="94A3B8"/>
                      </a:solidFill>
                      <a:latin typeface="Arial" panose="020B0604020202020204"/>
                      <a:ea typeface="微软雅黑" panose="020B0503020204020204" charset="-122"/>
                      <a:cs typeface="Arial" panose="020B0604020202020204"/>
                    </a:rPr>
                    <a:t>测试前端大屏的展示防崩性能。</a:t>
                  </a:r>
                  <a:endParaRPr lang="zh-CN" sz="975" dirty="0">
                    <a:solidFill>
                      <a:srgbClr val="94A3B8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endParaRPr>
                </a:p>
              </p:txBody>
            </p:sp>
            <p:sp>
              <p:nvSpPr>
                <p:cNvPr id="66" name="Line 66"/>
                <p:cNvSpPr/>
                <p:nvPr/>
              </p:nvSpPr>
              <p:spPr>
                <a:xfrm>
                  <a:off x="6000750" y="5238750"/>
                  <a:ext cx="219075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90750" h="9525">
                      <a:moveTo>
                        <a:pt x="0" y="0"/>
                      </a:moveTo>
                      <a:lnTo>
                        <a:pt x="2190750" y="0"/>
                      </a:lnTo>
                    </a:path>
                  </a:pathLst>
                </a:custGeom>
                <a:noFill/>
                <a:ln w="9525">
                  <a:solidFill>
                    <a:srgbClr val="1E293B"/>
                  </a:solidFill>
                </a:ln>
              </p:spPr>
            </p:sp>
            <p:sp>
              <p:nvSpPr>
                <p:cNvPr id="67" name="TextBox 67"/>
                <p:cNvSpPr txBox="1"/>
                <p:nvPr/>
              </p:nvSpPr>
              <p:spPr>
                <a:xfrm>
                  <a:off x="5989320" y="5379720"/>
                  <a:ext cx="574929" cy="182880"/>
                </a:xfrm>
                <a:prstGeom prst="rect">
                  <a:avLst/>
                </a:prstGeom>
                <a:noFill/>
                <a:ln>
                  <a:noFill/>
                </a:ln>
                <a:effectLst>
                  <a:outerShdw blurRad="76200" dist="19050" dir="5400000" algn="ctr" rotWithShape="0">
                    <a:srgbClr val="0B0F19">
                      <a:alpha val="37500"/>
                    </a:srgbClr>
                  </a:outerShdw>
                </a:effectLst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900" b="1" dirty="0">
                      <a:solidFill>
                        <a:srgbClr val="91CC75"/>
                      </a:solidFill>
                      <a:latin typeface="Arial" panose="020B0604020202020204"/>
                      <a:ea typeface="微软雅黑" panose="020B0503020204020204" charset="-122"/>
                      <a:cs typeface="Arial" panose="020B0604020202020204"/>
                    </a:rPr>
                    <a:t>交付物：</a:t>
                  </a:r>
                  <a:endParaRPr lang="zh-CN" sz="900" b="1" dirty="0">
                    <a:solidFill>
                      <a:srgbClr val="91CC75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endParaRPr>
                </a:p>
              </p:txBody>
            </p:sp>
            <p:sp>
              <p:nvSpPr>
                <p:cNvPr id="68" name="TextBox 68"/>
                <p:cNvSpPr txBox="1"/>
                <p:nvPr/>
              </p:nvSpPr>
              <p:spPr>
                <a:xfrm>
                  <a:off x="5989320" y="5598795"/>
                  <a:ext cx="1863090" cy="182880"/>
                </a:xfrm>
                <a:prstGeom prst="rect">
                  <a:avLst/>
                </a:prstGeom>
                <a:noFill/>
                <a:ln>
                  <a:noFill/>
                </a:ln>
                <a:effectLst>
                  <a:outerShdw blurRad="76200" dist="19050" dir="5400000" algn="ctr" rotWithShape="0">
                    <a:srgbClr val="0B0F19">
                      <a:alpha val="37500"/>
                    </a:srgbClr>
                  </a:outerShdw>
                </a:effectLst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900" dirty="0">
                      <a:solidFill>
                        <a:srgbClr val="94A3B8"/>
                      </a:solidFill>
                      <a:latin typeface="Arial" panose="020B0604020202020204"/>
                      <a:ea typeface="微软雅黑" panose="020B0503020204020204" charset="-122"/>
                      <a:cs typeface="Arial" panose="020B0604020202020204"/>
                    </a:rPr>
                    <a:t>压力测试日志、系统缺陷矩阵表</a:t>
                  </a:r>
                  <a:endParaRPr lang="zh-CN" sz="900" dirty="0">
                    <a:solidFill>
                      <a:srgbClr val="94A3B8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endParaRPr>
                </a:p>
              </p:txBody>
            </p:sp>
          </p:grpSp>
          <p:grpSp>
            <p:nvGrpSpPr>
              <p:cNvPr id="82" name="Group 82"/>
              <p:cNvGrpSpPr/>
              <p:nvPr/>
            </p:nvGrpSpPr>
            <p:grpSpPr>
              <a:xfrm>
                <a:off x="8429625" y="3143250"/>
                <a:ext cx="3328535" cy="2857500"/>
                <a:chOff x="8429625" y="3143250"/>
                <a:chExt cx="3328535" cy="2857500"/>
              </a:xfrm>
              <a:effectLst>
                <a:outerShdw blurRad="76200" dist="19050" dir="5400000" algn="ctr" rotWithShape="0">
                  <a:srgbClr val="0B0F19">
                    <a:alpha val="37500"/>
                  </a:srgbClr>
                </a:outerShdw>
              </a:effectLst>
            </p:grpSpPr>
            <p:sp>
              <p:nvSpPr>
                <p:cNvPr id="70" name="Rectangle 70"/>
                <p:cNvSpPr/>
                <p:nvPr/>
              </p:nvSpPr>
              <p:spPr>
                <a:xfrm>
                  <a:off x="8429625" y="3143250"/>
                  <a:ext cx="3190875" cy="2857500"/>
                </a:xfrm>
                <a:prstGeom prst="roundRect">
                  <a:avLst>
                    <a:gd name="adj" fmla="val 3333"/>
                  </a:avLst>
                </a:prstGeom>
                <a:solidFill>
                  <a:srgbClr val="161F30"/>
                </a:solidFill>
                <a:ln w="14288">
                  <a:solidFill>
                    <a:srgbClr val="1E293B"/>
                  </a:solidFill>
                </a:ln>
                <a:effectLst>
                  <a:outerShdw blurRad="76200" dist="19050" dir="5400000" algn="ctr" rotWithShape="0">
                    <a:srgbClr val="0B0F19">
                      <a:alpha val="37500"/>
                    </a:srgbClr>
                  </a:outerShdw>
                </a:effectLst>
              </p:spPr>
            </p:sp>
            <p:sp>
              <p:nvSpPr>
                <p:cNvPr id="71" name="Rectangle 71"/>
                <p:cNvSpPr/>
                <p:nvPr/>
              </p:nvSpPr>
              <p:spPr>
                <a:xfrm>
                  <a:off x="8429625" y="3143250"/>
                  <a:ext cx="3190875" cy="47625"/>
                </a:xfrm>
                <a:prstGeom prst="roundRect">
                  <a:avLst>
                    <a:gd name="adj" fmla="val 40000"/>
                  </a:avLst>
                </a:prstGeom>
                <a:solidFill>
                  <a:srgbClr val="FB923C"/>
                </a:solidFill>
                <a:ln>
                  <a:noFill/>
                </a:ln>
                <a:effectLst>
                  <a:outerShdw blurRad="76200" dist="19050" dir="5400000" algn="ctr" rotWithShape="0">
                    <a:srgbClr val="0B0F19">
                      <a:alpha val="37500"/>
                    </a:srgbClr>
                  </a:outerShdw>
                </a:effectLst>
              </p:spPr>
            </p:sp>
            <p:sp>
              <p:nvSpPr>
                <p:cNvPr id="72" name="TextBox 72"/>
                <p:cNvSpPr txBox="1"/>
                <p:nvPr/>
              </p:nvSpPr>
              <p:spPr>
                <a:xfrm>
                  <a:off x="8606790" y="3410902"/>
                  <a:ext cx="1451698" cy="213360"/>
                </a:xfrm>
                <a:prstGeom prst="rect">
                  <a:avLst/>
                </a:prstGeom>
                <a:noFill/>
                <a:ln>
                  <a:noFill/>
                </a:ln>
                <a:effectLst>
                  <a:outerShdw blurRad="76200" dist="19050" dir="5400000" algn="ctr" rotWithShape="0">
                    <a:srgbClr val="0B0F19">
                      <a:alpha val="37500"/>
                    </a:srgbClr>
                  </a:outerShdw>
                </a:effectLst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050" b="1" dirty="0">
                      <a:solidFill>
                        <a:srgbClr val="F8FAFC"/>
                      </a:solidFill>
                      <a:latin typeface="Arial" panose="020B0604020202020204"/>
                      <a:ea typeface="微软雅黑" panose="020B0503020204020204" charset="-122"/>
                      <a:cs typeface="Arial" panose="020B0604020202020204"/>
                    </a:rPr>
                    <a:t>· 弹性故障自动兜底</a:t>
                  </a:r>
                  <a:endParaRPr lang="zh-CN" sz="1050" b="1" dirty="0">
                    <a:solidFill>
                      <a:srgbClr val="F8FAFC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endParaRPr>
                </a:p>
              </p:txBody>
            </p:sp>
            <p:sp>
              <p:nvSpPr>
                <p:cNvPr id="73" name="TextBox 73"/>
                <p:cNvSpPr txBox="1"/>
                <p:nvPr/>
              </p:nvSpPr>
              <p:spPr>
                <a:xfrm>
                  <a:off x="8607742" y="3628549"/>
                  <a:ext cx="2652022" cy="198120"/>
                </a:xfrm>
                <a:prstGeom prst="rect">
                  <a:avLst/>
                </a:prstGeom>
                <a:noFill/>
                <a:ln>
                  <a:noFill/>
                </a:ln>
                <a:effectLst>
                  <a:outerShdw blurRad="76200" dist="19050" dir="5400000" algn="ctr" rotWithShape="0">
                    <a:srgbClr val="0B0F19">
                      <a:alpha val="37500"/>
                    </a:srgbClr>
                  </a:outerShdw>
                </a:effectLst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975" dirty="0">
                      <a:solidFill>
                        <a:srgbClr val="94A3B8"/>
                      </a:solidFill>
                      <a:latin typeface="Arial" panose="020B0604020202020204"/>
                      <a:ea typeface="微软雅黑" panose="020B0503020204020204" charset="-122"/>
                      <a:cs typeface="Arial" panose="020B0604020202020204"/>
                    </a:rPr>
                    <a:t>当远程 AI 算法推理微服务由于网络或容器</a:t>
                  </a:r>
                  <a:endParaRPr lang="zh-CN" sz="975" dirty="0">
                    <a:solidFill>
                      <a:srgbClr val="94A3B8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endParaRPr>
                </a:p>
              </p:txBody>
            </p:sp>
            <p:sp>
              <p:nvSpPr>
                <p:cNvPr id="74" name="TextBox 74"/>
                <p:cNvSpPr txBox="1"/>
                <p:nvPr/>
              </p:nvSpPr>
              <p:spPr>
                <a:xfrm>
                  <a:off x="8607742" y="3838099"/>
                  <a:ext cx="2979539" cy="198120"/>
                </a:xfrm>
                <a:prstGeom prst="rect">
                  <a:avLst/>
                </a:prstGeom>
                <a:noFill/>
                <a:ln>
                  <a:noFill/>
                </a:ln>
                <a:effectLst>
                  <a:outerShdw blurRad="76200" dist="19050" dir="5400000" algn="ctr" rotWithShape="0">
                    <a:srgbClr val="0B0F19">
                      <a:alpha val="37500"/>
                    </a:srgbClr>
                  </a:outerShdw>
                </a:effectLst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975" dirty="0">
                      <a:solidFill>
                        <a:srgbClr val="94A3B8"/>
                      </a:solidFill>
                      <a:latin typeface="Arial" panose="020B0604020202020204"/>
                      <a:ea typeface="微软雅黑" panose="020B0503020204020204" charset="-122"/>
                      <a:cs typeface="Arial" panose="020B0604020202020204"/>
                    </a:rPr>
                    <a:t>故障断开时，系统无缝且自动调用 MySQL 历史</a:t>
                  </a:r>
                  <a:endParaRPr lang="zh-CN" sz="975" dirty="0">
                    <a:solidFill>
                      <a:srgbClr val="94A3B8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endParaRPr>
                </a:p>
              </p:txBody>
            </p:sp>
            <p:sp>
              <p:nvSpPr>
                <p:cNvPr id="75" name="TextBox 75"/>
                <p:cNvSpPr txBox="1"/>
                <p:nvPr/>
              </p:nvSpPr>
              <p:spPr>
                <a:xfrm>
                  <a:off x="8572817" y="4134644"/>
                  <a:ext cx="2872740" cy="198120"/>
                </a:xfrm>
                <a:prstGeom prst="rect">
                  <a:avLst/>
                </a:prstGeom>
                <a:noFill/>
                <a:ln>
                  <a:noFill/>
                </a:ln>
                <a:effectLst>
                  <a:outerShdw blurRad="76200" dist="19050" dir="5400000" algn="ctr" rotWithShape="0">
                    <a:srgbClr val="0B0F19">
                      <a:alpha val="37500"/>
                    </a:srgbClr>
                  </a:outerShdw>
                </a:effectLst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975" dirty="0">
                      <a:solidFill>
                        <a:srgbClr val="94A3B8"/>
                      </a:solidFill>
                      <a:latin typeface="Arial" panose="020B0604020202020204"/>
                      <a:ea typeface="微软雅黑" panose="020B0503020204020204" charset="-122"/>
                      <a:cs typeface="Arial" panose="020B0604020202020204"/>
                    </a:rPr>
                    <a:t>均值数据用作大屏 KPI 渲染兜底，防止挂起。</a:t>
                  </a:r>
                  <a:endParaRPr lang="zh-CN" sz="975" dirty="0">
                    <a:solidFill>
                      <a:srgbClr val="94A3B8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endParaRPr>
                </a:p>
              </p:txBody>
            </p:sp>
            <p:sp>
              <p:nvSpPr>
                <p:cNvPr id="76" name="TextBox 76"/>
                <p:cNvSpPr txBox="1"/>
                <p:nvPr/>
              </p:nvSpPr>
              <p:spPr>
                <a:xfrm>
                  <a:off x="8606790" y="4344352"/>
                  <a:ext cx="1290678" cy="213360"/>
                </a:xfrm>
                <a:prstGeom prst="rect">
                  <a:avLst/>
                </a:prstGeom>
                <a:noFill/>
                <a:ln>
                  <a:noFill/>
                </a:ln>
                <a:effectLst>
                  <a:outerShdw blurRad="76200" dist="19050" dir="5400000" algn="ctr" rotWithShape="0">
                    <a:srgbClr val="0B0F19">
                      <a:alpha val="37500"/>
                    </a:srgbClr>
                  </a:outerShdw>
                </a:effectLst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050" b="1" dirty="0">
                      <a:solidFill>
                        <a:srgbClr val="F8FAFC"/>
                      </a:solidFill>
                      <a:latin typeface="Arial" panose="020B0604020202020204"/>
                      <a:ea typeface="微软雅黑" panose="020B0503020204020204" charset="-122"/>
                      <a:cs typeface="Arial" panose="020B0604020202020204"/>
                    </a:rPr>
                    <a:t>· 标准规范化接入</a:t>
                  </a:r>
                  <a:endParaRPr lang="zh-CN" sz="1050" b="1" dirty="0">
                    <a:solidFill>
                      <a:srgbClr val="F8FAFC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endParaRPr>
                </a:p>
              </p:txBody>
            </p:sp>
            <p:sp>
              <p:nvSpPr>
                <p:cNvPr id="77" name="TextBox 77"/>
                <p:cNvSpPr txBox="1"/>
                <p:nvPr/>
              </p:nvSpPr>
              <p:spPr>
                <a:xfrm>
                  <a:off x="8607742" y="4561999"/>
                  <a:ext cx="3150418" cy="198120"/>
                </a:xfrm>
                <a:prstGeom prst="rect">
                  <a:avLst/>
                </a:prstGeom>
                <a:noFill/>
                <a:ln>
                  <a:noFill/>
                </a:ln>
                <a:effectLst>
                  <a:outerShdw blurRad="76200" dist="19050" dir="5400000" algn="ctr" rotWithShape="0">
                    <a:srgbClr val="0B0F19">
                      <a:alpha val="37500"/>
                    </a:srgbClr>
                  </a:outerShdw>
                </a:effectLst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975" dirty="0">
                      <a:solidFill>
                        <a:srgbClr val="94A3B8"/>
                      </a:solidFill>
                      <a:latin typeface="Arial" panose="020B0604020202020204"/>
                      <a:ea typeface="微软雅黑" panose="020B0503020204020204" charset="-122"/>
                      <a:cs typeface="Arial" panose="020B0604020202020204"/>
                    </a:rPr>
                    <a:t>提供标准 RESTful 及 WebSocket 通讯协议规范，</a:t>
                  </a:r>
                  <a:endParaRPr lang="zh-CN" sz="975" dirty="0">
                    <a:solidFill>
                      <a:srgbClr val="94A3B8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endParaRPr>
                </a:p>
              </p:txBody>
            </p:sp>
            <p:sp>
              <p:nvSpPr>
                <p:cNvPr id="78" name="TextBox 78"/>
                <p:cNvSpPr txBox="1"/>
                <p:nvPr/>
              </p:nvSpPr>
              <p:spPr>
                <a:xfrm>
                  <a:off x="8607742" y="4771549"/>
                  <a:ext cx="2936819" cy="198120"/>
                </a:xfrm>
                <a:prstGeom prst="rect">
                  <a:avLst/>
                </a:prstGeom>
                <a:noFill/>
                <a:ln>
                  <a:noFill/>
                </a:ln>
                <a:effectLst>
                  <a:outerShdw blurRad="76200" dist="19050" dir="5400000" algn="ctr" rotWithShape="0">
                    <a:srgbClr val="0B0F19">
                      <a:alpha val="37500"/>
                    </a:srgbClr>
                  </a:outerShdw>
                </a:effectLst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975" dirty="0">
                      <a:solidFill>
                        <a:srgbClr val="94A3B8"/>
                      </a:solidFill>
                      <a:latin typeface="Arial" panose="020B0604020202020204"/>
                      <a:ea typeface="微软雅黑" panose="020B0503020204020204" charset="-122"/>
                      <a:cs typeface="Arial" panose="020B0604020202020204"/>
                    </a:rPr>
                    <a:t>极易与企业已有的 ERP / WMS 完成快速对接。</a:t>
                  </a:r>
                  <a:endParaRPr lang="zh-CN" sz="975" dirty="0">
                    <a:solidFill>
                      <a:srgbClr val="94A3B8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endParaRPr>
                </a:p>
              </p:txBody>
            </p:sp>
            <p:sp>
              <p:nvSpPr>
                <p:cNvPr id="79" name="Line 79"/>
                <p:cNvSpPr/>
                <p:nvPr/>
              </p:nvSpPr>
              <p:spPr>
                <a:xfrm>
                  <a:off x="8620125" y="5238750"/>
                  <a:ext cx="280987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09875" h="9525">
                      <a:moveTo>
                        <a:pt x="0" y="0"/>
                      </a:moveTo>
                      <a:lnTo>
                        <a:pt x="2809875" y="0"/>
                      </a:lnTo>
                    </a:path>
                  </a:pathLst>
                </a:custGeom>
                <a:noFill/>
                <a:ln w="9525">
                  <a:solidFill>
                    <a:srgbClr val="1E293B"/>
                  </a:solidFill>
                </a:ln>
              </p:spPr>
            </p:sp>
            <p:sp>
              <p:nvSpPr>
                <p:cNvPr id="80" name="TextBox 80"/>
                <p:cNvSpPr txBox="1"/>
                <p:nvPr/>
              </p:nvSpPr>
              <p:spPr>
                <a:xfrm>
                  <a:off x="8608695" y="5379720"/>
                  <a:ext cx="574929" cy="182880"/>
                </a:xfrm>
                <a:prstGeom prst="rect">
                  <a:avLst/>
                </a:prstGeom>
                <a:noFill/>
                <a:ln>
                  <a:noFill/>
                </a:ln>
                <a:effectLst>
                  <a:outerShdw blurRad="76200" dist="19050" dir="5400000" algn="ctr" rotWithShape="0">
                    <a:srgbClr val="0B0F19">
                      <a:alpha val="37500"/>
                    </a:srgbClr>
                  </a:outerShdw>
                </a:effectLst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900" b="1" dirty="0">
                      <a:solidFill>
                        <a:srgbClr val="FB923C"/>
                      </a:solidFill>
                      <a:latin typeface="Arial" panose="020B0604020202020204"/>
                      <a:ea typeface="微软雅黑" panose="020B0503020204020204" charset="-122"/>
                      <a:cs typeface="Arial" panose="020B0604020202020204"/>
                    </a:rPr>
                    <a:t>交付物：</a:t>
                  </a:r>
                  <a:endParaRPr lang="zh-CN" sz="900" b="1" dirty="0">
                    <a:solidFill>
                      <a:srgbClr val="FB923C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endParaRPr>
                </a:p>
              </p:txBody>
            </p:sp>
            <p:sp>
              <p:nvSpPr>
                <p:cNvPr id="81" name="TextBox 81"/>
                <p:cNvSpPr txBox="1"/>
                <p:nvPr/>
              </p:nvSpPr>
              <p:spPr>
                <a:xfrm>
                  <a:off x="8608695" y="5598795"/>
                  <a:ext cx="2697766" cy="182880"/>
                </a:xfrm>
                <a:prstGeom prst="rect">
                  <a:avLst/>
                </a:prstGeom>
                <a:noFill/>
                <a:ln>
                  <a:noFill/>
                </a:ln>
                <a:effectLst>
                  <a:outerShdw blurRad="76200" dist="19050" dir="5400000" algn="ctr" rotWithShape="0">
                    <a:srgbClr val="0B0F19">
                      <a:alpha val="37500"/>
                    </a:srgbClr>
                  </a:outerShdw>
                </a:effectLst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900" dirty="0">
                      <a:solidFill>
                        <a:srgbClr val="94A3B8"/>
                      </a:solidFill>
                      <a:latin typeface="Arial" panose="020B0604020202020204"/>
                      <a:ea typeface="微软雅黑" panose="020B0503020204020204" charset="-122"/>
                      <a:cs typeface="Arial" panose="020B0604020202020204"/>
                    </a:rPr>
                    <a:t>Swagger API 文档、Docker一键拉起部署指南</a:t>
                  </a:r>
                  <a:endParaRPr lang="zh-CN" sz="900" dirty="0">
                    <a:solidFill>
                      <a:srgbClr val="94A3B8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endParaRPr>
                </a:p>
              </p:txBody>
            </p:sp>
          </p:grpSp>
        </p:grpSp>
      </p:grpSp>
      <p:grpSp>
        <p:nvGrpSpPr>
          <p:cNvPr id="88" name="Group 88"/>
          <p:cNvGrpSpPr/>
          <p:nvPr/>
        </p:nvGrpSpPr>
        <p:grpSpPr>
          <a:xfrm>
            <a:off x="561975" y="6381750"/>
            <a:ext cx="11068050" cy="309562"/>
            <a:chOff x="561975" y="6381750"/>
            <a:chExt cx="11068050" cy="309562"/>
          </a:xfrm>
        </p:grpSpPr>
        <p:sp>
          <p:nvSpPr>
            <p:cNvPr id="85" name="Line 85"/>
            <p:cNvSpPr/>
            <p:nvPr/>
          </p:nvSpPr>
          <p:spPr>
            <a:xfrm>
              <a:off x="571500" y="638175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rgbClr val="1E293B"/>
              </a:solidFill>
            </a:ln>
          </p:spPr>
        </p:sp>
        <p:sp>
          <p:nvSpPr>
            <p:cNvPr id="86" name="TextBox 86"/>
            <p:cNvSpPr txBox="1"/>
            <p:nvPr/>
          </p:nvSpPr>
          <p:spPr>
            <a:xfrm>
              <a:off x="561975" y="6538912"/>
              <a:ext cx="3787140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50" dirty="0">
                  <a:solidFill>
                    <a:srgbClr val="94A3B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管理工具：使用 Git 进行版本管理，使用 Redmine 或禅道作为迭代工单系统。</a:t>
              </a:r>
              <a:endParaRPr lang="zh-CN" sz="750" dirty="0">
                <a:solidFill>
                  <a:srgbClr val="94A3B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87" name="TextBox 87"/>
            <p:cNvSpPr txBox="1"/>
            <p:nvPr/>
          </p:nvSpPr>
          <p:spPr>
            <a:xfrm>
              <a:off x="9108043" y="6538912"/>
              <a:ext cx="2521982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750" dirty="0">
                  <a:solidFill>
                    <a:srgbClr val="94A3B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AI-Enabled Supply Chain Visualization Dashboard</a:t>
              </a:r>
              <a:endParaRPr lang="zh-CN" sz="750" dirty="0">
                <a:solidFill>
                  <a:srgbClr val="94A3B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etch(across)">
                                      <p:cBhvr>
                                        <p:cTn id="11" dur="4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84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0B0F19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rgbClr val="1E3A8A">
                    <a:alpha val="20000"/>
                  </a:srgbClr>
                </a:gs>
                <a:gs pos="100000">
                  <a:srgbClr val="0B0F19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</p:sp>
        <p:sp>
          <p:nvSpPr>
            <p:cNvPr id="4" name="Freeform 4"/>
            <p:cNvSpPr/>
            <p:nvPr/>
          </p:nvSpPr>
          <p:spPr>
            <a:xfrm>
              <a:off x="571500" y="85725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solidFill>
              <a:srgbClr val="000000"/>
            </a:solidFill>
            <a:ln w="14288">
              <a:solidFill>
                <a:srgbClr val="1E293B"/>
              </a:solidFill>
            </a:ln>
          </p:spPr>
        </p:sp>
      </p:grpSp>
      <p:grpSp>
        <p:nvGrpSpPr>
          <p:cNvPr id="8" name="Group 8"/>
          <p:cNvGrpSpPr/>
          <p:nvPr/>
        </p:nvGrpSpPr>
        <p:grpSpPr>
          <a:xfrm>
            <a:off x="560070" y="331470"/>
            <a:ext cx="11071860" cy="182880"/>
            <a:chOff x="560070" y="331470"/>
            <a:chExt cx="11071860" cy="182880"/>
          </a:xfrm>
        </p:grpSpPr>
        <p:sp>
          <p:nvSpPr>
            <p:cNvPr id="6" name="TextBox 6"/>
            <p:cNvSpPr txBox="1"/>
            <p:nvPr/>
          </p:nvSpPr>
          <p:spPr>
            <a:xfrm>
              <a:off x="560070" y="331470"/>
              <a:ext cx="1989606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94A3B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总结与问答 · CONCLUSION &amp; QA</a:t>
              </a:r>
              <a:endParaRPr lang="zh-CN" sz="900" b="1" dirty="0">
                <a:solidFill>
                  <a:srgbClr val="94A3B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0912411" y="331470"/>
              <a:ext cx="71951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94A3B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Page 8 of 8</a:t>
              </a:r>
              <a:endParaRPr lang="zh-CN" sz="900" dirty="0">
                <a:solidFill>
                  <a:srgbClr val="94A3B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4241661" y="1350169"/>
            <a:ext cx="3708678" cy="1107281"/>
            <a:chOff x="4241661" y="1350169"/>
            <a:chExt cx="3708678" cy="1107281"/>
          </a:xfrm>
        </p:grpSpPr>
        <p:sp>
          <p:nvSpPr>
            <p:cNvPr id="9" name="TextBox 9"/>
            <p:cNvSpPr txBox="1"/>
            <p:nvPr/>
          </p:nvSpPr>
          <p:spPr>
            <a:xfrm>
              <a:off x="4241661" y="1350169"/>
              <a:ext cx="3708678" cy="685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375" b="1" dirty="0">
                  <a:gradFill>
                    <a:gsLst>
                      <a:gs pos="0">
                        <a:srgbClr val="4FACFE"/>
                      </a:gs>
                      <a:gs pos="100000">
                        <a:srgbClr val="00F2FE"/>
                      </a:gs>
                    </a:gsLst>
                    <a:lin ang="0" scaled="1"/>
                  </a:gra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谢谢观看 / Q&amp;A</a:t>
              </a:r>
              <a:endParaRPr lang="zh-CN" sz="3375" b="1" dirty="0">
                <a:gradFill>
                  <a:gsLst>
                    <a:gs pos="0">
                      <a:srgbClr val="4FACFE"/>
                    </a:gs>
                    <a:gs pos="100000">
                      <a:srgbClr val="00F2FE"/>
                    </a:gs>
                  </a:gsLst>
                  <a:lin ang="0" scaled="1"/>
                </a:gra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4278916" y="2091690"/>
              <a:ext cx="3634168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F8FAFC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系统运行平稳，一键部署就绪</a:t>
              </a:r>
              <a:endParaRPr lang="zh-CN" sz="1800" b="1" dirty="0">
                <a:solidFill>
                  <a:srgbClr val="F8FAFC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1524000" y="2762250"/>
            <a:ext cx="9144000" cy="1905000"/>
            <a:chOff x="1524000" y="2762250"/>
            <a:chExt cx="9144000" cy="1905000"/>
          </a:xfrm>
        </p:grpSpPr>
        <p:grpSp>
          <p:nvGrpSpPr>
            <p:cNvPr id="21" name="Group 21"/>
            <p:cNvGrpSpPr/>
            <p:nvPr/>
          </p:nvGrpSpPr>
          <p:grpSpPr>
            <a:xfrm>
              <a:off x="1524000" y="2762250"/>
              <a:ext cx="4191000" cy="1905000"/>
              <a:chOff x="1524000" y="2762250"/>
              <a:chExt cx="4191000" cy="1905000"/>
            </a:xfrm>
            <a:effectLst>
              <a:outerShdw blurRad="76200" dist="19050" dir="5400000" algn="ctr" rotWithShape="0">
                <a:srgbClr val="0B0F19">
                  <a:alpha val="37500"/>
                </a:srgbClr>
              </a:outerShdw>
            </a:effectLst>
          </p:grpSpPr>
          <p:sp>
            <p:nvSpPr>
              <p:cNvPr id="12" name="Rectangle 12"/>
              <p:cNvSpPr/>
              <p:nvPr/>
            </p:nvSpPr>
            <p:spPr>
              <a:xfrm>
                <a:off x="1524000" y="2762250"/>
                <a:ext cx="4191000" cy="1905000"/>
              </a:xfrm>
              <a:prstGeom prst="roundRect">
                <a:avLst>
                  <a:gd name="adj" fmla="val 6000"/>
                </a:avLst>
              </a:prstGeom>
              <a:solidFill>
                <a:srgbClr val="161F30"/>
              </a:solidFill>
              <a:ln w="14288">
                <a:solidFill>
                  <a:srgbClr val="1E293B"/>
                </a:solidFill>
              </a:ln>
              <a:effectLst>
                <a:outerShdw blurRad="76200" dist="19050" dir="5400000" algn="ctr" rotWithShape="0">
                  <a:srgbClr val="0B0F19">
                    <a:alpha val="37500"/>
                  </a:srgbClr>
                </a:outerShdw>
              </a:effectLst>
            </p:spPr>
          </p:sp>
          <p:sp>
            <p:nvSpPr>
              <p:cNvPr id="13" name="Rectangle 13"/>
              <p:cNvSpPr/>
              <p:nvPr/>
            </p:nvSpPr>
            <p:spPr>
              <a:xfrm>
                <a:off x="1524000" y="2762250"/>
                <a:ext cx="4191000" cy="57150"/>
              </a:xfrm>
              <a:prstGeom prst="roundRect">
                <a:avLst>
                  <a:gd name="adj" fmla="val 50000"/>
                </a:avLst>
              </a:prstGeom>
              <a:solidFill>
                <a:srgbClr val="4FACFE"/>
              </a:solidFill>
              <a:ln>
                <a:noFill/>
              </a:ln>
              <a:effectLst>
                <a:outerShdw blurRad="76200" dist="19050" dir="5400000" algn="ctr" rotWithShape="0">
                  <a:srgbClr val="0B0F19">
                    <a:alpha val="37500"/>
                  </a:srgbClr>
                </a:outerShdw>
              </a:effectLst>
            </p:spPr>
          </p:sp>
          <p:grpSp>
            <p:nvGrpSpPr>
              <p:cNvPr id="16" name="Group 16"/>
              <p:cNvGrpSpPr/>
              <p:nvPr/>
            </p:nvGrpSpPr>
            <p:grpSpPr>
              <a:xfrm>
                <a:off x="1843088" y="3081338"/>
                <a:ext cx="200025" cy="200025"/>
                <a:chOff x="1843088" y="3081338"/>
                <a:chExt cx="200025" cy="200025"/>
              </a:xfrm>
            </p:grpSpPr>
            <p:sp>
              <p:nvSpPr>
                <p:cNvPr id="14" name="Freeform 14"/>
                <p:cNvSpPr/>
                <p:nvPr/>
              </p:nvSpPr>
              <p:spPr>
                <a:xfrm>
                  <a:off x="1843088" y="3081338"/>
                  <a:ext cx="200025" cy="200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0025" h="200025">
                      <a:moveTo>
                        <a:pt x="0" y="100012"/>
                      </a:moveTo>
                      <a:cubicBezTo>
                        <a:pt x="0" y="155248"/>
                        <a:pt x="44777" y="200025"/>
                        <a:pt x="100012" y="200025"/>
                      </a:cubicBezTo>
                      <a:cubicBezTo>
                        <a:pt x="155248" y="200025"/>
                        <a:pt x="200025" y="155248"/>
                        <a:pt x="200025" y="100012"/>
                      </a:cubicBezTo>
                      <a:cubicBezTo>
                        <a:pt x="200025" y="44777"/>
                        <a:pt x="155248" y="0"/>
                        <a:pt x="100012" y="0"/>
                      </a:cubicBezTo>
                      <a:cubicBezTo>
                        <a:pt x="44777" y="0"/>
                        <a:pt x="0" y="44777"/>
                        <a:pt x="0" y="100012"/>
                      </a:cubicBezTo>
                    </a:path>
                  </a:pathLst>
                </a:custGeom>
                <a:noFill/>
                <a:ln w="19050">
                  <a:solidFill>
                    <a:srgbClr val="4FACFE"/>
                  </a:solidFill>
                </a:ln>
                <a:effectLst>
                  <a:outerShdw blurRad="76200" dist="19050" dir="5400000" algn="ctr" rotWithShape="0">
                    <a:srgbClr val="0B0F19">
                      <a:alpha val="37500"/>
                    </a:srgbClr>
                  </a:outerShdw>
                </a:effectLst>
              </p:spPr>
            </p:sp>
            <p:sp>
              <p:nvSpPr>
                <p:cNvPr id="15" name="Freeform 15"/>
                <p:cNvSpPr/>
                <p:nvPr/>
              </p:nvSpPr>
              <p:spPr>
                <a:xfrm>
                  <a:off x="1909762" y="3159125"/>
                  <a:ext cx="66675" cy="44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6675" h="44450">
                      <a:moveTo>
                        <a:pt x="0" y="22225"/>
                      </a:moveTo>
                      <a:lnTo>
                        <a:pt x="22225" y="44450"/>
                      </a:lnTo>
                      <a:lnTo>
                        <a:pt x="66675" y="0"/>
                      </a:lnTo>
                    </a:path>
                  </a:pathLst>
                </a:custGeom>
                <a:noFill/>
                <a:ln w="19050">
                  <a:solidFill>
                    <a:srgbClr val="4FACFE"/>
                  </a:solidFill>
                </a:ln>
                <a:effectLst>
                  <a:outerShdw blurRad="76200" dist="19050" dir="5400000" algn="ctr" rotWithShape="0">
                    <a:srgbClr val="0B0F19">
                      <a:alpha val="37500"/>
                    </a:srgbClr>
                  </a:outerShdw>
                </a:effectLst>
              </p:spPr>
            </p:sp>
          </p:grpSp>
          <p:sp>
            <p:nvSpPr>
              <p:cNvPr id="17" name="TextBox 17"/>
              <p:cNvSpPr txBox="1"/>
              <p:nvPr/>
            </p:nvSpPr>
            <p:spPr>
              <a:xfrm>
                <a:off x="2154555" y="3092768"/>
                <a:ext cx="1483471" cy="27432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19050" dir="5400000" algn="ctr" rotWithShape="0">
                  <a:srgbClr val="0B0F19">
                    <a:alpha val="37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rgbClr val="F8FAFC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容器化环境完备</a:t>
                </a:r>
                <a:endParaRPr lang="zh-CN" sz="1350" b="1" dirty="0">
                  <a:solidFill>
                    <a:srgbClr val="F8FAFC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1796415" y="3553778"/>
                <a:ext cx="3438763" cy="21336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19050" dir="5400000" algn="ctr" rotWithShape="0">
                  <a:srgbClr val="0B0F19">
                    <a:alpha val="37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94A3B8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系统全量环境均已实现 Docker Compose 容器化。</a:t>
                </a:r>
                <a:endParaRPr lang="zh-CN" sz="1050" dirty="0">
                  <a:solidFill>
                    <a:srgbClr val="94A3B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1796415" y="3782378"/>
                <a:ext cx="3216402" cy="21336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19050" dir="5400000" algn="ctr" rotWithShape="0">
                  <a:srgbClr val="0B0F19">
                    <a:alpha val="37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94A3B8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包含 FastAPI 后端、Vue 前端、MySQL、Redis</a:t>
                </a:r>
                <a:endParaRPr lang="zh-CN" sz="1050" dirty="0">
                  <a:solidFill>
                    <a:srgbClr val="94A3B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1796415" y="4010978"/>
                <a:ext cx="3316081" cy="21336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19050" dir="5400000" algn="ctr" rotWithShape="0">
                  <a:srgbClr val="0B0F19">
                    <a:alpha val="37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94A3B8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与 AI 推理服务，支持生产环境一键式无缝拉起。</a:t>
                </a:r>
                <a:endParaRPr lang="zh-CN" sz="1050" dirty="0">
                  <a:solidFill>
                    <a:srgbClr val="94A3B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  <p:grpSp>
          <p:nvGrpSpPr>
            <p:cNvPr id="31" name="Group 31"/>
            <p:cNvGrpSpPr/>
            <p:nvPr/>
          </p:nvGrpSpPr>
          <p:grpSpPr>
            <a:xfrm>
              <a:off x="6477000" y="2762250"/>
              <a:ext cx="4191000" cy="1905000"/>
              <a:chOff x="6477000" y="2762250"/>
              <a:chExt cx="4191000" cy="1905000"/>
            </a:xfrm>
            <a:effectLst>
              <a:outerShdw blurRad="76200" dist="19050" dir="5400000" algn="ctr" rotWithShape="0">
                <a:srgbClr val="0B0F19">
                  <a:alpha val="37500"/>
                </a:srgbClr>
              </a:outerShdw>
            </a:effectLst>
          </p:grpSpPr>
          <p:sp>
            <p:nvSpPr>
              <p:cNvPr id="22" name="Rectangle 22"/>
              <p:cNvSpPr/>
              <p:nvPr/>
            </p:nvSpPr>
            <p:spPr>
              <a:xfrm>
                <a:off x="6477000" y="2762250"/>
                <a:ext cx="4191000" cy="1905000"/>
              </a:xfrm>
              <a:prstGeom prst="roundRect">
                <a:avLst>
                  <a:gd name="adj" fmla="val 6000"/>
                </a:avLst>
              </a:prstGeom>
              <a:solidFill>
                <a:srgbClr val="161F30"/>
              </a:solidFill>
              <a:ln w="14288">
                <a:solidFill>
                  <a:srgbClr val="1E293B"/>
                </a:solidFill>
              </a:ln>
              <a:effectLst>
                <a:outerShdw blurRad="76200" dist="19050" dir="5400000" algn="ctr" rotWithShape="0">
                  <a:srgbClr val="0B0F19">
                    <a:alpha val="37500"/>
                  </a:srgbClr>
                </a:outerShdw>
              </a:effectLst>
            </p:spPr>
          </p:sp>
          <p:sp>
            <p:nvSpPr>
              <p:cNvPr id="23" name="Rectangle 23"/>
              <p:cNvSpPr/>
              <p:nvPr/>
            </p:nvSpPr>
            <p:spPr>
              <a:xfrm>
                <a:off x="6477000" y="2762250"/>
                <a:ext cx="4191000" cy="57150"/>
              </a:xfrm>
              <a:prstGeom prst="roundRect">
                <a:avLst>
                  <a:gd name="adj" fmla="val 50000"/>
                </a:avLst>
              </a:prstGeom>
              <a:solidFill>
                <a:srgbClr val="91CC75"/>
              </a:solidFill>
              <a:ln>
                <a:noFill/>
              </a:ln>
              <a:effectLst>
                <a:outerShdw blurRad="76200" dist="19050" dir="5400000" algn="ctr" rotWithShape="0">
                  <a:srgbClr val="0B0F19">
                    <a:alpha val="37500"/>
                  </a:srgbClr>
                </a:outerShdw>
              </a:effectLst>
            </p:spPr>
          </p:sp>
          <p:grpSp>
            <p:nvGrpSpPr>
              <p:cNvPr id="26" name="Group 26"/>
              <p:cNvGrpSpPr/>
              <p:nvPr/>
            </p:nvGrpSpPr>
            <p:grpSpPr>
              <a:xfrm>
                <a:off x="6796088" y="3081338"/>
                <a:ext cx="200025" cy="200025"/>
                <a:chOff x="6796088" y="3081338"/>
                <a:chExt cx="200025" cy="200025"/>
              </a:xfrm>
            </p:grpSpPr>
            <p:sp>
              <p:nvSpPr>
                <p:cNvPr id="24" name="Freeform 24"/>
                <p:cNvSpPr/>
                <p:nvPr/>
              </p:nvSpPr>
              <p:spPr>
                <a:xfrm>
                  <a:off x="6796088" y="3081338"/>
                  <a:ext cx="200025" cy="200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0025" h="200025">
                      <a:moveTo>
                        <a:pt x="0" y="100012"/>
                      </a:moveTo>
                      <a:cubicBezTo>
                        <a:pt x="0" y="155248"/>
                        <a:pt x="44777" y="200025"/>
                        <a:pt x="100012" y="200025"/>
                      </a:cubicBezTo>
                      <a:cubicBezTo>
                        <a:pt x="155248" y="200025"/>
                        <a:pt x="200025" y="155248"/>
                        <a:pt x="200025" y="100012"/>
                      </a:cubicBezTo>
                      <a:cubicBezTo>
                        <a:pt x="200025" y="44777"/>
                        <a:pt x="155248" y="0"/>
                        <a:pt x="100012" y="0"/>
                      </a:cubicBezTo>
                      <a:cubicBezTo>
                        <a:pt x="44777" y="0"/>
                        <a:pt x="0" y="44777"/>
                        <a:pt x="0" y="100012"/>
                      </a:cubicBezTo>
                    </a:path>
                  </a:pathLst>
                </a:custGeom>
                <a:noFill/>
                <a:ln w="19050">
                  <a:solidFill>
                    <a:srgbClr val="91CC75"/>
                  </a:solidFill>
                </a:ln>
                <a:effectLst>
                  <a:outerShdw blurRad="76200" dist="19050" dir="5400000" algn="ctr" rotWithShape="0">
                    <a:srgbClr val="0B0F19">
                      <a:alpha val="37500"/>
                    </a:srgbClr>
                  </a:outerShdw>
                </a:effectLst>
              </p:spPr>
            </p:sp>
            <p:sp>
              <p:nvSpPr>
                <p:cNvPr id="25" name="Freeform 25"/>
                <p:cNvSpPr/>
                <p:nvPr/>
              </p:nvSpPr>
              <p:spPr>
                <a:xfrm>
                  <a:off x="6862762" y="3159125"/>
                  <a:ext cx="66675" cy="44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6675" h="44450">
                      <a:moveTo>
                        <a:pt x="0" y="22225"/>
                      </a:moveTo>
                      <a:lnTo>
                        <a:pt x="22225" y="44450"/>
                      </a:lnTo>
                      <a:lnTo>
                        <a:pt x="66675" y="0"/>
                      </a:lnTo>
                    </a:path>
                  </a:pathLst>
                </a:custGeom>
                <a:noFill/>
                <a:ln w="19050">
                  <a:solidFill>
                    <a:srgbClr val="91CC75"/>
                  </a:solidFill>
                </a:ln>
                <a:effectLst>
                  <a:outerShdw blurRad="76200" dist="19050" dir="5400000" algn="ctr" rotWithShape="0">
                    <a:srgbClr val="0B0F19">
                      <a:alpha val="37500"/>
                    </a:srgbClr>
                  </a:outerShdw>
                </a:effectLst>
              </p:spPr>
            </p:sp>
          </p:grpSp>
          <p:sp>
            <p:nvSpPr>
              <p:cNvPr id="27" name="TextBox 27"/>
              <p:cNvSpPr txBox="1"/>
              <p:nvPr/>
            </p:nvSpPr>
            <p:spPr>
              <a:xfrm>
                <a:off x="7107555" y="3092768"/>
                <a:ext cx="1483471" cy="27432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19050" dir="5400000" algn="ctr" rotWithShape="0">
                  <a:srgbClr val="0B0F19">
                    <a:alpha val="37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rgbClr val="F8FAFC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标准化业务集成</a:t>
                </a:r>
                <a:endParaRPr lang="zh-CN" sz="1350" b="1" dirty="0">
                  <a:solidFill>
                    <a:srgbClr val="F8FAFC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6749415" y="3553778"/>
                <a:ext cx="2810018" cy="21336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19050" dir="5400000" algn="ctr" rotWithShape="0">
                  <a:srgbClr val="0B0F19">
                    <a:alpha val="37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94A3B8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提供符合 RFC 规范的 RESTful API 接口，</a:t>
                </a:r>
                <a:endParaRPr lang="zh-CN" sz="1050" dirty="0">
                  <a:solidFill>
                    <a:srgbClr val="94A3B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6749415" y="3782378"/>
                <a:ext cx="3208734" cy="21336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19050" dir="5400000" algn="ctr" rotWithShape="0">
                  <a:srgbClr val="0B0F19">
                    <a:alpha val="37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94A3B8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及标准的 WebSocket 异步广播推送协议规范。</a:t>
                </a:r>
                <a:endParaRPr lang="zh-CN" sz="1050" dirty="0">
                  <a:solidFill>
                    <a:srgbClr val="94A3B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6749415" y="4010978"/>
                <a:ext cx="3162729" cy="21336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19050" dir="5400000" algn="ctr" rotWithShape="0">
                  <a:srgbClr val="0B0F19">
                    <a:alpha val="37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94A3B8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极易与企业已有的 ERP / WMS 完成快速对接。</a:t>
                </a:r>
                <a:endParaRPr lang="zh-CN" sz="1050" dirty="0">
                  <a:solidFill>
                    <a:srgbClr val="94A3B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</p:grpSp>
      <p:grpSp>
        <p:nvGrpSpPr>
          <p:cNvPr id="35" name="Group 35"/>
          <p:cNvGrpSpPr/>
          <p:nvPr/>
        </p:nvGrpSpPr>
        <p:grpSpPr>
          <a:xfrm>
            <a:off x="3238500" y="5000625"/>
            <a:ext cx="5715000" cy="571500"/>
            <a:chOff x="3238500" y="5000625"/>
            <a:chExt cx="5715000" cy="571500"/>
          </a:xfrm>
        </p:grpSpPr>
        <p:sp>
          <p:nvSpPr>
            <p:cNvPr id="33" name="Rectangle 33"/>
            <p:cNvSpPr/>
            <p:nvPr/>
          </p:nvSpPr>
          <p:spPr>
            <a:xfrm>
              <a:off x="3238500" y="5000625"/>
              <a:ext cx="5715000" cy="571500"/>
            </a:xfrm>
            <a:prstGeom prst="roundRect">
              <a:avLst>
                <a:gd name="adj" fmla="val 50000"/>
              </a:avLst>
            </a:prstGeom>
            <a:solidFill>
              <a:srgbClr val="161F30"/>
            </a:solidFill>
            <a:ln w="9525">
              <a:solidFill>
                <a:srgbClr val="91CC75"/>
              </a:solidFill>
              <a:prstDash val="dash"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4794250" y="5158740"/>
              <a:ext cx="2603500" cy="2768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91CC75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部署网址：</a:t>
              </a:r>
              <a:r>
                <a:rPr lang="en-US" altLang="zh-CN" sz="1800" b="1" dirty="0">
                  <a:solidFill>
                    <a:srgbClr val="91CC75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69.164.252.96</a:t>
              </a:r>
              <a:endParaRPr lang="en-US" altLang="zh-CN" sz="1800" b="1" dirty="0">
                <a:solidFill>
                  <a:srgbClr val="91CC75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561975" y="6381750"/>
            <a:ext cx="11068050" cy="309562"/>
            <a:chOff x="561975" y="6381750"/>
            <a:chExt cx="11068050" cy="309562"/>
          </a:xfrm>
        </p:grpSpPr>
        <p:sp>
          <p:nvSpPr>
            <p:cNvPr id="36" name="Line 36"/>
            <p:cNvSpPr/>
            <p:nvPr/>
          </p:nvSpPr>
          <p:spPr>
            <a:xfrm>
              <a:off x="571500" y="638175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rgbClr val="1E293B"/>
              </a:solidFill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561975" y="6538912"/>
              <a:ext cx="2745105" cy="11493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50" dirty="0">
                  <a:solidFill>
                    <a:srgbClr val="94A3B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汇报单位：</a:t>
              </a:r>
              <a:r>
                <a:rPr lang="zh-CN" sz="750" dirty="0">
                  <a:solidFill>
                    <a:srgbClr val="94A3B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软件工程开发小组 | 蔡子濠、田锦城、闫若彤、虞诗颢</a:t>
              </a:r>
              <a:endParaRPr lang="zh-CN" sz="750" dirty="0">
                <a:solidFill>
                  <a:srgbClr val="94A3B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9108043" y="6538912"/>
              <a:ext cx="2521982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750" dirty="0">
                  <a:solidFill>
                    <a:srgbClr val="94A3B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AI-Enabled Supply Chain Visualization Dashboard</a:t>
              </a:r>
              <a:endParaRPr lang="zh-CN" sz="750" dirty="0">
                <a:solidFill>
                  <a:srgbClr val="94A3B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9" presetClass="entr" presetSubtype="5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5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32" grpId="0"/>
      <p:bldP spid="35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4180</Words>
  <Application>WPS 演示</Application>
  <PresentationFormat>On-screen Show (4:3)</PresentationFormat>
  <Paragraphs>448</Paragraphs>
  <Slides>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6" baseType="lpstr">
      <vt:lpstr>Arial</vt:lpstr>
      <vt:lpstr>宋体</vt:lpstr>
      <vt:lpstr>Wingdings</vt:lpstr>
      <vt:lpstr>Arial</vt:lpstr>
      <vt:lpstr>微软雅黑</vt:lpstr>
      <vt:lpstr>Arial Unicode MS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田锦城</cp:lastModifiedBy>
  <cp:revision>4</cp:revision>
  <dcterms:created xsi:type="dcterms:W3CDTF">2013-01-27T09:14:00Z</dcterms:created>
  <dcterms:modified xsi:type="dcterms:W3CDTF">2026-06-21T12:16:20Z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BBA30B3DD39149E1B242AFAAE15A3A89_12</vt:lpwstr>
  </property>
  <property fmtid="{D5CDD505-2E9C-101B-9397-08002B2CF9AE}" pid="3" name="KSOProductBuildVer">
    <vt:lpwstr>2052-12.1.0.24034</vt:lpwstr>
  </property>
</Properties>
</file>