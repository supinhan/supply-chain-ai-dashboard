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大家好，欢迎参加本次项目启动会。我是今天的宣讲人。今天我们正式启动 AI 赋能企业供应链可视化分析系统的 MVP 开发阶段。本次启动会的目标是让开发团队和评审人员对 MVP 阶段的目标、范围和技术路线完全对齐。整个 MVP 开发周期为一个月，我们将构建一个从数据回放到 AI 风险预警再到可视化大屏的完整闭环演示系统。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来看项目背景。当前供应链管理面临三大痛点：状态不可见——订单流和物流状态缺乏实时监控手段，风险识别滞后——异常订单依赖人工审核响应延迟大，演示环境搭建复杂——缺乏一键部署方案。我们的系统定位是轻量级供应链可视化与智能预警系统，MVP 阶段使用 Kaggle 开源数据集替代真实业务数据，通过构建数据回放引擎模拟实时高并发数据流。最终目标是实现从数据产生到后端接收、AI 判定再到底层前端预警的完整闭环。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核心业务目标可以概括为三个关键词。第一，数据流动可见——将静态数据集进行时序化回放，前端大屏实时展示动态刷新的订单流和物流状态。第二，智能风险阻断——建立基于机器学习的风险预警模型，毫秒级识别异常订单，当风险概率超过百分之八十五时主动推送告警。第三，闭环演示交付——形成完整的数据链路闭环，支撑最终的项目演示与答辩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接下来看产品核心模块。MVP 阶段包含三大功能模块。模块一是数据回放引擎，负责从 CSV 读取数据按倍率注入后端 API，对应用例 UC-01。模块二是 AI 智能预警引擎，负责加载预训练模型进行在线推理，当风险超过阈值时自动触发告警推送，对应用例 UC-02 和 UC-03。模块三是可视化监控大屏，包含全局 KPI 指标盘、物流热力地图、实时预警滚动播报和历史趋势折线图，对应用例 UC-04 到 UC-07。三大模块通过 HTTP REST 和 WebSocket 协议串联形成完整业务闭环。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来看系统总体架构。我们采用前后端分离的三层架构设计。表现层使用 Vue 3 构建大屏界面，集成 ECharts 地图和 WebSocket 客户端，由 Pinia 管理全局状态。逻辑层基于 Python FastAPI 框架，提供 RESTful API 数据注入接口和 WebSocket 告警推送通道，核心模块包括 AI 模型推理引擎和数据注入控制器。数据层采用 MySQL 8.0 做持久化存储，Redis 7.0 做高性能缓存和消息发布订阅。最底层是 Docker Compose 五服务容器编排，支持一键启动全部环境。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核心技术选型覆盖五大领域。前端采用 Vue 3 加 Vite 构建，ECharts 负责地图和折线图渲染，WebSocket 实现实时数据推送。后端使用 Python 3.10+ 和 FastAPI 异步框架，通过 Uvicorn 运行 ASGI 服务。算法方面，使用 Scikit-learn 训练二分类风险预测模型，Pandas 进行数据清洗，模型导出为 pkl 序列化文件。存储层面 MySQL 8.0 持久化业务数据，Redis 7.0 负责 KPI 缓存和消息队列。部署使用 Docker Compose 一键编排所有服务。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关键技术链路可以概括为四步流程。第一步数据注入，回放脚本读取 CSV 文件，按设定倍率将数据转为 JSON 通过 HTTP POST 发送至后端 ingest 接口。第二步 AI 推理，后端预加载 risk_model.pkl 模型文件，对每条订单提取特征向量调用 predict_proba 输出风险概率值。第三步存储，MySQL 持久化订单和告警数据，Redis 缓存实时 KPI 指标并通过 Pub/Sub 通知 WebSocket 服务。第四步推送，WebSocket 通道主动向所有连接的前端客户端广播告警消息，前端解析后以红色高亮闪烁展示。整个端到端延迟目标控制在一秒以内。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核心数据模型方面，MySQL 设计了两张核心表。orders 订单表存储订单基本信息，包括订单号、时间、城市、经纬度、金额和 AI 预测的风险评分。alerts 风险告警表关联到具体订单，记录风险类型、触发时的风险概率和确认状态。Redis 层面设计了两个数据结构，一个是 KPI 聚合缓存存储累计订单量、GMV 和风险拦截次数等实时指标，另一个是 Pub/Sub 消息队列用于 FastAPI 多 Worker 进程间的 WebSocket 告警广播。后端每接收一笔订单就实时更新缓存。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非功能需求方面，我们定义了六项关键质量属性。实时性要求端到端延迟控制在一秒以内，可靠性要求 7x24 小时持续运行且 WebSocket 断线自动重连，性能方面需要对高频数据降采样防止长时间运行导致内存溢出，易用性要求大屏界面布局清晰、核心指标一眼可见，可演示性要求 Docker Compose 一键启动五分钟内就绪，安全性要求 API 接口做基本参数校验防止非法注入。优先级上实时性、可靠性和可演示性为 P0，其余为 P1，所有属性均需在 MVP 交付前通过验收测试。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开发约束方面，PRD 明确规定了技术栈：前端 Vue 3 加 Vite 加 ECharts，后端 Python FastAPI，存储 MySQL 加 Redis，算法库 Scikit-learn 和 Pandas，部署 Docker Compose。数据源使用 Kaggle 数据集不允许直连真实业务系统。接口标准采用 RESTful 风格数据注入和 WebSocket 协议告警推送。模型文件格式为 pkl 序列化。部署架构包括五个 Docker 容器服务，启动顺序为 MySQL、Redis、后端 FastAPI、前端 Nginx 以及可选的数据回放脚本容器，通过 docker-compose up -d --build 一键启动，访问 localhost 即可进入系统主界面。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MVP 开发周期为一个月，按四周进行排期。第一周完成 Docker Compose 环境搭建、CSV 数据清洗和回放脚本开发，全部为 P0 优先级。第二周完成 AI 风险模型训练并导出 pkl 文件，搭建 FastAPI 后端接口和在线推理服务，同样为 P0。第三周是当前周，重点开发 Vue 3 前端大屏，包括 KPI 指标盘、WebSocket 集成以及 P1 的物流热力地图。第四周完成端到端联调测试、性能优化、演示脚本准备以及 P2 的历史趋势折线图。交付物包括 docker-compose.yml 文件、GitHub 代码仓库、演示脚本和项目答辩 PPT。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以上就是本次启动会的全部内容。回顾一下三大核心模块：数据回放引擎、AI 智能预警和可视化监控大屏。五大核心技术：Vue 3、FastAPI、Scikit-learn、MySQL 加 Redis 和 Docker Compose。一个月 MVP 冲刺，P0 功能优先，最终通过 Docker 一键演示。我们的目标非常清晰：构建一个面向演示验证场景的完整闭环供应链可视化系统。现在进入 Q&amp;A 环节，欢迎大家提问。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D5C63">
                    <a:alpha val="4000"/>
                  </a:srgbClr>
                </a:gs>
                <a:gs pos="100000">
                  <a:srgbClr val="0D5C63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0D5C63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5905500"/>
            <a:ext cx="12192000" cy="952500"/>
          </a:xfrm>
          <a:prstGeom prst="rect">
            <a:avLst/>
          </a:prstGeom>
          <a:gradFill>
            <a:gsLst>
              <a:gs pos="0">
                <a:srgbClr val="0D5C63">
                  <a:alpha val="0"/>
                </a:srgbClr>
              </a:gs>
              <a:gs pos="100000">
                <a:srgbClr val="1E3A5F">
                  <a:alpha val="12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0" y="2190750"/>
            <a:ext cx="762000" cy="762000"/>
            <a:chOff x="5715000" y="2190750"/>
            <a:chExt cx="762000" cy="762000"/>
          </a:xfrm>
        </p:grpSpPr>
        <p:sp>
          <p:nvSpPr>
            <p:cNvPr id="7" name="Ellipse 7"/>
            <p:cNvSpPr/>
            <p:nvPr/>
          </p:nvSpPr>
          <p:spPr>
            <a:xfrm>
              <a:off x="5715000" y="2190750"/>
              <a:ext cx="762000" cy="762000"/>
            </a:xfrm>
            <a:prstGeom prst="ellipse">
              <a:avLst/>
            </a:prstGeom>
            <a:noFill/>
            <a:ln w="19050">
              <a:solidFill>
                <a:srgbClr val="2A9D8F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6057900" y="2533650"/>
              <a:ext cx="76200" cy="7620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59143" y="2815590"/>
            <a:ext cx="11273714" cy="975360"/>
            <a:chOff x="459143" y="2815590"/>
            <a:chExt cx="11273714" cy="975360"/>
          </a:xfrm>
        </p:grpSpPr>
        <p:sp>
          <p:nvSpPr>
            <p:cNvPr id="10" name="TextBox 10"/>
            <p:cNvSpPr txBox="1"/>
            <p:nvPr/>
          </p:nvSpPr>
          <p:spPr>
            <a:xfrm>
              <a:off x="459143" y="2815590"/>
              <a:ext cx="1127371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gradFill>
                    <a:gsLst>
                      <a:gs pos="0">
                        <a:srgbClr val="0D5C63"/>
                      </a:gs>
                      <a:gs pos="100000">
                        <a:srgbClr val="2A9D8F"/>
                      </a:gs>
                    </a:gsLst>
                    <a:lin ang="270000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赋能企业供应链可视化分析系统</a:t>
              </a:r>
              <a:endParaRPr lang="zh-CN" sz="4800" b="1" dirty="0">
                <a:gradFill>
                  <a:gsLst>
                    <a:gs pos="0">
                      <a:srgbClr val="0D5C63"/>
                    </a:gs>
                    <a:gs pos="100000">
                      <a:srgbClr val="2A9D8F"/>
                    </a:gs>
                  </a:gsLst>
                  <a:lin ang="27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476874" y="3789998"/>
            <a:ext cx="1238250" cy="299720"/>
            <a:chOff x="5476874" y="3789998"/>
            <a:chExt cx="1238250" cy="299720"/>
          </a:xfrm>
        </p:grpSpPr>
        <p:sp>
          <p:nvSpPr>
            <p:cNvPr id="12" name="TextBox 12"/>
            <p:cNvSpPr txBox="1"/>
            <p:nvPr/>
          </p:nvSpPr>
          <p:spPr>
            <a:xfrm>
              <a:off x="5476874" y="3789998"/>
              <a:ext cx="123825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项目启动会</a:t>
              </a:r>
              <a:endParaRPr lang="zh-CN" sz="19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0" y="4476750"/>
            <a:ext cx="3048000" cy="476250"/>
            <a:chOff x="4572000" y="4476750"/>
            <a:chExt cx="3048000" cy="476250"/>
          </a:xfrm>
        </p:grpSpPr>
        <p:sp>
          <p:nvSpPr>
            <p:cNvPr id="14" name="Rectangle 14"/>
            <p:cNvSpPr/>
            <p:nvPr/>
          </p:nvSpPr>
          <p:spPr>
            <a:xfrm>
              <a:off x="4572000" y="4476750"/>
              <a:ext cx="3048000" cy="47625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E5E7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66704" y="4641056"/>
              <a:ext cx="145859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2026年5月 · </a:t>
              </a:r>
              <a:r>
                <a:rPr lang="en-US" altLang="zh-CN" sz="1125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5/15~6/15</a:t>
              </a:r>
              <a:endParaRPr lang="en-US" altLang="zh-CN" sz="1125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06746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15302"/>
            <a:ext cx="11049000" cy="541973"/>
            <a:chOff x="571500" y="515302"/>
            <a:chExt cx="11049000" cy="541973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57150" cy="3619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515302"/>
              <a:ext cx="2802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项目背景与定位</a:t>
              </a:r>
              <a:endParaRPr lang="zh-CN" sz="25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50545" y="1345882"/>
            <a:ext cx="5484495" cy="2987993"/>
            <a:chOff x="550545" y="1345882"/>
            <a:chExt cx="5484495" cy="2987993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345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痛点分析</a:t>
              </a:r>
              <a:endParaRPr lang="zh-CN" sz="16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71500" y="1762125"/>
              <a:ext cx="5463540" cy="762000"/>
              <a:chOff x="571500" y="1762125"/>
              <a:chExt cx="5463540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76212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0F4F8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762125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4855" y="1873568"/>
                <a:ext cx="16904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供应链状态不可见</a:t>
                </a:r>
                <a:endPara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6760" y="2156460"/>
                <a:ext cx="52882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订单流、物流状态缺乏实时监控手段，管理层无法及时掌握全局动态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71500" y="2667000"/>
              <a:ext cx="5334000" cy="762000"/>
              <a:chOff x="571500" y="2667000"/>
              <a:chExt cx="5334000" cy="762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667000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0F4F8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266700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44855" y="2778442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风险识别滞后</a:t>
                </a:r>
                <a:endPara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6760" y="3061335"/>
                <a:ext cx="45872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异常订单依赖人工审核，响应延迟大，无法毫秒级主动预警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3571875"/>
              <a:ext cx="5334000" cy="762000"/>
              <a:chOff x="571500" y="3571875"/>
              <a:chExt cx="5334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3571875"/>
                <a:ext cx="5334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0F4F8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" y="3571875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4855" y="3683318"/>
                <a:ext cx="16904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演示环境搭建复杂</a:t>
                </a:r>
                <a:endPara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6760" y="3966210"/>
                <a:ext cx="4411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缺乏一键部署方案，演示前需大量手动配置，可复现性差</a:t>
                </a:r>
                <a:endPara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6286500" y="1381125"/>
            <a:ext cx="5334000" cy="3238500"/>
            <a:chOff x="6286500" y="1381125"/>
            <a:chExt cx="5334000" cy="3238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1381125"/>
              <a:ext cx="5334000" cy="3238500"/>
            </a:xfrm>
            <a:prstGeom prst="roundRect">
              <a:avLst>
                <a:gd name="adj" fmla="val 3529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381125"/>
              <a:ext cx="5334000" cy="3238500"/>
            </a:xfrm>
            <a:prstGeom prst="roundRect">
              <a:avLst>
                <a:gd name="adj" fmla="val 3529"/>
              </a:avLst>
            </a:prstGeom>
            <a:gradFill>
              <a:gsLst>
                <a:gs pos="0">
                  <a:srgbClr val="0D5C63">
                    <a:alpha val="15000"/>
                  </a:srgbClr>
                </a:gs>
                <a:gs pos="100000">
                  <a:srgbClr val="2A9D8F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6545" y="17268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系统定位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667500" y="2190750"/>
              <a:ext cx="4572000" cy="576262"/>
              <a:chOff x="6667500" y="2190750"/>
              <a:chExt cx="4572000" cy="576262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667500" y="2190750"/>
                <a:ext cx="4572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936105" y="2302192"/>
                <a:ext cx="33467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A9D8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轻量级供应链可视化与智能预警系统</a:t>
                </a:r>
                <a:endParaRPr lang="zh-CN" sz="1350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939915" y="2553652"/>
                <a:ext cx="22426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面向演示与验证场景的 MVP 产品</a:t>
                </a:r>
                <a:endParaRPr lang="zh-CN" sz="105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650355" y="2997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核心特征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905625" y="3394710"/>
              <a:ext cx="3299079" cy="243840"/>
              <a:chOff x="6905625" y="3394710"/>
              <a:chExt cx="3299079" cy="24384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905625" y="3429000"/>
                <a:ext cx="95250" cy="9525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080885" y="3394710"/>
                <a:ext cx="312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本阶段使用 Kaggle 数据集模拟真实业务</a:t>
                </a:r>
                <a:endPara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905625" y="3728085"/>
              <a:ext cx="3553206" cy="243840"/>
              <a:chOff x="6905625" y="3728085"/>
              <a:chExt cx="3553206" cy="24384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6905625" y="3762375"/>
                <a:ext cx="95250" cy="9525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080885" y="3728085"/>
                <a:ext cx="3377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构建"数据回放引擎"模拟实时高并发数据流</a:t>
                </a:r>
                <a:endPara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905625" y="4061460"/>
              <a:ext cx="3991356" cy="243840"/>
              <a:chOff x="6905625" y="4061460"/>
              <a:chExt cx="3991356" cy="24384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905625" y="4095750"/>
                <a:ext cx="95250" cy="9525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080885" y="4061460"/>
                <a:ext cx="381609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"数据产生→后端接收→AI判定→前端预警"完整闭环</a:t>
                </a:r>
                <a:endPara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71500" y="4857750"/>
            <a:ext cx="11049000" cy="1238250"/>
            <a:chOff x="571500" y="4857750"/>
            <a:chExt cx="11049000" cy="1238250"/>
          </a:xfrm>
        </p:grpSpPr>
        <p:sp>
          <p:nvSpPr>
            <p:cNvPr id="42" name="Rectangle 42"/>
            <p:cNvSpPr/>
            <p:nvPr/>
          </p:nvSpPr>
          <p:spPr>
            <a:xfrm>
              <a:off x="571500" y="4857750"/>
              <a:ext cx="11049000" cy="1238250"/>
            </a:xfrm>
            <a:prstGeom prst="roundRect">
              <a:avLst>
                <a:gd name="adj" fmla="val 7692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99640" y="5029200"/>
              <a:ext cx="9927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MVP 目标</a:t>
              </a:r>
              <a:endParaRPr lang="zh-CN" sz="15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39490" y="5394960"/>
              <a:ext cx="511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在一个月内，基于开源数据构建可演示的供应链可视化分析系统，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67837" y="5661660"/>
              <a:ext cx="56563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 Docker Compose 一键启动，5 分钟内完成环境搭建并进入演示状态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15302"/>
            <a:ext cx="11049000" cy="541973"/>
            <a:chOff x="571500" y="515302"/>
            <a:chExt cx="11049000" cy="541973"/>
          </a:xfrm>
        </p:grpSpPr>
        <p:sp>
          <p:nvSpPr>
            <p:cNvPr id="3" name="Rectangle 3"/>
            <p:cNvSpPr/>
            <p:nvPr/>
          </p:nvSpPr>
          <p:spPr>
            <a:xfrm>
              <a:off x="571500" y="523875"/>
              <a:ext cx="57150" cy="3619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515302"/>
              <a:ext cx="241106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核心业务目标</a:t>
              </a:r>
              <a:endParaRPr lang="zh-CN" sz="25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428750"/>
            <a:ext cx="3524250" cy="4000500"/>
            <a:chOff x="571500" y="1428750"/>
            <a:chExt cx="3524250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3524250" cy="4000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352425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23950" y="2009775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0" y="85725"/>
                  </a:moveTo>
                  <a:lnTo>
                    <a:pt x="43998" y="32928"/>
                  </a:lnTo>
                  <a:cubicBezTo>
                    <a:pt x="61385" y="12064"/>
                    <a:pt x="87141" y="0"/>
                    <a:pt x="114300" y="0"/>
                  </a:cubicBezTo>
                  <a:cubicBezTo>
                    <a:pt x="141459" y="0"/>
                    <a:pt x="167215" y="12064"/>
                    <a:pt x="184603" y="32928"/>
                  </a:cubicBezTo>
                  <a:lnTo>
                    <a:pt x="228600" y="85725"/>
                  </a:lnTo>
                  <a:lnTo>
                    <a:pt x="184603" y="138522"/>
                  </a:lnTo>
                  <a:cubicBezTo>
                    <a:pt x="167215" y="159387"/>
                    <a:pt x="141459" y="171450"/>
                    <a:pt x="114300" y="171450"/>
                  </a:cubicBezTo>
                  <a:cubicBezTo>
                    <a:pt x="87141" y="171450"/>
                    <a:pt x="61385" y="159387"/>
                    <a:pt x="43998" y="138522"/>
                  </a:cubicBezTo>
                  <a:lnTo>
                    <a:pt x="0" y="85725"/>
                  </a:lnTo>
                  <a:close/>
                  <a:moveTo>
                    <a:pt x="114300" y="128588"/>
                  </a:moveTo>
                  <a:cubicBezTo>
                    <a:pt x="137972" y="128588"/>
                    <a:pt x="157162" y="109397"/>
                    <a:pt x="157162" y="85725"/>
                  </a:cubicBezTo>
                  <a:cubicBezTo>
                    <a:pt x="157162" y="62053"/>
                    <a:pt x="137972" y="42862"/>
                    <a:pt x="114300" y="42862"/>
                  </a:cubicBezTo>
                  <a:cubicBezTo>
                    <a:pt x="90628" y="42862"/>
                    <a:pt x="71438" y="62053"/>
                    <a:pt x="71438" y="85725"/>
                  </a:cubicBezTo>
                  <a:cubicBezTo>
                    <a:pt x="71438" y="109397"/>
                    <a:pt x="90628" y="128588"/>
                    <a:pt x="114300" y="128588"/>
                  </a:cubicBez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87830" y="1887855"/>
              <a:ext cx="3270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21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9640" y="25679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数据流动可见</a:t>
              </a:r>
              <a:endParaRPr lang="zh-CN" sz="18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914400" y="3061335"/>
              <a:ext cx="2474595" cy="1196340"/>
              <a:chOff x="914400" y="3061335"/>
              <a:chExt cx="2474595" cy="119634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914400" y="3105150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80135" y="3061335"/>
                <a:ext cx="17830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静态数据集时序化回放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914400" y="3438525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80135" y="3394710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前端大屏实时展示动态刷新的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80135" y="3632835"/>
                <a:ext cx="1432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订单流与物流状态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914400" y="4057650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80135" y="4013835"/>
                <a:ext cx="190576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KPI 指标盘实时跳动更新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4333875" y="1428750"/>
            <a:ext cx="3524250" cy="4000500"/>
            <a:chOff x="4333875" y="1428750"/>
            <a:chExt cx="3524250" cy="4000500"/>
          </a:xfrm>
        </p:grpSpPr>
        <p:sp>
          <p:nvSpPr>
            <p:cNvPr id="22" name="Rectangle 22"/>
            <p:cNvSpPr/>
            <p:nvPr/>
          </p:nvSpPr>
          <p:spPr>
            <a:xfrm>
              <a:off x="4333875" y="1428750"/>
              <a:ext cx="3524250" cy="4000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33875" y="1428750"/>
              <a:ext cx="352425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14875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900612" y="19812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47864" y="191351"/>
                  </a:moveTo>
                  <a:lnTo>
                    <a:pt x="100012" y="228600"/>
                  </a:lnTo>
                  <a:lnTo>
                    <a:pt x="152160" y="191351"/>
                  </a:lnTo>
                  <a:cubicBezTo>
                    <a:pt x="182198" y="169896"/>
                    <a:pt x="200025" y="135255"/>
                    <a:pt x="200025" y="98342"/>
                  </a:cubicBezTo>
                  <a:lnTo>
                    <a:pt x="200025" y="42862"/>
                  </a:lnTo>
                  <a:lnTo>
                    <a:pt x="100012" y="0"/>
                  </a:lnTo>
                  <a:lnTo>
                    <a:pt x="0" y="42862"/>
                  </a:lnTo>
                  <a:lnTo>
                    <a:pt x="0" y="98342"/>
                  </a:lnTo>
                  <a:cubicBezTo>
                    <a:pt x="0" y="135255"/>
                    <a:pt x="17827" y="169896"/>
                    <a:pt x="47864" y="191351"/>
                  </a:cubicBez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0205" y="188785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21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92015" y="25679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智能风险阻断</a:t>
              </a:r>
              <a:endParaRPr lang="zh-CN" sz="18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676775" y="3061335"/>
              <a:ext cx="2518410" cy="1243965"/>
              <a:chOff x="4676775" y="3061335"/>
              <a:chExt cx="2518410" cy="1243965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676775" y="3105150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42510" y="3061335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基于机器学习的风险预测模型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4676775" y="3438525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842510" y="3394710"/>
                <a:ext cx="160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毫秒级识别异常订单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676775" y="3771900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842510" y="3728085"/>
                <a:ext cx="235267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超过 85% 阈值时主动推送告警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4676775" y="4105275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842510" y="4061460"/>
                <a:ext cx="2133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红色闪烁高亮提示异常订单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096250" y="1428750"/>
            <a:ext cx="3524250" cy="4000500"/>
            <a:chOff x="8096250" y="1428750"/>
            <a:chExt cx="3524250" cy="4000500"/>
          </a:xfrm>
        </p:grpSpPr>
        <p:sp>
          <p:nvSpPr>
            <p:cNvPr id="38" name="Rectangle 38"/>
            <p:cNvSpPr/>
            <p:nvPr/>
          </p:nvSpPr>
          <p:spPr>
            <a:xfrm>
              <a:off x="8096250" y="1428750"/>
              <a:ext cx="3524250" cy="4000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96250" y="1428750"/>
              <a:ext cx="352425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47725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648700" y="1981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12580" y="188785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21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4390" y="256794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闭环演示交付</a:t>
              </a:r>
              <a:endParaRPr lang="zh-CN" sz="18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439150" y="3061335"/>
              <a:ext cx="2500884" cy="1243965"/>
              <a:chOff x="8439150" y="3061335"/>
              <a:chExt cx="2500884" cy="1243965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8439150" y="3105150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04885" y="3061335"/>
                <a:ext cx="22212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"数据产生→后端接收→AI判定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604885" y="3299460"/>
                <a:ext cx="16253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→前端预警"完整闭环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8439150" y="3724275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604885" y="3680460"/>
                <a:ext cx="19583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支撑最终项目演示与答辩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8439150" y="4105275"/>
                <a:ext cx="76200" cy="762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604885" y="4061460"/>
                <a:ext cx="23351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Docker 一键启动，5分钟就绪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53" name="TextBox 53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53378"/>
            <a:ext cx="3742325" cy="630078"/>
            <a:chOff x="571500" y="353378"/>
            <a:chExt cx="3742325" cy="630078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5715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53378"/>
              <a:ext cx="35842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产品核心模块与用例</a:t>
              </a:r>
              <a:endParaRPr lang="zh-CN" sz="25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754856"/>
              <a:ext cx="3363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三大功能模块 · 七大核心用例 · 完整业务闭环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190625"/>
            <a:ext cx="3524250" cy="2762250"/>
            <a:chOff x="571500" y="1190625"/>
            <a:chExt cx="3524250" cy="276225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" name="Rectangle 7"/>
            <p:cNvSpPr/>
            <p:nvPr/>
          </p:nvSpPr>
          <p:spPr>
            <a:xfrm>
              <a:off x="571500" y="1190625"/>
              <a:ext cx="3524250" cy="2762250"/>
            </a:xfrm>
            <a:prstGeom prst="roundRect">
              <a:avLst>
                <a:gd name="adj" fmla="val 4828"/>
              </a:avLst>
            </a:prstGeom>
            <a:solidFill>
              <a:srgbClr val="FFFFF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190625"/>
              <a:ext cx="3524250" cy="571500"/>
            </a:xfrm>
            <a:prstGeom prst="roundRect">
              <a:avLst>
                <a:gd name="adj" fmla="val 23333"/>
              </a:avLst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476375"/>
              <a:ext cx="3524250" cy="285750"/>
            </a:xfrm>
            <a:prstGeom prst="rect">
              <a:avLst/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857250" y="1285875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1400175"/>
              <a:ext cx="171450" cy="228600"/>
              <a:chOff x="1000125" y="1400175"/>
              <a:chExt cx="171450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00125" y="1491615"/>
                <a:ext cx="171450" cy="6572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65722">
                    <a:moveTo>
                      <a:pt x="159121" y="7289"/>
                    </a:moveTo>
                    <a:cubicBezTo>
                      <a:pt x="163140" y="5279"/>
                      <a:pt x="167339" y="2855"/>
                      <a:pt x="171450" y="0"/>
                    </a:cubicBezTo>
                    <a:lnTo>
                      <a:pt x="171450" y="22860"/>
                    </a:lnTo>
                    <a:cubicBezTo>
                      <a:pt x="171450" y="46532"/>
                      <a:pt x="133069" y="65722"/>
                      <a:pt x="85725" y="65722"/>
                    </a:cubicBezTo>
                    <a:cubicBezTo>
                      <a:pt x="38380" y="65722"/>
                      <a:pt x="0" y="46532"/>
                      <a:pt x="0" y="22860"/>
                    </a:cubicBezTo>
                    <a:lnTo>
                      <a:pt x="0" y="0"/>
                    </a:lnTo>
                    <a:cubicBezTo>
                      <a:pt x="4111" y="2855"/>
                      <a:pt x="8309" y="5279"/>
                      <a:pt x="12329" y="7289"/>
                    </a:cubicBezTo>
                    <a:cubicBezTo>
                      <a:pt x="32589" y="17419"/>
                      <a:pt x="58578" y="22860"/>
                      <a:pt x="85725" y="22860"/>
                    </a:cubicBezTo>
                    <a:cubicBezTo>
                      <a:pt x="112872" y="22860"/>
                      <a:pt x="138860" y="17419"/>
                      <a:pt x="159121" y="72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0125" y="1563052"/>
                <a:ext cx="171450" cy="6572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65723">
                    <a:moveTo>
                      <a:pt x="0" y="0"/>
                    </a:moveTo>
                    <a:lnTo>
                      <a:pt x="0" y="22860"/>
                    </a:lnTo>
                    <a:cubicBezTo>
                      <a:pt x="0" y="46533"/>
                      <a:pt x="38380" y="65723"/>
                      <a:pt x="85725" y="65723"/>
                    </a:cubicBezTo>
                    <a:cubicBezTo>
                      <a:pt x="133069" y="65723"/>
                      <a:pt x="171450" y="46533"/>
                      <a:pt x="171450" y="22860"/>
                    </a:cubicBezTo>
                    <a:lnTo>
                      <a:pt x="171450" y="0"/>
                    </a:lnTo>
                    <a:cubicBezTo>
                      <a:pt x="167339" y="2855"/>
                      <a:pt x="163140" y="5279"/>
                      <a:pt x="159121" y="7289"/>
                    </a:cubicBezTo>
                    <a:cubicBezTo>
                      <a:pt x="138860" y="17419"/>
                      <a:pt x="112872" y="22860"/>
                      <a:pt x="85725" y="22860"/>
                    </a:cubicBezTo>
                    <a:cubicBezTo>
                      <a:pt x="58578" y="22860"/>
                      <a:pt x="32589" y="17419"/>
                      <a:pt x="12329" y="7289"/>
                    </a:cubicBezTo>
                    <a:cubicBezTo>
                      <a:pt x="8309" y="5279"/>
                      <a:pt x="4111" y="285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00125" y="140017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85725" y="0"/>
                    </a:moveTo>
                    <a:cubicBezTo>
                      <a:pt x="133069" y="0"/>
                      <a:pt x="171450" y="19190"/>
                      <a:pt x="171450" y="42862"/>
                    </a:cubicBezTo>
                    <a:cubicBezTo>
                      <a:pt x="171450" y="66535"/>
                      <a:pt x="133069" y="85725"/>
                      <a:pt x="85725" y="85725"/>
                    </a:cubicBezTo>
                    <a:cubicBezTo>
                      <a:pt x="38380" y="85725"/>
                      <a:pt x="0" y="66535"/>
                      <a:pt x="0" y="42862"/>
                    </a:cubicBezTo>
                    <a:cubicBezTo>
                      <a:pt x="0" y="1919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53515" y="1282065"/>
              <a:ext cx="1701927" cy="3657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数据回放引擎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63040" y="1553528"/>
              <a:ext cx="1974247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Data Engineering &amp; Stream</a:t>
              </a:r>
              <a:endParaRPr lang="zh-CN" sz="105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57250" y="2000250"/>
              <a:ext cx="2952750" cy="1114425"/>
              <a:chOff x="857250" y="2000250"/>
              <a:chExt cx="2952750" cy="11144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57250" y="2000250"/>
                <a:ext cx="29527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85838" y="2088356"/>
                <a:ext cx="154676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5C6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UC-01 启动数据回放</a:t>
                </a:r>
                <a:endParaRPr lang="zh-CN" sz="1125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7742" y="2295049"/>
                <a:ext cx="2680502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操作员执行脚本，CSV数据按倍率注入后端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57250" y="2619375"/>
                <a:ext cx="29527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85838" y="2707481"/>
                <a:ext cx="1581269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5C6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特征工程与数据清洗</a:t>
                </a:r>
                <a:endParaRPr lang="zh-CN" sz="1125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87742" y="2914174"/>
                <a:ext cx="2203466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Pandas离线预处理，提取订单特征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4333875" y="1190625"/>
            <a:ext cx="3524250" cy="2762250"/>
            <a:chOff x="4333875" y="1190625"/>
            <a:chExt cx="3524250" cy="276225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5" name="Rectangle 25"/>
            <p:cNvSpPr/>
            <p:nvPr/>
          </p:nvSpPr>
          <p:spPr>
            <a:xfrm>
              <a:off x="4333875" y="1190625"/>
              <a:ext cx="3524250" cy="2762250"/>
            </a:xfrm>
            <a:prstGeom prst="roundRect">
              <a:avLst>
                <a:gd name="adj" fmla="val 4828"/>
              </a:avLst>
            </a:prstGeom>
            <a:solidFill>
              <a:srgbClr val="FFFFF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4333875" y="1190625"/>
              <a:ext cx="3524250" cy="571500"/>
            </a:xfrm>
            <a:prstGeom prst="roundRect">
              <a:avLst>
                <a:gd name="adj" fmla="val 23333"/>
              </a:avLst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4333875" y="1476375"/>
              <a:ext cx="3524250" cy="28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4619625" y="1285875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9" name="Freeform 29"/>
            <p:cNvSpPr/>
            <p:nvPr/>
          </p:nvSpPr>
          <p:spPr>
            <a:xfrm>
              <a:off x="4762500" y="14001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42862" y="164306"/>
                  </a:moveTo>
                  <a:lnTo>
                    <a:pt x="42862" y="207169"/>
                  </a:lnTo>
                  <a:lnTo>
                    <a:pt x="64294" y="228600"/>
                  </a:lnTo>
                  <a:lnTo>
                    <a:pt x="107156" y="228600"/>
                  </a:lnTo>
                  <a:lnTo>
                    <a:pt x="128588" y="207169"/>
                  </a:lnTo>
                  <a:lnTo>
                    <a:pt x="128588" y="164306"/>
                  </a:lnTo>
                  <a:lnTo>
                    <a:pt x="146298" y="146595"/>
                  </a:lnTo>
                  <a:cubicBezTo>
                    <a:pt x="162403" y="130491"/>
                    <a:pt x="171450" y="108605"/>
                    <a:pt x="171450" y="85830"/>
                  </a:cubicBezTo>
                  <a:cubicBezTo>
                    <a:pt x="171450" y="38486"/>
                    <a:pt x="133069" y="0"/>
                    <a:pt x="85725" y="0"/>
                  </a:cubicBezTo>
                  <a:cubicBezTo>
                    <a:pt x="38380" y="0"/>
                    <a:pt x="0" y="38486"/>
                    <a:pt x="0" y="85830"/>
                  </a:cubicBezTo>
                  <a:cubicBezTo>
                    <a:pt x="0" y="108605"/>
                    <a:pt x="9047" y="130491"/>
                    <a:pt x="25152" y="146595"/>
                  </a:cubicBezTo>
                  <a:lnTo>
                    <a:pt x="42862" y="164306"/>
                  </a:lnTo>
                  <a:close/>
                  <a:moveTo>
                    <a:pt x="71438" y="141074"/>
                  </a:moveTo>
                  <a:lnTo>
                    <a:pt x="71438" y="85725"/>
                  </a:lnTo>
                  <a:lnTo>
                    <a:pt x="100012" y="85725"/>
                  </a:lnTo>
                  <a:lnTo>
                    <a:pt x="100012" y="141074"/>
                  </a:lnTo>
                  <a:cubicBezTo>
                    <a:pt x="124661" y="134730"/>
                    <a:pt x="142875" y="112355"/>
                    <a:pt x="142875" y="85725"/>
                  </a:cubicBezTo>
                  <a:cubicBezTo>
                    <a:pt x="142875" y="54162"/>
                    <a:pt x="117288" y="28575"/>
                    <a:pt x="85725" y="28575"/>
                  </a:cubicBezTo>
                  <a:cubicBezTo>
                    <a:pt x="54162" y="28575"/>
                    <a:pt x="28575" y="54162"/>
                    <a:pt x="28575" y="85725"/>
                  </a:cubicBezTo>
                  <a:cubicBezTo>
                    <a:pt x="28575" y="112355"/>
                    <a:pt x="46788" y="134730"/>
                    <a:pt x="71438" y="1410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5215890" y="1282065"/>
              <a:ext cx="1467298" cy="3657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智能预警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25415" y="1553528"/>
              <a:ext cx="1828562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Risk Prediction Engine</a:t>
              </a:r>
              <a:endParaRPr lang="zh-CN" sz="105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4619625" y="2000250"/>
              <a:ext cx="2952750" cy="1114425"/>
              <a:chOff x="4619625" y="2000250"/>
              <a:chExt cx="2952750" cy="111442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619625" y="2000250"/>
                <a:ext cx="29527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748212" y="2088356"/>
                <a:ext cx="158989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3A5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UC-02 实时风险识别</a:t>
                </a:r>
                <a:endParaRPr lang="zh-CN" sz="112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750118" y="2295049"/>
                <a:ext cx="2160746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模型在线推理，计算订单风险概率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619625" y="2619375"/>
                <a:ext cx="29527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748212" y="2707481"/>
                <a:ext cx="158989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3A5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UC-03 风险告警推送</a:t>
                </a:r>
                <a:endParaRPr lang="zh-CN" sz="112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750118" y="2914174"/>
                <a:ext cx="2274665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超过85%阈值，WebSocket广播告警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8096250" y="1190625"/>
            <a:ext cx="3524250" cy="2762250"/>
            <a:chOff x="8096250" y="1190625"/>
            <a:chExt cx="3524250" cy="276225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0" name="Rectangle 40"/>
            <p:cNvSpPr/>
            <p:nvPr/>
          </p:nvSpPr>
          <p:spPr>
            <a:xfrm>
              <a:off x="8096250" y="1190625"/>
              <a:ext cx="3524250" cy="2762250"/>
            </a:xfrm>
            <a:prstGeom prst="roundRect">
              <a:avLst>
                <a:gd name="adj" fmla="val 4828"/>
              </a:avLst>
            </a:prstGeom>
            <a:solidFill>
              <a:srgbClr val="FFFFF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1" name="Rectangle 41"/>
            <p:cNvSpPr/>
            <p:nvPr/>
          </p:nvSpPr>
          <p:spPr>
            <a:xfrm>
              <a:off x="8096250" y="1190625"/>
              <a:ext cx="3524250" cy="571500"/>
            </a:xfrm>
            <a:prstGeom prst="roundRect">
              <a:avLst>
                <a:gd name="adj" fmla="val 23333"/>
              </a:avLst>
            </a:prstGeom>
            <a:solidFill>
              <a:srgbClr val="2A9D8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8096250" y="1476375"/>
              <a:ext cx="3524250" cy="2857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8382000" y="1285875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4" name="Freeform 44"/>
            <p:cNvSpPr/>
            <p:nvPr/>
          </p:nvSpPr>
          <p:spPr>
            <a:xfrm>
              <a:off x="8496300" y="1428750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0" y="85725"/>
                  </a:moveTo>
                  <a:lnTo>
                    <a:pt x="43998" y="32928"/>
                  </a:lnTo>
                  <a:cubicBezTo>
                    <a:pt x="61385" y="12064"/>
                    <a:pt x="87141" y="0"/>
                    <a:pt x="114300" y="0"/>
                  </a:cubicBezTo>
                  <a:cubicBezTo>
                    <a:pt x="141459" y="0"/>
                    <a:pt x="167215" y="12064"/>
                    <a:pt x="184603" y="32928"/>
                  </a:cubicBezTo>
                  <a:lnTo>
                    <a:pt x="228600" y="85725"/>
                  </a:lnTo>
                  <a:lnTo>
                    <a:pt x="184603" y="138522"/>
                  </a:lnTo>
                  <a:cubicBezTo>
                    <a:pt x="167215" y="159387"/>
                    <a:pt x="141459" y="171450"/>
                    <a:pt x="114300" y="171450"/>
                  </a:cubicBezTo>
                  <a:cubicBezTo>
                    <a:pt x="87141" y="171450"/>
                    <a:pt x="61385" y="159387"/>
                    <a:pt x="43998" y="138522"/>
                  </a:cubicBezTo>
                  <a:lnTo>
                    <a:pt x="0" y="85725"/>
                  </a:lnTo>
                  <a:close/>
                  <a:moveTo>
                    <a:pt x="114300" y="128588"/>
                  </a:moveTo>
                  <a:cubicBezTo>
                    <a:pt x="137972" y="128588"/>
                    <a:pt x="157162" y="109397"/>
                    <a:pt x="157162" y="85725"/>
                  </a:cubicBezTo>
                  <a:cubicBezTo>
                    <a:pt x="157162" y="62053"/>
                    <a:pt x="137972" y="42862"/>
                    <a:pt x="114300" y="42862"/>
                  </a:cubicBezTo>
                  <a:cubicBezTo>
                    <a:pt x="90628" y="42862"/>
                    <a:pt x="71438" y="62053"/>
                    <a:pt x="71438" y="85725"/>
                  </a:cubicBezTo>
                  <a:cubicBezTo>
                    <a:pt x="71438" y="109397"/>
                    <a:pt x="90628" y="128588"/>
                    <a:pt x="114300" y="1285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8978265" y="1282065"/>
              <a:ext cx="1425892" cy="3657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可视化大屏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87790" y="1553528"/>
              <a:ext cx="1774888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Visualization Dashboard</a:t>
              </a:r>
              <a:endParaRPr lang="zh-CN" sz="105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8382000" y="2000250"/>
              <a:ext cx="2952750" cy="495300"/>
              <a:chOff x="8382000" y="2000250"/>
              <a:chExt cx="2952750" cy="4953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8382000" y="2000250"/>
                <a:ext cx="29527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510588" y="2088356"/>
                <a:ext cx="152951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A9D8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UC-04~07 大屏监控</a:t>
                </a:r>
                <a:endParaRPr lang="zh-CN" sz="1125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512492" y="2295049"/>
                <a:ext cx="2025467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KPI/热力图/预警列表/历史趋势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382000" y="2628900"/>
              <a:ext cx="2952750" cy="781050"/>
              <a:chOff x="8382000" y="2628900"/>
              <a:chExt cx="2952750" cy="7810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8382000" y="2628900"/>
                <a:ext cx="142875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628316" y="2752249"/>
                <a:ext cx="936117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全局KPI指标盘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8382000" y="3067050"/>
                <a:ext cx="142875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656796" y="31903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物流热力地图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9906000" y="2628900"/>
                <a:ext cx="142875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180796" y="27522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预警滚动列表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9906000" y="3067050"/>
                <a:ext cx="142875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F0F4F8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80796" y="31903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历史趋势折线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571500" y="4191000"/>
            <a:ext cx="11049000" cy="1857375"/>
            <a:chOff x="571500" y="4191000"/>
            <a:chExt cx="11049000" cy="1857375"/>
          </a:xfrm>
        </p:grpSpPr>
        <p:sp>
          <p:nvSpPr>
            <p:cNvPr id="61" name="Rectangle 61"/>
            <p:cNvSpPr/>
            <p:nvPr/>
          </p:nvSpPr>
          <p:spPr>
            <a:xfrm>
              <a:off x="571500" y="4191000"/>
              <a:ext cx="11049000" cy="185737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71500" y="4191000"/>
              <a:ext cx="11049000" cy="381000"/>
            </a:xfrm>
            <a:prstGeom prst="roundRect">
              <a:avLst>
                <a:gd name="adj" fmla="val 25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71500" y="4381500"/>
              <a:ext cx="11049000" cy="1905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98125" y="43253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用例编号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284125" y="43253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用例名称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745885" y="432530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参与者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18125" y="43253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核心交互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Line 68"/>
            <p:cNvSpPr/>
            <p:nvPr/>
          </p:nvSpPr>
          <p:spPr>
            <a:xfrm>
              <a:off x="571500" y="46005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8890" y="4696778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UC-01</a:t>
              </a:r>
              <a:endPara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146108" y="4696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启动数据回放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757386" y="469677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操作员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01607" y="4704874"/>
              <a:ext cx="21037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执行脚本 → HTTP POST → 后端API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Line 73"/>
            <p:cNvSpPr/>
            <p:nvPr/>
          </p:nvSpPr>
          <p:spPr>
            <a:xfrm>
              <a:off x="571500" y="49815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98762" y="50777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UC-02</a:t>
              </a:r>
              <a:endPara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146108" y="5077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实时风险识别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680710" y="5077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系统自动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22966" y="5085874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加载模型 → 在线推理 → 输出概率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Line 78"/>
            <p:cNvSpPr/>
            <p:nvPr/>
          </p:nvSpPr>
          <p:spPr>
            <a:xfrm>
              <a:off x="571500" y="53625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98762" y="54587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UC-03</a:t>
              </a:r>
              <a:endPara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146108" y="5458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风险告警推送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680710" y="5458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系统自动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41087" y="5466874"/>
              <a:ext cx="22248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超过阈值 → WebSocket → 前端推送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Line 83"/>
            <p:cNvSpPr/>
            <p:nvPr/>
          </p:nvSpPr>
          <p:spPr>
            <a:xfrm>
              <a:off x="571500" y="57435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65921" y="5820728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UC-04~07</a:t>
              </a:r>
              <a:endPara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146108" y="58207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大屏监控系列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680710" y="58207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风控专员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908727" y="5828824"/>
              <a:ext cx="2089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HTTP/WbSocket → 图表实时更新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9" grpId="0"/>
      <p:bldP spid="60" grpId="0"/>
      <p:bldP spid="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25755"/>
            <a:ext cx="4413361" cy="517207"/>
            <a:chOff x="571500" y="325755"/>
            <a:chExt cx="4413361" cy="517207"/>
          </a:xfrm>
        </p:grpSpPr>
        <p:sp>
          <p:nvSpPr>
            <p:cNvPr id="3" name="Rectangle 3"/>
            <p:cNvSpPr/>
            <p:nvPr/>
          </p:nvSpPr>
          <p:spPr>
            <a:xfrm>
              <a:off x="571500" y="333375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257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系统总体架构</a:t>
              </a:r>
              <a:endParaRPr lang="zh-CN" sz="21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29602"/>
              <a:ext cx="42361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三层架构：表现层 · 逻辑层 · 数据层 · 前后端分离微服务雏形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" name="Rectangle 7"/>
          <p:cNvSpPr/>
          <p:nvPr/>
        </p:nvSpPr>
        <p:spPr>
          <a:xfrm>
            <a:off x="571500" y="1000125"/>
            <a:ext cx="342900" cy="1047750"/>
          </a:xfrm>
          <a:prstGeom prst="roundRect">
            <a:avLst>
              <a:gd name="adj" fmla="val 22222"/>
            </a:avLst>
          </a:prstGeom>
          <a:solidFill>
            <a:srgbClr val="0D5C6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37819" y="1435418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1047750" y="1000125"/>
            <a:ext cx="10001250" cy="1047750"/>
          </a:xfrm>
          <a:prstGeom prst="roundRect">
            <a:avLst>
              <a:gd name="adj" fmla="val 9091"/>
            </a:avLst>
          </a:prstGeom>
          <a:solidFill>
            <a:srgbClr val="FFFFFF">
              <a:alpha val="30000"/>
            </a:srgbClr>
          </a:solidFill>
          <a:ln w="14288">
            <a:solidFill>
              <a:srgbClr val="0D5C63"/>
            </a:solidFill>
            <a:custDash>
              <a:ds d="400000" sp="266666"/>
            </a:custDash>
          </a:ln>
        </p:spPr>
      </p:sp>
      <p:sp>
        <p:nvSpPr>
          <p:cNvPr id="10" name="TextBox 10"/>
          <p:cNvSpPr txBox="1"/>
          <p:nvPr/>
        </p:nvSpPr>
        <p:spPr>
          <a:xfrm>
            <a:off x="5378883" y="1077278"/>
            <a:ext cx="13389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表现层 · 前端大屏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238250" y="1333500"/>
            <a:ext cx="2190750" cy="590550"/>
            <a:chOff x="1238250" y="1333500"/>
            <a:chExt cx="2190750" cy="5905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1238250" y="1333500"/>
              <a:ext cx="219075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1352550" y="144780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1438275" y="1541703"/>
              <a:ext cx="152400" cy="136044"/>
              <a:chOff x="1438275" y="1541703"/>
              <a:chExt cx="152400" cy="13604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95521" y="1541703"/>
                <a:ext cx="37909" cy="136044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136044">
                    <a:moveTo>
                      <a:pt x="19050" y="0"/>
                    </a:moveTo>
                    <a:lnTo>
                      <a:pt x="0" y="133350"/>
                    </a:lnTo>
                    <a:lnTo>
                      <a:pt x="18859" y="136044"/>
                    </a:lnTo>
                    <a:lnTo>
                      <a:pt x="37909" y="2694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543867" y="1576388"/>
                <a:ext cx="4680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6808" h="66675">
                    <a:moveTo>
                      <a:pt x="13470" y="66675"/>
                    </a:moveTo>
                    <a:lnTo>
                      <a:pt x="0" y="53205"/>
                    </a:lnTo>
                    <a:lnTo>
                      <a:pt x="19867" y="33338"/>
                    </a:lnTo>
                    <a:lnTo>
                      <a:pt x="0" y="13470"/>
                    </a:lnTo>
                    <a:lnTo>
                      <a:pt x="13470" y="0"/>
                    </a:lnTo>
                    <a:lnTo>
                      <a:pt x="46808" y="33338"/>
                    </a:lnTo>
                    <a:lnTo>
                      <a:pt x="13470" y="66675"/>
                    </a:ln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438275" y="1576388"/>
                <a:ext cx="4680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6808" h="66675">
                    <a:moveTo>
                      <a:pt x="26941" y="33338"/>
                    </a:moveTo>
                    <a:lnTo>
                      <a:pt x="46808" y="53205"/>
                    </a:lnTo>
                    <a:lnTo>
                      <a:pt x="33338" y="66675"/>
                    </a:lnTo>
                    <a:lnTo>
                      <a:pt x="0" y="33338"/>
                    </a:lnTo>
                    <a:lnTo>
                      <a:pt x="33338" y="0"/>
                    </a:lnTo>
                    <a:lnTo>
                      <a:pt x="46808" y="13470"/>
                    </a:lnTo>
                    <a:lnTo>
                      <a:pt x="26941" y="33338"/>
                    </a:ln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776412" y="1478756"/>
              <a:ext cx="1365617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Vue 3 Dashboard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9270" y="1693545"/>
              <a:ext cx="122558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WebSocket实时更新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619500" y="1333500"/>
            <a:ext cx="2190750" cy="590550"/>
            <a:chOff x="3619500" y="1333500"/>
            <a:chExt cx="2190750" cy="5905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0" name="Rectangle 20"/>
            <p:cNvSpPr/>
            <p:nvPr/>
          </p:nvSpPr>
          <p:spPr>
            <a:xfrm>
              <a:off x="3619500" y="1333500"/>
              <a:ext cx="219075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3733800" y="144780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3819525" y="1552575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57150"/>
                  </a:moveTo>
                  <a:lnTo>
                    <a:pt x="29332" y="21952"/>
                  </a:lnTo>
                  <a:cubicBezTo>
                    <a:pt x="40923" y="8042"/>
                    <a:pt x="58094" y="0"/>
                    <a:pt x="76200" y="0"/>
                  </a:cubicBezTo>
                  <a:cubicBezTo>
                    <a:pt x="94306" y="0"/>
                    <a:pt x="111477" y="8042"/>
                    <a:pt x="123069" y="21952"/>
                  </a:cubicBezTo>
                  <a:lnTo>
                    <a:pt x="152400" y="57150"/>
                  </a:lnTo>
                  <a:lnTo>
                    <a:pt x="123069" y="92348"/>
                  </a:lnTo>
                  <a:cubicBezTo>
                    <a:pt x="111477" y="106258"/>
                    <a:pt x="94306" y="114300"/>
                    <a:pt x="76200" y="114300"/>
                  </a:cubicBezTo>
                  <a:cubicBezTo>
                    <a:pt x="58094" y="114300"/>
                    <a:pt x="40923" y="106258"/>
                    <a:pt x="29332" y="92348"/>
                  </a:cubicBezTo>
                  <a:lnTo>
                    <a:pt x="0" y="57150"/>
                  </a:lnTo>
                  <a:close/>
                  <a:moveTo>
                    <a:pt x="76200" y="85725"/>
                  </a:moveTo>
                  <a:cubicBezTo>
                    <a:pt x="91981" y="85725"/>
                    <a:pt x="104775" y="72931"/>
                    <a:pt x="104775" y="57150"/>
                  </a:cubicBezTo>
                  <a:cubicBezTo>
                    <a:pt x="104775" y="41369"/>
                    <a:pt x="91981" y="28575"/>
                    <a:pt x="76200" y="28575"/>
                  </a:cubicBezTo>
                  <a:cubicBezTo>
                    <a:pt x="60419" y="28575"/>
                    <a:pt x="47625" y="41369"/>
                    <a:pt x="47625" y="57150"/>
                  </a:cubicBezTo>
                  <a:cubicBezTo>
                    <a:pt x="47625" y="72931"/>
                    <a:pt x="60419" y="85725"/>
                    <a:pt x="76200" y="85725"/>
                  </a:cubicBezTo>
                  <a:close/>
                </a:path>
              </a:pathLst>
            </a:custGeom>
            <a:solidFill>
              <a:srgbClr val="0D5C63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157662" y="1478756"/>
              <a:ext cx="1434626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ECharts 热力地图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60520" y="1693545"/>
              <a:ext cx="107442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物流路线动态光点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00750" y="1333500"/>
            <a:ext cx="2190750" cy="590550"/>
            <a:chOff x="6000750" y="1333500"/>
            <a:chExt cx="2190750" cy="5905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6" name="Rectangle 26"/>
            <p:cNvSpPr/>
            <p:nvPr/>
          </p:nvSpPr>
          <p:spPr>
            <a:xfrm>
              <a:off x="6000750" y="1333500"/>
              <a:ext cx="219075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6115050" y="144780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31" name="Group 31"/>
            <p:cNvGrpSpPr/>
            <p:nvPr/>
          </p:nvGrpSpPr>
          <p:grpSpPr>
            <a:xfrm>
              <a:off x="6200775" y="1543050"/>
              <a:ext cx="152400" cy="133350"/>
              <a:chOff x="6200775" y="1543050"/>
              <a:chExt cx="152400" cy="1333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315075" y="1543050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33350"/>
                    </a:lnTo>
                    <a:lnTo>
                      <a:pt x="38100" y="1333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257925" y="1581150"/>
                <a:ext cx="381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95250"/>
                    </a:lnTo>
                    <a:lnTo>
                      <a:pt x="0" y="95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00775" y="1619250"/>
                <a:ext cx="381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15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57150"/>
                    </a:lnTo>
                    <a:lnTo>
                      <a:pt x="0" y="57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538912" y="1478756"/>
              <a:ext cx="986070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KPI / 趋势图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1770" y="1693545"/>
              <a:ext cx="101527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折线图+滚动预警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382000" y="1333500"/>
            <a:ext cx="2476500" cy="590550"/>
            <a:chOff x="8382000" y="1333500"/>
            <a:chExt cx="2476500" cy="5905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5" name="Rectangle 35"/>
            <p:cNvSpPr/>
            <p:nvPr/>
          </p:nvSpPr>
          <p:spPr>
            <a:xfrm>
              <a:off x="8382000" y="1333500"/>
              <a:ext cx="2476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8496300" y="144780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39" name="Group 39"/>
            <p:cNvGrpSpPr/>
            <p:nvPr/>
          </p:nvGrpSpPr>
          <p:grpSpPr>
            <a:xfrm>
              <a:off x="8582025" y="1552575"/>
              <a:ext cx="152400" cy="114300"/>
              <a:chOff x="8582025" y="1552575"/>
              <a:chExt cx="152400" cy="1143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582025" y="1552575"/>
                <a:ext cx="1524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7625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47625"/>
                    </a:lnTo>
                    <a:lnTo>
                      <a:pt x="152400" y="47625"/>
                    </a:lnTo>
                    <a:lnTo>
                      <a:pt x="152400" y="0"/>
                    </a:lnTo>
                    <a:close/>
                    <a:moveTo>
                      <a:pt x="38100" y="23812"/>
                    </a:moveTo>
                    <a:cubicBezTo>
                      <a:pt x="38100" y="29073"/>
                      <a:pt x="33835" y="33338"/>
                      <a:pt x="28575" y="33338"/>
                    </a:cubicBezTo>
                    <a:cubicBezTo>
                      <a:pt x="23315" y="33338"/>
                      <a:pt x="19050" y="29073"/>
                      <a:pt x="19050" y="23812"/>
                    </a:cubicBezTo>
                    <a:cubicBezTo>
                      <a:pt x="19050" y="18552"/>
                      <a:pt x="23315" y="14288"/>
                      <a:pt x="28575" y="14288"/>
                    </a:cubicBezTo>
                    <a:cubicBezTo>
                      <a:pt x="33835" y="14288"/>
                      <a:pt x="38100" y="18552"/>
                      <a:pt x="38100" y="23812"/>
                    </a:cubicBez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82025" y="1619250"/>
                <a:ext cx="1524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7625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47625"/>
                    </a:lnTo>
                    <a:lnTo>
                      <a:pt x="152400" y="47625"/>
                    </a:lnTo>
                    <a:lnTo>
                      <a:pt x="152400" y="0"/>
                    </a:lnTo>
                    <a:close/>
                    <a:moveTo>
                      <a:pt x="28575" y="33338"/>
                    </a:moveTo>
                    <a:cubicBezTo>
                      <a:pt x="33835" y="33338"/>
                      <a:pt x="38100" y="29073"/>
                      <a:pt x="38100" y="23812"/>
                    </a:cubicBezTo>
                    <a:cubicBezTo>
                      <a:pt x="38100" y="18552"/>
                      <a:pt x="33835" y="14288"/>
                      <a:pt x="28575" y="14288"/>
                    </a:cubicBezTo>
                    <a:cubicBezTo>
                      <a:pt x="23315" y="14288"/>
                      <a:pt x="19050" y="18552"/>
                      <a:pt x="19050" y="23812"/>
                    </a:cubicBezTo>
                    <a:cubicBezTo>
                      <a:pt x="19050" y="29073"/>
                      <a:pt x="23315" y="33338"/>
                      <a:pt x="28575" y="33338"/>
                    </a:cubicBezTo>
                    <a:close/>
                  </a:path>
                </a:pathLst>
              </a:custGeom>
              <a:solidFill>
                <a:srgbClr val="0D5C63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920162" y="1478756"/>
              <a:ext cx="1158591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Pinia 状态管理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23020" y="1693545"/>
              <a:ext cx="98240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全局Socket实例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Rectangle 43"/>
          <p:cNvSpPr/>
          <p:nvPr/>
        </p:nvSpPr>
        <p:spPr>
          <a:xfrm>
            <a:off x="571500" y="2190750"/>
            <a:ext cx="342900" cy="142875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11941" y="2816542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1047750" y="2190750"/>
            <a:ext cx="10001250" cy="1428750"/>
          </a:xfrm>
          <a:prstGeom prst="roundRect">
            <a:avLst>
              <a:gd name="adj" fmla="val 6667"/>
            </a:avLst>
          </a:prstGeom>
          <a:solidFill>
            <a:srgbClr val="FFFFFF">
              <a:alpha val="30000"/>
            </a:srgbClr>
          </a:solidFill>
          <a:ln w="14288">
            <a:solidFill>
              <a:srgbClr val="1E3A5F"/>
            </a:solidFill>
            <a:custDash>
              <a:ds d="400000" sp="266666"/>
            </a:custDash>
          </a:ln>
        </p:spPr>
      </p:sp>
      <p:sp>
        <p:nvSpPr>
          <p:cNvPr id="46" name="TextBox 46"/>
          <p:cNvSpPr txBox="1"/>
          <p:nvPr/>
        </p:nvSpPr>
        <p:spPr>
          <a:xfrm>
            <a:off x="4618063" y="2267902"/>
            <a:ext cx="28606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逻辑层 · 后端服务 (FastAPI + Python)</a:t>
            </a:r>
            <a:endParaRPr lang="zh-CN" sz="1050" b="1" dirty="0">
              <a:solidFill>
                <a:srgbClr val="1E3A5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54" name="Group 54"/>
          <p:cNvGrpSpPr/>
          <p:nvPr/>
        </p:nvGrpSpPr>
        <p:grpSpPr>
          <a:xfrm>
            <a:off x="1238250" y="2571750"/>
            <a:ext cx="2364676" cy="904875"/>
            <a:chOff x="1238250" y="2571750"/>
            <a:chExt cx="2364676" cy="904875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7" name="Rectangle 47"/>
            <p:cNvSpPr/>
            <p:nvPr/>
          </p:nvSpPr>
          <p:spPr>
            <a:xfrm>
              <a:off x="1238250" y="2571750"/>
              <a:ext cx="219075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8" name="Rectangle 48"/>
            <p:cNvSpPr/>
            <p:nvPr/>
          </p:nvSpPr>
          <p:spPr>
            <a:xfrm>
              <a:off x="1352550" y="268605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9" name="Freeform 49"/>
            <p:cNvSpPr/>
            <p:nvPr/>
          </p:nvSpPr>
          <p:spPr>
            <a:xfrm>
              <a:off x="1457325" y="2805112"/>
              <a:ext cx="114300" cy="85725"/>
            </a:xfrm>
            <a:custGeom>
              <a:avLst/>
              <a:gdLst/>
              <a:ahLst/>
              <a:cxnLst/>
              <a:rect l="l" t="t" r="r" b="b"/>
              <a:pathLst>
                <a:path w="114300" h="85725">
                  <a:moveTo>
                    <a:pt x="57150" y="28575"/>
                  </a:moveTo>
                  <a:lnTo>
                    <a:pt x="57150" y="0"/>
                  </a:lnTo>
                  <a:lnTo>
                    <a:pt x="71438" y="0"/>
                  </a:lnTo>
                  <a:lnTo>
                    <a:pt x="114300" y="42862"/>
                  </a:lnTo>
                  <a:lnTo>
                    <a:pt x="71438" y="85725"/>
                  </a:lnTo>
                  <a:lnTo>
                    <a:pt x="57150" y="85725"/>
                  </a:lnTo>
                  <a:lnTo>
                    <a:pt x="57150" y="57150"/>
                  </a:lnTo>
                  <a:lnTo>
                    <a:pt x="0" y="57150"/>
                  </a:lnTo>
                  <a:lnTo>
                    <a:pt x="0" y="28575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rgbClr val="1E3A5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1776412" y="2717006"/>
              <a:ext cx="942939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RESTful API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79270" y="2931795"/>
              <a:ext cx="182365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POST /api/v1/stream/ingest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79270" y="3093720"/>
              <a:ext cx="152133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GET /api/v1/kpi/history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79270" y="3255645"/>
              <a:ext cx="144903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WebSocket API推送通道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619500" y="2571750"/>
            <a:ext cx="2476500" cy="904875"/>
            <a:chOff x="3619500" y="2571750"/>
            <a:chExt cx="2476500" cy="904875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5" name="Rectangle 55"/>
            <p:cNvSpPr/>
            <p:nvPr/>
          </p:nvSpPr>
          <p:spPr>
            <a:xfrm>
              <a:off x="3619500" y="2571750"/>
              <a:ext cx="24765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6" name="Rectangle 56"/>
            <p:cNvSpPr/>
            <p:nvPr/>
          </p:nvSpPr>
          <p:spPr>
            <a:xfrm>
              <a:off x="3733800" y="268605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7" name="Freeform 57"/>
            <p:cNvSpPr/>
            <p:nvPr/>
          </p:nvSpPr>
          <p:spPr>
            <a:xfrm>
              <a:off x="3838575" y="2771775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28575" y="109538"/>
                  </a:moveTo>
                  <a:lnTo>
                    <a:pt x="28575" y="138112"/>
                  </a:lnTo>
                  <a:lnTo>
                    <a:pt x="42862" y="152400"/>
                  </a:lnTo>
                  <a:lnTo>
                    <a:pt x="71438" y="152400"/>
                  </a:lnTo>
                  <a:lnTo>
                    <a:pt x="85725" y="138112"/>
                  </a:lnTo>
                  <a:lnTo>
                    <a:pt x="85725" y="109538"/>
                  </a:lnTo>
                  <a:lnTo>
                    <a:pt x="97532" y="97730"/>
                  </a:lnTo>
                  <a:cubicBezTo>
                    <a:pt x="108269" y="86994"/>
                    <a:pt x="114300" y="72403"/>
                    <a:pt x="114300" y="57220"/>
                  </a:cubicBezTo>
                  <a:cubicBezTo>
                    <a:pt x="114300" y="25657"/>
                    <a:pt x="88713" y="0"/>
                    <a:pt x="57150" y="0"/>
                  </a:cubicBezTo>
                  <a:cubicBezTo>
                    <a:pt x="25587" y="0"/>
                    <a:pt x="0" y="25657"/>
                    <a:pt x="0" y="57220"/>
                  </a:cubicBezTo>
                  <a:cubicBezTo>
                    <a:pt x="0" y="72403"/>
                    <a:pt x="6032" y="86994"/>
                    <a:pt x="16768" y="97730"/>
                  </a:cubicBezTo>
                  <a:lnTo>
                    <a:pt x="28575" y="109538"/>
                  </a:lnTo>
                  <a:close/>
                  <a:moveTo>
                    <a:pt x="47625" y="94050"/>
                  </a:moveTo>
                  <a:lnTo>
                    <a:pt x="47625" y="57150"/>
                  </a:lnTo>
                  <a:lnTo>
                    <a:pt x="66675" y="57150"/>
                  </a:lnTo>
                  <a:lnTo>
                    <a:pt x="66675" y="94050"/>
                  </a:lnTo>
                  <a:cubicBezTo>
                    <a:pt x="83108" y="89820"/>
                    <a:pt x="95250" y="74903"/>
                    <a:pt x="95250" y="57150"/>
                  </a:cubicBezTo>
                  <a:cubicBezTo>
                    <a:pt x="95250" y="36108"/>
                    <a:pt x="78192" y="19050"/>
                    <a:pt x="57150" y="19050"/>
                  </a:cubicBezTo>
                  <a:cubicBezTo>
                    <a:pt x="36108" y="19050"/>
                    <a:pt x="19050" y="36108"/>
                    <a:pt x="19050" y="57150"/>
                  </a:cubicBezTo>
                  <a:cubicBezTo>
                    <a:pt x="19050" y="74903"/>
                    <a:pt x="31192" y="89820"/>
                    <a:pt x="47625" y="94050"/>
                  </a:cubicBezTo>
                  <a:close/>
                </a:path>
              </a:pathLst>
            </a:custGeom>
            <a:solidFill>
              <a:srgbClr val="1E3A5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4157662" y="2717006"/>
              <a:ext cx="126210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模型推理引擎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160520" y="2931795"/>
              <a:ext cx="139646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预加载 risk_model.pkl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160520" y="3093720"/>
              <a:ext cx="150161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model.predict_proba()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160520" y="3255645"/>
              <a:ext cx="155419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阈值判定 &gt; 0.85 触发告警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286500" y="2571750"/>
            <a:ext cx="2286000" cy="904875"/>
            <a:chOff x="6286500" y="2571750"/>
            <a:chExt cx="2286000" cy="904875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3" name="Rectangle 63"/>
            <p:cNvSpPr/>
            <p:nvPr/>
          </p:nvSpPr>
          <p:spPr>
            <a:xfrm>
              <a:off x="6286500" y="2571750"/>
              <a:ext cx="22860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6400800" y="268605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68" name="Group 68"/>
            <p:cNvGrpSpPr/>
            <p:nvPr/>
          </p:nvGrpSpPr>
          <p:grpSpPr>
            <a:xfrm>
              <a:off x="6505575" y="2771775"/>
              <a:ext cx="114300" cy="152400"/>
              <a:chOff x="6505575" y="2771775"/>
              <a:chExt cx="114300" cy="1524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505575" y="2832735"/>
                <a:ext cx="11430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3815">
                    <a:moveTo>
                      <a:pt x="106081" y="4859"/>
                    </a:moveTo>
                    <a:cubicBezTo>
                      <a:pt x="108760" y="3519"/>
                      <a:pt x="111560" y="1903"/>
                      <a:pt x="114300" y="0"/>
                    </a:cubicBezTo>
                    <a:lnTo>
                      <a:pt x="114300" y="15240"/>
                    </a:lnTo>
                    <a:cubicBezTo>
                      <a:pt x="114300" y="31021"/>
                      <a:pt x="88713" y="43815"/>
                      <a:pt x="57150" y="43815"/>
                    </a:cubicBezTo>
                    <a:cubicBezTo>
                      <a:pt x="25587" y="43815"/>
                      <a:pt x="0" y="31021"/>
                      <a:pt x="0" y="15240"/>
                    </a:cubicBezTo>
                    <a:lnTo>
                      <a:pt x="0" y="0"/>
                    </a:lnTo>
                    <a:cubicBezTo>
                      <a:pt x="2741" y="1903"/>
                      <a:pt x="5540" y="3519"/>
                      <a:pt x="8219" y="4859"/>
                    </a:cubicBezTo>
                    <a:cubicBezTo>
                      <a:pt x="21726" y="11613"/>
                      <a:pt x="39052" y="15240"/>
                      <a:pt x="57150" y="15240"/>
                    </a:cubicBezTo>
                    <a:cubicBezTo>
                      <a:pt x="75248" y="15240"/>
                      <a:pt x="92573" y="11613"/>
                      <a:pt x="106081" y="4859"/>
                    </a:cubicBezTo>
                    <a:close/>
                  </a:path>
                </a:pathLst>
              </a:custGeom>
              <a:solidFill>
                <a:srgbClr val="1E3A5F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505575" y="2880360"/>
                <a:ext cx="11430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3815">
                    <a:moveTo>
                      <a:pt x="0" y="0"/>
                    </a:moveTo>
                    <a:lnTo>
                      <a:pt x="0" y="15240"/>
                    </a:lnTo>
                    <a:cubicBezTo>
                      <a:pt x="0" y="31022"/>
                      <a:pt x="25587" y="43815"/>
                      <a:pt x="57150" y="43815"/>
                    </a:cubicBezTo>
                    <a:cubicBezTo>
                      <a:pt x="88713" y="43815"/>
                      <a:pt x="114300" y="31022"/>
                      <a:pt x="114300" y="15240"/>
                    </a:cubicBezTo>
                    <a:lnTo>
                      <a:pt x="114300" y="0"/>
                    </a:lnTo>
                    <a:cubicBezTo>
                      <a:pt x="111560" y="1903"/>
                      <a:pt x="108760" y="3519"/>
                      <a:pt x="106081" y="4860"/>
                    </a:cubicBezTo>
                    <a:cubicBezTo>
                      <a:pt x="92573" y="11613"/>
                      <a:pt x="75248" y="15240"/>
                      <a:pt x="57150" y="15240"/>
                    </a:cubicBezTo>
                    <a:cubicBezTo>
                      <a:pt x="39052" y="15240"/>
                      <a:pt x="21726" y="11613"/>
                      <a:pt x="8219" y="4860"/>
                    </a:cubicBezTo>
                    <a:cubicBezTo>
                      <a:pt x="5540" y="3519"/>
                      <a:pt x="2741" y="1903"/>
                      <a:pt x="0" y="0"/>
                    </a:cubicBezTo>
                    <a:close/>
                  </a:path>
                </a:pathLst>
              </a:custGeom>
              <a:solidFill>
                <a:srgbClr val="1E3A5F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05575" y="2771775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57150" y="0"/>
                    </a:moveTo>
                    <a:cubicBezTo>
                      <a:pt x="88713" y="0"/>
                      <a:pt x="114300" y="12794"/>
                      <a:pt x="114300" y="28575"/>
                    </a:cubicBezTo>
                    <a:cubicBezTo>
                      <a:pt x="114300" y="44356"/>
                      <a:pt x="88713" y="57150"/>
                      <a:pt x="57150" y="57150"/>
                    </a:cubicBezTo>
                    <a:cubicBezTo>
                      <a:pt x="25587" y="57150"/>
                      <a:pt x="0" y="44356"/>
                      <a:pt x="0" y="28575"/>
                    </a:cubicBezTo>
                    <a:cubicBezTo>
                      <a:pt x="0" y="12794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1E3A5F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824662" y="2717006"/>
              <a:ext cx="1236226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数据注入控制器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27520" y="2931795"/>
              <a:ext cx="107442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接收回放引擎数据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27520" y="3093720"/>
              <a:ext cx="127158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JSON → Order持久化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27520" y="3255645"/>
              <a:ext cx="92325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触发AI推理流程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763000" y="2571750"/>
            <a:ext cx="2095500" cy="904875"/>
            <a:chOff x="8763000" y="2571750"/>
            <a:chExt cx="2095500" cy="904875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4" name="Rectangle 74"/>
            <p:cNvSpPr/>
            <p:nvPr/>
          </p:nvSpPr>
          <p:spPr>
            <a:xfrm>
              <a:off x="8763000" y="2571750"/>
              <a:ext cx="20955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5" name="Rectangle 75"/>
            <p:cNvSpPr/>
            <p:nvPr/>
          </p:nvSpPr>
          <p:spPr>
            <a:xfrm>
              <a:off x="8877300" y="2686050"/>
              <a:ext cx="323850" cy="323850"/>
            </a:xfrm>
            <a:prstGeom prst="roundRect">
              <a:avLst>
                <a:gd name="adj" fmla="val 23529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78" name="Group 78"/>
            <p:cNvGrpSpPr/>
            <p:nvPr/>
          </p:nvGrpSpPr>
          <p:grpSpPr>
            <a:xfrm>
              <a:off x="8963025" y="2790825"/>
              <a:ext cx="152400" cy="114300"/>
              <a:chOff x="8963025" y="2790825"/>
              <a:chExt cx="152400" cy="1143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963025" y="2790825"/>
                <a:ext cx="1524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7625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47625"/>
                    </a:lnTo>
                    <a:lnTo>
                      <a:pt x="152400" y="47625"/>
                    </a:lnTo>
                    <a:lnTo>
                      <a:pt x="152400" y="0"/>
                    </a:lnTo>
                    <a:close/>
                    <a:moveTo>
                      <a:pt x="38100" y="23812"/>
                    </a:moveTo>
                    <a:cubicBezTo>
                      <a:pt x="38100" y="29073"/>
                      <a:pt x="33835" y="33338"/>
                      <a:pt x="28575" y="33338"/>
                    </a:cubicBezTo>
                    <a:cubicBezTo>
                      <a:pt x="23315" y="33338"/>
                      <a:pt x="19050" y="29073"/>
                      <a:pt x="19050" y="23812"/>
                    </a:cubicBezTo>
                    <a:cubicBezTo>
                      <a:pt x="19050" y="18552"/>
                      <a:pt x="23315" y="14288"/>
                      <a:pt x="28575" y="14288"/>
                    </a:cubicBezTo>
                    <a:cubicBezTo>
                      <a:pt x="33835" y="14288"/>
                      <a:pt x="38100" y="18552"/>
                      <a:pt x="38100" y="23812"/>
                    </a:cubicBezTo>
                    <a:close/>
                  </a:path>
                </a:pathLst>
              </a:custGeom>
              <a:solidFill>
                <a:srgbClr val="1E3A5F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963025" y="2857500"/>
                <a:ext cx="1524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7625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47625"/>
                    </a:lnTo>
                    <a:lnTo>
                      <a:pt x="152400" y="47625"/>
                    </a:lnTo>
                    <a:lnTo>
                      <a:pt x="152400" y="0"/>
                    </a:lnTo>
                    <a:close/>
                    <a:moveTo>
                      <a:pt x="28575" y="33338"/>
                    </a:moveTo>
                    <a:cubicBezTo>
                      <a:pt x="33835" y="33338"/>
                      <a:pt x="38100" y="29073"/>
                      <a:pt x="38100" y="23812"/>
                    </a:cubicBezTo>
                    <a:cubicBezTo>
                      <a:pt x="38100" y="18552"/>
                      <a:pt x="33835" y="14288"/>
                      <a:pt x="28575" y="14288"/>
                    </a:cubicBezTo>
                    <a:cubicBezTo>
                      <a:pt x="23315" y="14288"/>
                      <a:pt x="19050" y="18552"/>
                      <a:pt x="19050" y="23812"/>
                    </a:cubicBezTo>
                    <a:cubicBezTo>
                      <a:pt x="19050" y="29073"/>
                      <a:pt x="23315" y="33338"/>
                      <a:pt x="28575" y="33338"/>
                    </a:cubicBezTo>
                    <a:close/>
                  </a:path>
                </a:pathLst>
              </a:custGeom>
              <a:solidFill>
                <a:srgbClr val="1E3A5F"/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9301162" y="2717006"/>
              <a:ext cx="1313861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WebSocket 服务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304020" y="2931795"/>
              <a:ext cx="134388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ws://.../ws/alerts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04020" y="3093720"/>
              <a:ext cx="100869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Alert广播至前端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304020" y="3255645"/>
              <a:ext cx="680085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连接池管理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4" name="Rectangle 84"/>
          <p:cNvSpPr/>
          <p:nvPr/>
        </p:nvSpPr>
        <p:spPr>
          <a:xfrm>
            <a:off x="571500" y="3762375"/>
            <a:ext cx="342900" cy="104775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611941" y="419766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6" name="Rectangle 86"/>
          <p:cNvSpPr/>
          <p:nvPr/>
        </p:nvSpPr>
        <p:spPr>
          <a:xfrm>
            <a:off x="1047750" y="3762375"/>
            <a:ext cx="10001250" cy="1047750"/>
          </a:xfrm>
          <a:prstGeom prst="roundRect">
            <a:avLst>
              <a:gd name="adj" fmla="val 9091"/>
            </a:avLst>
          </a:prstGeom>
          <a:solidFill>
            <a:srgbClr val="FFFFFF">
              <a:alpha val="30000"/>
            </a:srgbClr>
          </a:solidFill>
          <a:ln w="14288">
            <a:solidFill>
              <a:srgbClr val="2A9D8F"/>
            </a:solidFill>
            <a:custDash>
              <a:ds d="400000" sp="266666"/>
            </a:custDash>
          </a:ln>
        </p:spPr>
      </p:sp>
      <p:sp>
        <p:nvSpPr>
          <p:cNvPr id="87" name="TextBox 87"/>
          <p:cNvSpPr txBox="1"/>
          <p:nvPr/>
        </p:nvSpPr>
        <p:spPr>
          <a:xfrm>
            <a:off x="5298373" y="3839528"/>
            <a:ext cx="15000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数据层 · 存储与缓存</a:t>
            </a:r>
            <a:endParaRPr lang="zh-CN" sz="1050" b="1" dirty="0">
              <a:solidFill>
                <a:srgbClr val="2A9D8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93" name="Group 93"/>
          <p:cNvGrpSpPr/>
          <p:nvPr/>
        </p:nvGrpSpPr>
        <p:grpSpPr>
          <a:xfrm>
            <a:off x="1238250" y="4143375"/>
            <a:ext cx="2857500" cy="523875"/>
            <a:chOff x="1238250" y="4143375"/>
            <a:chExt cx="2857500" cy="523875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88" name="Rectangle 88"/>
            <p:cNvSpPr/>
            <p:nvPr/>
          </p:nvSpPr>
          <p:spPr>
            <a:xfrm>
              <a:off x="1238250" y="4143375"/>
              <a:ext cx="285750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9" name="Rectangle 89"/>
            <p:cNvSpPr/>
            <p:nvPr/>
          </p:nvSpPr>
          <p:spPr>
            <a:xfrm>
              <a:off x="1352550" y="4238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0" name="TextBox 90"/>
            <p:cNvSpPr txBox="1"/>
            <p:nvPr/>
          </p:nvSpPr>
          <p:spPr>
            <a:xfrm>
              <a:off x="1411176" y="4309110"/>
              <a:ext cx="16849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</a:t>
              </a:r>
              <a:endParaRPr lang="zh-CN" sz="120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775460" y="4271010"/>
              <a:ext cx="96899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 8.0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779270" y="4474845"/>
              <a:ext cx="200767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持久化 orders / alerts 业务数据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4286250" y="4143375"/>
            <a:ext cx="2857500" cy="523875"/>
            <a:chOff x="4286250" y="4143375"/>
            <a:chExt cx="2857500" cy="523875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94" name="Rectangle 94"/>
            <p:cNvSpPr/>
            <p:nvPr/>
          </p:nvSpPr>
          <p:spPr>
            <a:xfrm>
              <a:off x="4286250" y="4143375"/>
              <a:ext cx="285750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5" name="Rectangle 95"/>
            <p:cNvSpPr/>
            <p:nvPr/>
          </p:nvSpPr>
          <p:spPr>
            <a:xfrm>
              <a:off x="4400550" y="4238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6" name="TextBox 96"/>
            <p:cNvSpPr txBox="1"/>
            <p:nvPr/>
          </p:nvSpPr>
          <p:spPr>
            <a:xfrm>
              <a:off x="4477579" y="4309110"/>
              <a:ext cx="13169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</a:t>
              </a:r>
              <a:endParaRPr lang="zh-CN" sz="120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823460" y="4271010"/>
              <a:ext cx="849382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Redis 7.0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827270" y="4474845"/>
              <a:ext cx="165277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KPI缓存 + Pub/Sub消息队列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334250" y="4143375"/>
            <a:ext cx="3524250" cy="523875"/>
            <a:chOff x="7334250" y="4143375"/>
            <a:chExt cx="3524250" cy="523875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00" name="Rectangle 100"/>
            <p:cNvSpPr/>
            <p:nvPr/>
          </p:nvSpPr>
          <p:spPr>
            <a:xfrm>
              <a:off x="7334250" y="4143375"/>
              <a:ext cx="352425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1" name="Rectangle 101"/>
            <p:cNvSpPr/>
            <p:nvPr/>
          </p:nvSpPr>
          <p:spPr>
            <a:xfrm>
              <a:off x="7448550" y="4238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2" name="TextBox 102"/>
            <p:cNvSpPr txBox="1"/>
            <p:nvPr/>
          </p:nvSpPr>
          <p:spPr>
            <a:xfrm>
              <a:off x="7525579" y="4309110"/>
              <a:ext cx="13169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</a:t>
              </a:r>
              <a:endParaRPr lang="zh-CN" sz="120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871460" y="4271010"/>
              <a:ext cx="95059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外部数据源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875270" y="4474845"/>
              <a:ext cx="227056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Python回放脚本读取 CSV → POST 注入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06" name="Rectangle 106"/>
          <p:cNvSpPr/>
          <p:nvPr/>
        </p:nvSpPr>
        <p:spPr>
          <a:xfrm>
            <a:off x="571500" y="4953000"/>
            <a:ext cx="342900" cy="857250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611941" y="5293042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1047750" y="4953000"/>
            <a:ext cx="100012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4658318" y="5058728"/>
            <a:ext cx="27801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部署基础 · Docker Compose 一键启动</a:t>
            </a:r>
            <a:endParaRPr lang="zh-CN" sz="1050" b="1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0" name="Rectangle 110"/>
          <p:cNvSpPr/>
          <p:nvPr/>
        </p:nvSpPr>
        <p:spPr>
          <a:xfrm>
            <a:off x="1285875" y="5314950"/>
            <a:ext cx="1857375" cy="361950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1757685" y="5430202"/>
            <a:ext cx="904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MySQL 容器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2" name="Rectangle 112"/>
          <p:cNvSpPr/>
          <p:nvPr/>
        </p:nvSpPr>
        <p:spPr>
          <a:xfrm>
            <a:off x="3286125" y="5314950"/>
            <a:ext cx="1857375" cy="361950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3810267" y="5430202"/>
            <a:ext cx="7995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Redis 容器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4" name="Rectangle 114"/>
          <p:cNvSpPr/>
          <p:nvPr/>
        </p:nvSpPr>
        <p:spPr>
          <a:xfrm>
            <a:off x="5286375" y="5314950"/>
            <a:ext cx="1857375" cy="361950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5721956" y="5430202"/>
            <a:ext cx="976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FastAPI 容器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6" name="Rectangle 116"/>
          <p:cNvSpPr/>
          <p:nvPr/>
        </p:nvSpPr>
        <p:spPr>
          <a:xfrm>
            <a:off x="7286625" y="5314950"/>
            <a:ext cx="1857375" cy="361950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7702078" y="5430202"/>
            <a:ext cx="10169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Vue 3 + Nginx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8" name="Rectangle 118"/>
          <p:cNvSpPr/>
          <p:nvPr/>
        </p:nvSpPr>
        <p:spPr>
          <a:xfrm>
            <a:off x="9286875" y="5314950"/>
            <a:ext cx="1619250" cy="361950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600105" y="54302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回放脚本容器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0" name="TextBox 120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0528"/>
            <a:ext cx="2603658" cy="630078"/>
            <a:chOff x="571500" y="410528"/>
            <a:chExt cx="2603658" cy="630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57150" cy="3238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41106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核心技术选型</a:t>
              </a:r>
              <a:endParaRPr lang="zh-CN" sz="25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812006"/>
              <a:ext cx="2427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 · 后端 · 算法 · 存储 · 部署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85875"/>
            <a:ext cx="2133600" cy="3048000"/>
            <a:chOff x="571500" y="1285875"/>
            <a:chExt cx="2133600" cy="304800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2133600" cy="30480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2133600" cy="666750"/>
            </a:xfrm>
            <a:prstGeom prst="roundRect">
              <a:avLst>
                <a:gd name="adj" fmla="val 17143"/>
              </a:avLst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666875"/>
              <a:ext cx="2133600" cy="285750"/>
            </a:xfrm>
            <a:prstGeom prst="rect">
              <a:avLst/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857250" y="1428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14" name="Group 14"/>
            <p:cNvGrpSpPr/>
            <p:nvPr/>
          </p:nvGrpSpPr>
          <p:grpSpPr>
            <a:xfrm>
              <a:off x="971550" y="1551228"/>
              <a:ext cx="152400" cy="136044"/>
              <a:chOff x="971550" y="1551228"/>
              <a:chExt cx="152400" cy="13604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28796" y="1551228"/>
                <a:ext cx="37909" cy="136044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136044">
                    <a:moveTo>
                      <a:pt x="19050" y="0"/>
                    </a:moveTo>
                    <a:lnTo>
                      <a:pt x="0" y="133350"/>
                    </a:lnTo>
                    <a:lnTo>
                      <a:pt x="18859" y="136044"/>
                    </a:lnTo>
                    <a:lnTo>
                      <a:pt x="37909" y="2694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7142" y="1585912"/>
                <a:ext cx="4680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6808" h="66675">
                    <a:moveTo>
                      <a:pt x="13470" y="66675"/>
                    </a:moveTo>
                    <a:lnTo>
                      <a:pt x="0" y="53205"/>
                    </a:lnTo>
                    <a:lnTo>
                      <a:pt x="19867" y="33338"/>
                    </a:lnTo>
                    <a:lnTo>
                      <a:pt x="0" y="13470"/>
                    </a:lnTo>
                    <a:lnTo>
                      <a:pt x="13470" y="0"/>
                    </a:lnTo>
                    <a:lnTo>
                      <a:pt x="46808" y="33338"/>
                    </a:lnTo>
                    <a:lnTo>
                      <a:pt x="13470" y="666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71550" y="1585912"/>
                <a:ext cx="4680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6808" h="66675">
                    <a:moveTo>
                      <a:pt x="26941" y="33338"/>
                    </a:moveTo>
                    <a:lnTo>
                      <a:pt x="46808" y="53205"/>
                    </a:lnTo>
                    <a:lnTo>
                      <a:pt x="33338" y="66675"/>
                    </a:lnTo>
                    <a:lnTo>
                      <a:pt x="0" y="33338"/>
                    </a:lnTo>
                    <a:lnTo>
                      <a:pt x="33338" y="0"/>
                    </a:lnTo>
                    <a:lnTo>
                      <a:pt x="46808" y="13470"/>
                    </a:lnTo>
                    <a:lnTo>
                      <a:pt x="26941" y="333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63980" y="1473518"/>
              <a:ext cx="448342" cy="2743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9695" y="1712595"/>
              <a:ext cx="601218" cy="18288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Frontend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385" y="2108835"/>
              <a:ext cx="1061009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Vue 3 + Vite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6290" y="2410778"/>
              <a:ext cx="1100137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组件化开发框架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809625" y="2714625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385" y="2823210"/>
              <a:ext cx="738969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ECharts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6290" y="3125152"/>
              <a:ext cx="1276493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地图 / 折线图渲染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809625" y="34290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4385" y="3537585"/>
              <a:ext cx="978198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WebSocket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290" y="3839528"/>
              <a:ext cx="1406842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实时数据推送客户端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895600" y="1285875"/>
            <a:ext cx="2133600" cy="3048000"/>
            <a:chOff x="2895600" y="1285875"/>
            <a:chExt cx="2133600" cy="304800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6" name="Rectangle 26"/>
            <p:cNvSpPr/>
            <p:nvPr/>
          </p:nvSpPr>
          <p:spPr>
            <a:xfrm>
              <a:off x="2895600" y="1285875"/>
              <a:ext cx="2133600" cy="30480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2895600" y="1285875"/>
              <a:ext cx="2133600" cy="666750"/>
            </a:xfrm>
            <a:prstGeom prst="roundRect">
              <a:avLst>
                <a:gd name="adj" fmla="val 17143"/>
              </a:avLst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2895600" y="1666875"/>
              <a:ext cx="2133600" cy="28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3181350" y="1428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32" name="Group 32"/>
            <p:cNvGrpSpPr/>
            <p:nvPr/>
          </p:nvGrpSpPr>
          <p:grpSpPr>
            <a:xfrm>
              <a:off x="3295650" y="1562100"/>
              <a:ext cx="152400" cy="114300"/>
              <a:chOff x="3295650" y="1562100"/>
              <a:chExt cx="152400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3295650" y="1562100"/>
                <a:ext cx="1524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7625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47625"/>
                    </a:lnTo>
                    <a:lnTo>
                      <a:pt x="152400" y="47625"/>
                    </a:lnTo>
                    <a:lnTo>
                      <a:pt x="152400" y="0"/>
                    </a:lnTo>
                    <a:close/>
                    <a:moveTo>
                      <a:pt x="38100" y="23812"/>
                    </a:moveTo>
                    <a:cubicBezTo>
                      <a:pt x="38100" y="29073"/>
                      <a:pt x="33835" y="33338"/>
                      <a:pt x="28575" y="33338"/>
                    </a:cubicBezTo>
                    <a:cubicBezTo>
                      <a:pt x="23315" y="33338"/>
                      <a:pt x="19050" y="29073"/>
                      <a:pt x="19050" y="23812"/>
                    </a:cubicBezTo>
                    <a:cubicBezTo>
                      <a:pt x="19050" y="18552"/>
                      <a:pt x="23315" y="14288"/>
                      <a:pt x="28575" y="14288"/>
                    </a:cubicBezTo>
                    <a:cubicBezTo>
                      <a:pt x="33835" y="14288"/>
                      <a:pt x="38100" y="18552"/>
                      <a:pt x="38100" y="238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295650" y="1628775"/>
                <a:ext cx="1524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7625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47625"/>
                    </a:lnTo>
                    <a:lnTo>
                      <a:pt x="152400" y="47625"/>
                    </a:lnTo>
                    <a:lnTo>
                      <a:pt x="152400" y="0"/>
                    </a:lnTo>
                    <a:close/>
                    <a:moveTo>
                      <a:pt x="28575" y="33338"/>
                    </a:moveTo>
                    <a:cubicBezTo>
                      <a:pt x="33835" y="33338"/>
                      <a:pt x="38100" y="29073"/>
                      <a:pt x="38100" y="23812"/>
                    </a:cubicBezTo>
                    <a:cubicBezTo>
                      <a:pt x="38100" y="18552"/>
                      <a:pt x="33835" y="14288"/>
                      <a:pt x="28575" y="14288"/>
                    </a:cubicBezTo>
                    <a:cubicBezTo>
                      <a:pt x="23315" y="14288"/>
                      <a:pt x="19050" y="18552"/>
                      <a:pt x="19050" y="23812"/>
                    </a:cubicBezTo>
                    <a:cubicBezTo>
                      <a:pt x="19050" y="29073"/>
                      <a:pt x="23315" y="33338"/>
                      <a:pt x="28575" y="333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3688080" y="1473518"/>
              <a:ext cx="448342" cy="2743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93795" y="1712595"/>
              <a:ext cx="528923" cy="18288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Backend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18485" y="2108835"/>
              <a:ext cx="1153020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 3.10+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20390" y="2410778"/>
              <a:ext cx="946785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核心开发语言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3133725" y="2714625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18485" y="2823210"/>
              <a:ext cx="692963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20390" y="3125152"/>
              <a:ext cx="923782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异步Web框架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3133725" y="34290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18485" y="3537585"/>
              <a:ext cx="692963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Uvicorn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20390" y="3839528"/>
              <a:ext cx="831771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ASGI 服务器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19700" y="1285875"/>
            <a:ext cx="2133600" cy="3048000"/>
            <a:chOff x="5219700" y="1285875"/>
            <a:chExt cx="2133600" cy="304800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4" name="Rectangle 44"/>
            <p:cNvSpPr/>
            <p:nvPr/>
          </p:nvSpPr>
          <p:spPr>
            <a:xfrm>
              <a:off x="5219700" y="1285875"/>
              <a:ext cx="2133600" cy="30480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5" name="Rectangle 45"/>
            <p:cNvSpPr/>
            <p:nvPr/>
          </p:nvSpPr>
          <p:spPr>
            <a:xfrm>
              <a:off x="5219700" y="1285875"/>
              <a:ext cx="2133600" cy="666750"/>
            </a:xfrm>
            <a:prstGeom prst="roundRect">
              <a:avLst>
                <a:gd name="adj" fmla="val 17143"/>
              </a:avLst>
            </a:prstGeom>
            <a:solidFill>
              <a:srgbClr val="2A9D8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5219700" y="1666875"/>
              <a:ext cx="2133600" cy="2857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7" name="Rectangle 47"/>
            <p:cNvSpPr/>
            <p:nvPr/>
          </p:nvSpPr>
          <p:spPr>
            <a:xfrm>
              <a:off x="5505450" y="1428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50" name="Group 50"/>
            <p:cNvGrpSpPr/>
            <p:nvPr/>
          </p:nvGrpSpPr>
          <p:grpSpPr>
            <a:xfrm>
              <a:off x="5619750" y="1543639"/>
              <a:ext cx="151810" cy="151811"/>
              <a:chOff x="5619750" y="1543639"/>
              <a:chExt cx="151810" cy="15181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619750" y="1543639"/>
                <a:ext cx="151810" cy="151811"/>
              </a:xfrm>
              <a:custGeom>
                <a:avLst/>
                <a:gdLst/>
                <a:ahLst/>
                <a:cxnLst/>
                <a:rect l="l" t="t" r="r" b="b"/>
                <a:pathLst>
                  <a:path w="151810" h="151811">
                    <a:moveTo>
                      <a:pt x="66675" y="0"/>
                    </a:moveTo>
                    <a:lnTo>
                      <a:pt x="66675" y="85136"/>
                    </a:lnTo>
                    <a:lnTo>
                      <a:pt x="151810" y="85136"/>
                    </a:lnTo>
                    <a:cubicBezTo>
                      <a:pt x="147123" y="122724"/>
                      <a:pt x="115058" y="151811"/>
                      <a:pt x="76200" y="151811"/>
                    </a:cubicBezTo>
                    <a:cubicBezTo>
                      <a:pt x="34116" y="151811"/>
                      <a:pt x="0" y="117695"/>
                      <a:pt x="0" y="75611"/>
                    </a:cubicBezTo>
                    <a:cubicBezTo>
                      <a:pt x="0" y="36752"/>
                      <a:pt x="29086" y="4687"/>
                      <a:pt x="66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705475" y="1543639"/>
                <a:ext cx="66085" cy="66086"/>
              </a:xfrm>
              <a:custGeom>
                <a:avLst/>
                <a:gdLst/>
                <a:ahLst/>
                <a:cxnLst/>
                <a:rect l="l" t="t" r="r" b="b"/>
                <a:pathLst>
                  <a:path w="66085" h="66086">
                    <a:moveTo>
                      <a:pt x="0" y="0"/>
                    </a:moveTo>
                    <a:lnTo>
                      <a:pt x="0" y="66086"/>
                    </a:lnTo>
                    <a:lnTo>
                      <a:pt x="66085" y="66086"/>
                    </a:lnTo>
                    <a:cubicBezTo>
                      <a:pt x="61788" y="31617"/>
                      <a:pt x="34468" y="4298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012180" y="1473518"/>
              <a:ext cx="448342" cy="2743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7895" y="1712595"/>
              <a:ext cx="634079" cy="18288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Algorithm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42585" y="2108835"/>
              <a:ext cx="1107015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Scikit-learn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44490" y="2410778"/>
              <a:ext cx="1100137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二分类预测模型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5457825" y="2714625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42585" y="2823210"/>
              <a:ext cx="637756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Pandas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44490" y="3125152"/>
              <a:ext cx="1406842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数据清洗与特征工程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Line 58"/>
            <p:cNvSpPr/>
            <p:nvPr/>
          </p:nvSpPr>
          <p:spPr>
            <a:xfrm>
              <a:off x="5457825" y="34290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42585" y="3537585"/>
              <a:ext cx="996601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.pkl 序列化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44490" y="3839528"/>
              <a:ext cx="1406842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模型文件导出与加载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543800" y="1285875"/>
            <a:ext cx="2133600" cy="3048000"/>
            <a:chOff x="7543800" y="1285875"/>
            <a:chExt cx="2133600" cy="304800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2" name="Rectangle 62"/>
            <p:cNvSpPr/>
            <p:nvPr/>
          </p:nvSpPr>
          <p:spPr>
            <a:xfrm>
              <a:off x="7543800" y="1285875"/>
              <a:ext cx="2133600" cy="30480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3" name="Rectangle 63"/>
            <p:cNvSpPr/>
            <p:nvPr/>
          </p:nvSpPr>
          <p:spPr>
            <a:xfrm>
              <a:off x="7543800" y="1285875"/>
              <a:ext cx="2133600" cy="666750"/>
            </a:xfrm>
            <a:prstGeom prst="roundRect">
              <a:avLst>
                <a:gd name="adj" fmla="val 17143"/>
              </a:avLst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7543800" y="1666875"/>
              <a:ext cx="2133600" cy="285750"/>
            </a:xfrm>
            <a:prstGeom prst="rect">
              <a:avLst/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5" name="Rectangle 65"/>
            <p:cNvSpPr/>
            <p:nvPr/>
          </p:nvSpPr>
          <p:spPr>
            <a:xfrm>
              <a:off x="7829550" y="1428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69" name="Group 69"/>
            <p:cNvGrpSpPr/>
            <p:nvPr/>
          </p:nvGrpSpPr>
          <p:grpSpPr>
            <a:xfrm>
              <a:off x="7962900" y="1543050"/>
              <a:ext cx="114300" cy="152400"/>
              <a:chOff x="7962900" y="1543050"/>
              <a:chExt cx="114300" cy="1524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962900" y="1604010"/>
                <a:ext cx="11430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3815">
                    <a:moveTo>
                      <a:pt x="106081" y="4859"/>
                    </a:moveTo>
                    <a:cubicBezTo>
                      <a:pt x="108760" y="3519"/>
                      <a:pt x="111560" y="1903"/>
                      <a:pt x="114300" y="0"/>
                    </a:cubicBezTo>
                    <a:lnTo>
                      <a:pt x="114300" y="15240"/>
                    </a:lnTo>
                    <a:cubicBezTo>
                      <a:pt x="114300" y="31021"/>
                      <a:pt x="88713" y="43815"/>
                      <a:pt x="57150" y="43815"/>
                    </a:cubicBezTo>
                    <a:cubicBezTo>
                      <a:pt x="25587" y="43815"/>
                      <a:pt x="0" y="31021"/>
                      <a:pt x="0" y="15240"/>
                    </a:cubicBezTo>
                    <a:lnTo>
                      <a:pt x="0" y="0"/>
                    </a:lnTo>
                    <a:cubicBezTo>
                      <a:pt x="2741" y="1903"/>
                      <a:pt x="5540" y="3519"/>
                      <a:pt x="8219" y="4859"/>
                    </a:cubicBezTo>
                    <a:cubicBezTo>
                      <a:pt x="21726" y="11613"/>
                      <a:pt x="39052" y="15240"/>
                      <a:pt x="57150" y="15240"/>
                    </a:cubicBezTo>
                    <a:cubicBezTo>
                      <a:pt x="75248" y="15240"/>
                      <a:pt x="92573" y="11613"/>
                      <a:pt x="106081" y="48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962900" y="1651635"/>
                <a:ext cx="11430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3815">
                    <a:moveTo>
                      <a:pt x="0" y="0"/>
                    </a:moveTo>
                    <a:lnTo>
                      <a:pt x="0" y="15240"/>
                    </a:lnTo>
                    <a:cubicBezTo>
                      <a:pt x="0" y="31022"/>
                      <a:pt x="25587" y="43815"/>
                      <a:pt x="57150" y="43815"/>
                    </a:cubicBezTo>
                    <a:cubicBezTo>
                      <a:pt x="88713" y="43815"/>
                      <a:pt x="114300" y="31022"/>
                      <a:pt x="114300" y="15240"/>
                    </a:cubicBezTo>
                    <a:lnTo>
                      <a:pt x="114300" y="0"/>
                    </a:lnTo>
                    <a:cubicBezTo>
                      <a:pt x="111560" y="1903"/>
                      <a:pt x="108760" y="3519"/>
                      <a:pt x="106081" y="4860"/>
                    </a:cubicBezTo>
                    <a:cubicBezTo>
                      <a:pt x="92573" y="11613"/>
                      <a:pt x="75248" y="15240"/>
                      <a:pt x="57150" y="15240"/>
                    </a:cubicBezTo>
                    <a:cubicBezTo>
                      <a:pt x="39052" y="15240"/>
                      <a:pt x="21726" y="11613"/>
                      <a:pt x="8219" y="4860"/>
                    </a:cubicBezTo>
                    <a:cubicBezTo>
                      <a:pt x="5540" y="3519"/>
                      <a:pt x="2741" y="1903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962900" y="154305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57150" y="0"/>
                    </a:moveTo>
                    <a:cubicBezTo>
                      <a:pt x="88713" y="0"/>
                      <a:pt x="114300" y="12794"/>
                      <a:pt x="114300" y="28575"/>
                    </a:cubicBezTo>
                    <a:cubicBezTo>
                      <a:pt x="114300" y="44356"/>
                      <a:pt x="88713" y="57150"/>
                      <a:pt x="57150" y="57150"/>
                    </a:cubicBezTo>
                    <a:cubicBezTo>
                      <a:pt x="25587" y="57150"/>
                      <a:pt x="0" y="44356"/>
                      <a:pt x="0" y="28575"/>
                    </a:cubicBezTo>
                    <a:cubicBezTo>
                      <a:pt x="0" y="12794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336280" y="1473518"/>
              <a:ext cx="448342" cy="2743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存储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41995" y="1712595"/>
              <a:ext cx="528923" cy="18288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Storage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66685" y="2108835"/>
              <a:ext cx="968997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 8.0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68590" y="2410778"/>
              <a:ext cx="1253490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关系型持久化存储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Line 74"/>
            <p:cNvSpPr/>
            <p:nvPr/>
          </p:nvSpPr>
          <p:spPr>
            <a:xfrm>
              <a:off x="7781925" y="2714625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766685" y="2823210"/>
              <a:ext cx="849382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Redis 7.0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68590" y="3125152"/>
              <a:ext cx="1337834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KPI缓存 + 消息队列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867900" y="1285875"/>
            <a:ext cx="1752600" cy="3048000"/>
            <a:chOff x="9867900" y="1285875"/>
            <a:chExt cx="1752600" cy="304800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8" name="Rectangle 78"/>
            <p:cNvSpPr/>
            <p:nvPr/>
          </p:nvSpPr>
          <p:spPr>
            <a:xfrm>
              <a:off x="9867900" y="1285875"/>
              <a:ext cx="1752600" cy="30480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9" name="Rectangle 79"/>
            <p:cNvSpPr/>
            <p:nvPr/>
          </p:nvSpPr>
          <p:spPr>
            <a:xfrm>
              <a:off x="9867900" y="1285875"/>
              <a:ext cx="1752600" cy="666750"/>
            </a:xfrm>
            <a:prstGeom prst="roundRect">
              <a:avLst>
                <a:gd name="adj" fmla="val 17143"/>
              </a:avLst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0" name="Rectangle 80"/>
            <p:cNvSpPr/>
            <p:nvPr/>
          </p:nvSpPr>
          <p:spPr>
            <a:xfrm>
              <a:off x="9867900" y="1666875"/>
              <a:ext cx="1752600" cy="28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1" name="Rectangle 81"/>
            <p:cNvSpPr/>
            <p:nvPr/>
          </p:nvSpPr>
          <p:spPr>
            <a:xfrm>
              <a:off x="10267950" y="14287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grpSp>
          <p:nvGrpSpPr>
            <p:cNvPr id="85" name="Group 85"/>
            <p:cNvGrpSpPr/>
            <p:nvPr/>
          </p:nvGrpSpPr>
          <p:grpSpPr>
            <a:xfrm>
              <a:off x="10391775" y="1543050"/>
              <a:ext cx="133350" cy="152400"/>
              <a:chOff x="10391775" y="1543050"/>
              <a:chExt cx="133350" cy="1524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10391775" y="1543050"/>
                <a:ext cx="1333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6200">
                    <a:moveTo>
                      <a:pt x="0" y="47625"/>
                    </a:moveTo>
                    <a:lnTo>
                      <a:pt x="0" y="28575"/>
                    </a:lnTo>
                    <a:lnTo>
                      <a:pt x="66675" y="0"/>
                    </a:lnTo>
                    <a:lnTo>
                      <a:pt x="133350" y="28575"/>
                    </a:lnTo>
                    <a:lnTo>
                      <a:pt x="133350" y="47625"/>
                    </a:lnTo>
                    <a:lnTo>
                      <a:pt x="66675" y="76200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83" name="Freeform 83"/>
              <p:cNvSpPr/>
              <p:nvPr/>
            </p:nvSpPr>
            <p:spPr>
              <a:xfrm>
                <a:off x="10391775" y="1647825"/>
                <a:ext cx="1333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7625">
                    <a:moveTo>
                      <a:pt x="66675" y="47625"/>
                    </a:moveTo>
                    <a:lnTo>
                      <a:pt x="0" y="19050"/>
                    </a:lnTo>
                    <a:lnTo>
                      <a:pt x="0" y="0"/>
                    </a:lnTo>
                    <a:lnTo>
                      <a:pt x="66675" y="28575"/>
                    </a:lnTo>
                    <a:lnTo>
                      <a:pt x="133350" y="0"/>
                    </a:lnTo>
                    <a:lnTo>
                      <a:pt x="133350" y="19050"/>
                    </a:lnTo>
                    <a:lnTo>
                      <a:pt x="66675" y="476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0391775" y="1609725"/>
                <a:ext cx="1333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47625">
                    <a:moveTo>
                      <a:pt x="0" y="19050"/>
                    </a:moveTo>
                    <a:lnTo>
                      <a:pt x="66675" y="47625"/>
                    </a:lnTo>
                    <a:lnTo>
                      <a:pt x="133350" y="19050"/>
                    </a:lnTo>
                    <a:lnTo>
                      <a:pt x="133350" y="0"/>
                    </a:lnTo>
                    <a:lnTo>
                      <a:pt x="66675" y="28575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4500"/>
                  </a:srgbClr>
                </a:outerShdw>
              </a:effectLst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544937" y="1489710"/>
              <a:ext cx="398526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部署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425322" y="2061210"/>
              <a:ext cx="637756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Docker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500836" y="2363152"/>
              <a:ext cx="486727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容器化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Line 89"/>
            <p:cNvSpPr/>
            <p:nvPr/>
          </p:nvSpPr>
          <p:spPr>
            <a:xfrm>
              <a:off x="10058400" y="26670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425322" y="2775585"/>
              <a:ext cx="637756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Docker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356313" y="3013710"/>
              <a:ext cx="775773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Compose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424160" y="3315652"/>
              <a:ext cx="640080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一键编排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71500" y="4572000"/>
            <a:ext cx="11049000" cy="1476375"/>
            <a:chOff x="571500" y="4572000"/>
            <a:chExt cx="11049000" cy="1476375"/>
          </a:xfrm>
        </p:grpSpPr>
        <p:sp>
          <p:nvSpPr>
            <p:cNvPr id="94" name="Rectangle 94"/>
            <p:cNvSpPr/>
            <p:nvPr/>
          </p:nvSpPr>
          <p:spPr>
            <a:xfrm>
              <a:off x="571500" y="4572000"/>
              <a:ext cx="11049000" cy="1476375"/>
            </a:xfrm>
            <a:prstGeom prst="roundRect">
              <a:avLst>
                <a:gd name="adj" fmla="val 6452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501878" y="47910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技术栈一览</a:t>
              </a:r>
              <a:endParaRPr lang="zh-CN" sz="15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6" name="Line 96"/>
            <p:cNvSpPr/>
            <p:nvPr/>
          </p:nvSpPr>
          <p:spPr>
            <a:xfrm>
              <a:off x="2857500" y="51435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952500" y="5286375"/>
              <a:ext cx="9715500" cy="304800"/>
              <a:chOff x="952500" y="5286375"/>
              <a:chExt cx="9715500" cy="304800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952500" y="5286375"/>
                <a:ext cx="2286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890474" y="5373052"/>
                <a:ext cx="410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Vue 3</a:t>
                </a:r>
                <a:endPara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9" name="Rectangle 99"/>
              <p:cNvSpPr/>
              <p:nvPr/>
            </p:nvSpPr>
            <p:spPr>
              <a:xfrm>
                <a:off x="3429000" y="5286375"/>
                <a:ext cx="2286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4282630" y="5373052"/>
                <a:ext cx="578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FastAPI</a:t>
                </a:r>
                <a:endPara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" name="Rectangle 101"/>
              <p:cNvSpPr/>
              <p:nvPr/>
            </p:nvSpPr>
            <p:spPr>
              <a:xfrm>
                <a:off x="5905500" y="5286375"/>
                <a:ext cx="2286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6586609" y="5373052"/>
                <a:ext cx="9237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Scikit-learn</a:t>
                </a:r>
                <a:endPara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Rectangle 103"/>
              <p:cNvSpPr/>
              <p:nvPr/>
            </p:nvSpPr>
            <p:spPr>
              <a:xfrm>
                <a:off x="8382000" y="5286375"/>
                <a:ext cx="2286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8925092" y="5373052"/>
                <a:ext cx="1199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Docker Compose</a:t>
                </a:r>
                <a:endPara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1905000" y="5667375"/>
              <a:ext cx="8382000" cy="304800"/>
              <a:chOff x="1905000" y="5667375"/>
              <a:chExt cx="8382000" cy="304800"/>
            </a:xfrm>
          </p:grpSpPr>
          <p:sp>
            <p:nvSpPr>
              <p:cNvPr id="106" name="Rectangle 106"/>
              <p:cNvSpPr/>
              <p:nvPr/>
            </p:nvSpPr>
            <p:spPr>
              <a:xfrm>
                <a:off x="1905000" y="5667375"/>
                <a:ext cx="28575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2499979" y="5754052"/>
                <a:ext cx="16675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MySQL 8.0 + Redis 7.0</a:t>
                </a:r>
                <a:endPara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8" name="Rectangle 108"/>
              <p:cNvSpPr/>
              <p:nvPr/>
            </p:nvSpPr>
            <p:spPr>
              <a:xfrm>
                <a:off x="4953000" y="5667375"/>
                <a:ext cx="28575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5590151" y="5754052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ECharts + WebSocket</a:t>
                </a:r>
                <a:endPara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0" name="Rectangle 110"/>
              <p:cNvSpPr/>
              <p:nvPr/>
            </p:nvSpPr>
            <p:spPr>
              <a:xfrm>
                <a:off x="8001000" y="5667375"/>
                <a:ext cx="2286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8639937" y="5754052"/>
                <a:ext cx="10081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Pandas + .pkl</a:t>
                </a:r>
                <a:endPara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14" name="TextBox 114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25755"/>
            <a:ext cx="3585258" cy="517207"/>
            <a:chOff x="571500" y="325755"/>
            <a:chExt cx="3585258" cy="517207"/>
          </a:xfrm>
        </p:grpSpPr>
        <p:sp>
          <p:nvSpPr>
            <p:cNvPr id="3" name="Rectangle 3"/>
            <p:cNvSpPr/>
            <p:nvPr/>
          </p:nvSpPr>
          <p:spPr>
            <a:xfrm>
              <a:off x="571500" y="333375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257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关键技术链路</a:t>
              </a:r>
              <a:endParaRPr lang="zh-CN" sz="21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29602"/>
              <a:ext cx="3408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数据注入 → AI 推理 → 存储 → WebSocket 前端推送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095375"/>
            <a:ext cx="2000250" cy="3238500"/>
            <a:chOff x="571500" y="1095375"/>
            <a:chExt cx="2000250" cy="32385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2000250" cy="3238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095375"/>
              <a:ext cx="2000250" cy="523875"/>
            </a:xfrm>
            <a:prstGeom prst="roundRect">
              <a:avLst>
                <a:gd name="adj" fmla="val 21818"/>
              </a:avLst>
            </a:prstGeom>
            <a:solidFill>
              <a:srgbClr val="0D5C63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333500"/>
              <a:ext cx="2000250" cy="285750"/>
            </a:xfrm>
            <a:prstGeom prst="rect">
              <a:avLst/>
            </a:prstGeom>
            <a:solidFill>
              <a:srgbClr val="0D5C63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190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811425" y="1261110"/>
              <a:ext cx="186900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2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1575" y="1228725"/>
              <a:ext cx="958215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数据注入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619250"/>
              <a:ext cx="200025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170494" y="1723549"/>
              <a:ext cx="80226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CSV → JSON</a:t>
              </a:r>
              <a:endParaRPr lang="zh-CN" sz="975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125028"/>
              <a:ext cx="1299496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replay_script.py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2371249"/>
              <a:ext cx="111411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读取CSV数据文件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2561749"/>
              <a:ext cx="130635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按倍率回放时序数据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2752249"/>
              <a:ext cx="107851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JSON序列化封装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309562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9618" y="3228499"/>
              <a:ext cx="147509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输出：JSON 订单数据</a:t>
              </a:r>
              <a:endParaRPr lang="zh-CN" sz="975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0570" y="3474720"/>
              <a:ext cx="96926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HTTP POST 发送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570" y="3665220"/>
              <a:ext cx="1468755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/api/v1/stream/ingest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Polygon 24"/>
          <p:cNvSpPr/>
          <p:nvPr/>
        </p:nvSpPr>
        <p:spPr>
          <a:xfrm>
            <a:off x="2647950" y="26479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66675"/>
                </a:moveTo>
                <a:lnTo>
                  <a:pt x="95250" y="0"/>
                </a:lnTo>
                <a:lnTo>
                  <a:pt x="95250" y="1333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25" name="Polygon 25"/>
          <p:cNvSpPr/>
          <p:nvPr/>
        </p:nvSpPr>
        <p:spPr>
          <a:xfrm>
            <a:off x="2724150" y="26479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66675"/>
                </a:moveTo>
                <a:lnTo>
                  <a:pt x="95250" y="0"/>
                </a:lnTo>
                <a:lnTo>
                  <a:pt x="95250" y="1333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2857500" y="1095375"/>
            <a:ext cx="2000250" cy="3238500"/>
            <a:chOff x="2857500" y="1095375"/>
            <a:chExt cx="2000250" cy="32385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6" name="Rectangle 26"/>
            <p:cNvSpPr/>
            <p:nvPr/>
          </p:nvSpPr>
          <p:spPr>
            <a:xfrm>
              <a:off x="2857500" y="1095375"/>
              <a:ext cx="2000250" cy="3238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2857500" y="1095375"/>
              <a:ext cx="2000250" cy="523875"/>
            </a:xfrm>
            <a:prstGeom prst="roundRect">
              <a:avLst>
                <a:gd name="adj" fmla="val 21818"/>
              </a:avLst>
            </a:prstGeom>
            <a:solidFill>
              <a:srgbClr val="1E3A5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2857500" y="1333500"/>
              <a:ext cx="2000250" cy="28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3048000" y="1190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3074422" y="1261110"/>
              <a:ext cx="23290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2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57575" y="1228725"/>
              <a:ext cx="762691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推理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857500" y="1619250"/>
              <a:ext cx="200025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3" name="TextBox 33"/>
            <p:cNvSpPr txBox="1"/>
            <p:nvPr/>
          </p:nvSpPr>
          <p:spPr>
            <a:xfrm>
              <a:off x="3247168" y="1723549"/>
              <a:ext cx="122091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predict_proba()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34665" y="2125028"/>
              <a:ext cx="1284161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model_runner.py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35618" y="2371249"/>
              <a:ext cx="147011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预加载risk_model.pkl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35618" y="2561749"/>
              <a:ext cx="116395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提取订单特征向量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35618" y="2752249"/>
              <a:ext cx="116395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在线推理输出概率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3048000" y="309562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035618" y="3228499"/>
              <a:ext cx="122091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输出：风险概率值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36570" y="3474720"/>
              <a:ext cx="115328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0.00 ~ 1.00 浮点数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36570" y="3665220"/>
              <a:ext cx="988981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44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&gt; 0.85 触发告警</a:t>
              </a:r>
              <a:endParaRPr lang="zh-CN" sz="900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Polygon 43"/>
          <p:cNvSpPr/>
          <p:nvPr/>
        </p:nvSpPr>
        <p:spPr>
          <a:xfrm>
            <a:off x="4933950" y="26479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66675"/>
                </a:moveTo>
                <a:lnTo>
                  <a:pt x="95250" y="0"/>
                </a:lnTo>
                <a:lnTo>
                  <a:pt x="95250" y="1333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44" name="Polygon 44"/>
          <p:cNvSpPr/>
          <p:nvPr/>
        </p:nvSpPr>
        <p:spPr>
          <a:xfrm>
            <a:off x="5010150" y="26479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66675"/>
                </a:moveTo>
                <a:lnTo>
                  <a:pt x="95250" y="0"/>
                </a:lnTo>
                <a:lnTo>
                  <a:pt x="95250" y="1333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5143500" y="1095375"/>
            <a:ext cx="2000250" cy="3238500"/>
            <a:chOff x="5143500" y="1095375"/>
            <a:chExt cx="2000250" cy="32385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5" name="Rectangle 45"/>
            <p:cNvSpPr/>
            <p:nvPr/>
          </p:nvSpPr>
          <p:spPr>
            <a:xfrm>
              <a:off x="5143500" y="1095375"/>
              <a:ext cx="2000250" cy="3238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5143500" y="1095375"/>
              <a:ext cx="2000250" cy="523875"/>
            </a:xfrm>
            <a:prstGeom prst="roundRect">
              <a:avLst>
                <a:gd name="adj" fmla="val 21818"/>
              </a:avLst>
            </a:prstGeom>
            <a:solidFill>
              <a:srgbClr val="2A9D8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7" name="Rectangle 47"/>
            <p:cNvSpPr/>
            <p:nvPr/>
          </p:nvSpPr>
          <p:spPr>
            <a:xfrm>
              <a:off x="5143500" y="1333500"/>
              <a:ext cx="2000250" cy="2857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8" name="Rectangle 48"/>
            <p:cNvSpPr/>
            <p:nvPr/>
          </p:nvSpPr>
          <p:spPr>
            <a:xfrm>
              <a:off x="5334000" y="1190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9" name="TextBox 49"/>
            <p:cNvSpPr txBox="1"/>
            <p:nvPr/>
          </p:nvSpPr>
          <p:spPr>
            <a:xfrm>
              <a:off x="5360422" y="1261110"/>
              <a:ext cx="23290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20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43575" y="1228725"/>
              <a:ext cx="498158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存储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43500" y="1619250"/>
              <a:ext cx="200025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2" name="TextBox 52"/>
            <p:cNvSpPr txBox="1"/>
            <p:nvPr/>
          </p:nvSpPr>
          <p:spPr>
            <a:xfrm>
              <a:off x="5622879" y="1723549"/>
              <a:ext cx="104149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 + Redis</a:t>
              </a:r>
              <a:endParaRPr lang="zh-CN" sz="975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20665" y="2125028"/>
              <a:ext cx="101579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 持久化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21618" y="2371249"/>
              <a:ext cx="120667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orders表写入订单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21618" y="2561749"/>
              <a:ext cx="117107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alerts表写入告警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321618" y="2752249"/>
              <a:ext cx="114971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Redis缓存KPI数据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Line 57"/>
            <p:cNvSpPr/>
            <p:nvPr/>
          </p:nvSpPr>
          <p:spPr>
            <a:xfrm>
              <a:off x="5334000" y="309562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21618" y="3228499"/>
              <a:ext cx="122839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输出：Alert + KPI</a:t>
              </a:r>
              <a:endParaRPr lang="zh-CN" sz="975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22570" y="3474720"/>
              <a:ext cx="107442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关键数据缓存就绪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22570" y="3665220"/>
              <a:ext cx="150818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Pub/Sub 通知WebSocket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2" name="Polygon 62"/>
          <p:cNvSpPr/>
          <p:nvPr/>
        </p:nvSpPr>
        <p:spPr>
          <a:xfrm>
            <a:off x="7219950" y="26479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66675"/>
                </a:moveTo>
                <a:lnTo>
                  <a:pt x="95250" y="0"/>
                </a:lnTo>
                <a:lnTo>
                  <a:pt x="95250" y="1333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63" name="Polygon 63"/>
          <p:cNvSpPr/>
          <p:nvPr/>
        </p:nvSpPr>
        <p:spPr>
          <a:xfrm>
            <a:off x="7296150" y="264795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66675"/>
                </a:moveTo>
                <a:lnTo>
                  <a:pt x="95250" y="0"/>
                </a:lnTo>
                <a:lnTo>
                  <a:pt x="95250" y="1333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grpSp>
        <p:nvGrpSpPr>
          <p:cNvPr id="80" name="Group 80"/>
          <p:cNvGrpSpPr/>
          <p:nvPr/>
        </p:nvGrpSpPr>
        <p:grpSpPr>
          <a:xfrm>
            <a:off x="7429500" y="1095375"/>
            <a:ext cx="2000250" cy="3238500"/>
            <a:chOff x="7429500" y="1095375"/>
            <a:chExt cx="2000250" cy="32385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4" name="Rectangle 64"/>
            <p:cNvSpPr/>
            <p:nvPr/>
          </p:nvSpPr>
          <p:spPr>
            <a:xfrm>
              <a:off x="7429500" y="1095375"/>
              <a:ext cx="2000250" cy="3238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5" name="Rectangle 65"/>
            <p:cNvSpPr/>
            <p:nvPr/>
          </p:nvSpPr>
          <p:spPr>
            <a:xfrm>
              <a:off x="7429500" y="1095375"/>
              <a:ext cx="2000250" cy="523875"/>
            </a:xfrm>
            <a:prstGeom prst="roundRect">
              <a:avLst>
                <a:gd name="adj" fmla="val 21818"/>
              </a:avLst>
            </a:prstGeom>
            <a:solidFill>
              <a:srgbClr val="1E3A5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6" name="Rectangle 66"/>
            <p:cNvSpPr/>
            <p:nvPr/>
          </p:nvSpPr>
          <p:spPr>
            <a:xfrm>
              <a:off x="7429500" y="1333500"/>
              <a:ext cx="2000250" cy="28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7620000" y="1190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8" name="TextBox 68"/>
            <p:cNvSpPr txBox="1"/>
            <p:nvPr/>
          </p:nvSpPr>
          <p:spPr>
            <a:xfrm>
              <a:off x="7646422" y="1261110"/>
              <a:ext cx="23290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12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29575" y="1228725"/>
              <a:ext cx="498158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429500" y="1619250"/>
              <a:ext cx="200025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1" name="TextBox 71"/>
            <p:cNvSpPr txBox="1"/>
            <p:nvPr/>
          </p:nvSpPr>
          <p:spPr>
            <a:xfrm>
              <a:off x="8032232" y="1723549"/>
              <a:ext cx="79478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WebSocket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06665" y="2125028"/>
              <a:ext cx="1169146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WebSocket 通道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07618" y="2371249"/>
              <a:ext cx="93611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告警JSON广播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07618" y="2561749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前端实时接收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07618" y="2752249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大屏刷新展示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Line 76"/>
            <p:cNvSpPr/>
            <p:nvPr/>
          </p:nvSpPr>
          <p:spPr>
            <a:xfrm>
              <a:off x="7620000" y="309562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607618" y="3228499"/>
              <a:ext cx="107139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输出：前端刷新</a:t>
              </a:r>
              <a:endParaRPr lang="zh-CN" sz="975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08570" y="3474720"/>
              <a:ext cx="107442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红色高亮闪烁提示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08570" y="3665220"/>
              <a:ext cx="99555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KPI数值跳动更新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715500" y="1095375"/>
            <a:ext cx="1905000" cy="3238500"/>
            <a:chOff x="9715500" y="1095375"/>
            <a:chExt cx="1905000" cy="323850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81" name="Rectangle 81"/>
            <p:cNvSpPr/>
            <p:nvPr/>
          </p:nvSpPr>
          <p:spPr>
            <a:xfrm>
              <a:off x="9715500" y="1095375"/>
              <a:ext cx="1905000" cy="3238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2" name="Rectangle 82"/>
            <p:cNvSpPr/>
            <p:nvPr/>
          </p:nvSpPr>
          <p:spPr>
            <a:xfrm>
              <a:off x="9715500" y="1095375"/>
              <a:ext cx="1905000" cy="523875"/>
            </a:xfrm>
            <a:prstGeom prst="roundRect">
              <a:avLst>
                <a:gd name="adj" fmla="val 21818"/>
              </a:avLst>
            </a:prstGeom>
            <a:solidFill>
              <a:srgbClr val="0D5C63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3" name="Rectangle 83"/>
            <p:cNvSpPr/>
            <p:nvPr/>
          </p:nvSpPr>
          <p:spPr>
            <a:xfrm>
              <a:off x="9715500" y="1333500"/>
              <a:ext cx="1905000" cy="285750"/>
            </a:xfrm>
            <a:prstGeom prst="rect">
              <a:avLst/>
            </a:prstGeom>
            <a:solidFill>
              <a:srgbClr val="0D5C63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9906000" y="1190625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5" name="TextBox 85"/>
            <p:cNvSpPr txBox="1"/>
            <p:nvPr/>
          </p:nvSpPr>
          <p:spPr>
            <a:xfrm>
              <a:off x="9932422" y="1261110"/>
              <a:ext cx="23290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12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269855" y="1244918"/>
              <a:ext cx="1069419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可视化大屏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715500" y="1619250"/>
              <a:ext cx="190500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8" name="TextBox 88"/>
            <p:cNvSpPr txBox="1"/>
            <p:nvPr/>
          </p:nvSpPr>
          <p:spPr>
            <a:xfrm>
              <a:off x="10285559" y="1723549"/>
              <a:ext cx="76488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Dashboard</a:t>
              </a:r>
              <a:endParaRPr lang="zh-CN" sz="975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92665" y="2125028"/>
              <a:ext cx="94678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大屏展示内容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893618" y="2466499"/>
              <a:ext cx="93611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全局KPI指标盘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93618" y="2704624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物流热力地图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893618" y="2942749"/>
              <a:ext cx="116395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实时预警滚动列表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893618" y="3180874"/>
              <a:ext cx="102155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历史趋势折线图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95" name="Rectangle 95"/>
          <p:cNvSpPr/>
          <p:nvPr/>
        </p:nvSpPr>
        <p:spPr>
          <a:xfrm>
            <a:off x="571500" y="4572000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96" name="Rectangle 96"/>
          <p:cNvSpPr/>
          <p:nvPr/>
        </p:nvSpPr>
        <p:spPr>
          <a:xfrm>
            <a:off x="762000" y="4714875"/>
            <a:ext cx="1333500" cy="238125"/>
          </a:xfrm>
          <a:prstGeom prst="roundRect">
            <a:avLst>
              <a:gd name="adj" fmla="val 20000"/>
            </a:avLst>
          </a:prstGeom>
          <a:solidFill>
            <a:srgbClr val="0D5C63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993977" y="4781074"/>
            <a:ext cx="8695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CSV原始数据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8" name="Polygon 98"/>
          <p:cNvSpPr/>
          <p:nvPr/>
        </p:nvSpPr>
        <p:spPr>
          <a:xfrm>
            <a:off x="2190750" y="4829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99" name="Rectangle 99"/>
          <p:cNvSpPr/>
          <p:nvPr/>
        </p:nvSpPr>
        <p:spPr>
          <a:xfrm>
            <a:off x="2381250" y="4714875"/>
            <a:ext cx="1143000" cy="238125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2611426" y="4781074"/>
            <a:ext cx="6826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JSON订单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1" name="Polygon 101"/>
          <p:cNvSpPr/>
          <p:nvPr/>
        </p:nvSpPr>
        <p:spPr>
          <a:xfrm>
            <a:off x="3619500" y="4829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102" name="Rectangle 102"/>
          <p:cNvSpPr/>
          <p:nvPr/>
        </p:nvSpPr>
        <p:spPr>
          <a:xfrm>
            <a:off x="3810000" y="4714875"/>
            <a:ext cx="1333500" cy="238125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4101785" y="4781074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AI风险评估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4" name="Polygon 104"/>
          <p:cNvSpPr/>
          <p:nvPr/>
        </p:nvSpPr>
        <p:spPr>
          <a:xfrm>
            <a:off x="5238750" y="4829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105" name="Rectangle 105"/>
          <p:cNvSpPr/>
          <p:nvPr/>
        </p:nvSpPr>
        <p:spPr>
          <a:xfrm>
            <a:off x="5429250" y="4714875"/>
            <a:ext cx="1428750" cy="238125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5667735" y="4781074"/>
            <a:ext cx="9517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MySQL+Redis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7" name="Polygon 107"/>
          <p:cNvSpPr/>
          <p:nvPr/>
        </p:nvSpPr>
        <p:spPr>
          <a:xfrm>
            <a:off x="6953250" y="4829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108" name="Rectangle 108"/>
          <p:cNvSpPr/>
          <p:nvPr/>
        </p:nvSpPr>
        <p:spPr>
          <a:xfrm>
            <a:off x="7143750" y="4714875"/>
            <a:ext cx="1428750" cy="238125"/>
          </a:xfrm>
          <a:prstGeom prst="roundRect">
            <a:avLst>
              <a:gd name="adj" fmla="val 20000"/>
            </a:avLst>
          </a:prstGeom>
          <a:solidFill>
            <a:srgbClr val="0D5C63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7311213" y="4781074"/>
            <a:ext cx="1093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WebSocket推送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0" name="Polygon 110"/>
          <p:cNvSpPr/>
          <p:nvPr/>
        </p:nvSpPr>
        <p:spPr>
          <a:xfrm>
            <a:off x="8667750" y="4829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111" name="Rectangle 111"/>
          <p:cNvSpPr/>
          <p:nvPr/>
        </p:nvSpPr>
        <p:spPr>
          <a:xfrm>
            <a:off x="8858250" y="4714875"/>
            <a:ext cx="1428750" cy="238125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9261205" y="478107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前端大屏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6" name="Group 116"/>
          <p:cNvGrpSpPr/>
          <p:nvPr/>
        </p:nvGrpSpPr>
        <p:grpSpPr>
          <a:xfrm>
            <a:off x="571500" y="5286375"/>
            <a:ext cx="11049000" cy="714375"/>
            <a:chOff x="571500" y="5286375"/>
            <a:chExt cx="11049000" cy="714375"/>
          </a:xfrm>
        </p:grpSpPr>
        <p:sp>
          <p:nvSpPr>
            <p:cNvPr id="113" name="Rectangle 113"/>
            <p:cNvSpPr/>
            <p:nvPr/>
          </p:nvSpPr>
          <p:spPr>
            <a:xfrm>
              <a:off x="571500" y="5286375"/>
              <a:ext cx="11049000" cy="714375"/>
            </a:xfrm>
            <a:prstGeom prst="roundRect">
              <a:avLst>
                <a:gd name="adj" fmla="val 13333"/>
              </a:avLst>
            </a:prstGeom>
            <a:solidFill>
              <a:srgbClr val="1E3A5F">
                <a:alpha val="5000"/>
              </a:srgbClr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4997145" y="5454968"/>
              <a:ext cx="21977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端到端延迟目标：&lt; 1 秒</a:t>
              </a:r>
              <a:endParaRPr lang="zh-CN" sz="13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3732538" y="5744528"/>
              <a:ext cx="47269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从数据发生器发出到前端 WebSocket 告警刷新，全程控制在 1 秒以内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17" name="TextBox 117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0528"/>
            <a:ext cx="3392328" cy="630078"/>
            <a:chOff x="571500" y="410528"/>
            <a:chExt cx="3392328" cy="630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57150" cy="3238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241106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核心数据模型</a:t>
              </a:r>
              <a:endParaRPr lang="zh-CN" sz="25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812006"/>
              <a:ext cx="3216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 关系型存储 + Redis 缓存与消息队列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" name="Rectangle 7"/>
          <p:cNvSpPr/>
          <p:nvPr/>
        </p:nvSpPr>
        <p:spPr>
          <a:xfrm>
            <a:off x="571500" y="1238250"/>
            <a:ext cx="5429250" cy="2952750"/>
          </a:xfrm>
          <a:prstGeom prst="roundRect">
            <a:avLst>
              <a:gd name="adj" fmla="val 3226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429250" cy="361950"/>
          </a:xfrm>
          <a:prstGeom prst="roundRect">
            <a:avLst>
              <a:gd name="adj" fmla="val 26316"/>
            </a:avLst>
          </a:prstGeom>
          <a:solidFill>
            <a:srgbClr val="0D5C6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409700"/>
            <a:ext cx="5429250" cy="190500"/>
          </a:xfrm>
          <a:prstGeom prst="rect">
            <a:avLst/>
          </a:prstGeom>
          <a:solidFill>
            <a:srgbClr val="0D5C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562396" y="1356360"/>
            <a:ext cx="14474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orders (订单表)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762000" y="1695450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91540" y="17916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id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96415" y="1791652"/>
            <a:ext cx="13531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BIGINT PK Auto_Inc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87165" y="17916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主键 ID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857250" y="2047875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91540" y="2144078"/>
            <a:ext cx="694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order_id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96415" y="2144078"/>
            <a:ext cx="14681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VARCHAR(64) Unique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987165" y="21440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原始订单号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857250" y="240030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91540" y="2496502"/>
            <a:ext cx="9122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order_date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96415" y="2496502"/>
            <a:ext cx="693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DATETIME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987165" y="24965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订单生成时间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857250" y="2752725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91540" y="2848928"/>
            <a:ext cx="1169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customer_city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96415" y="2848928"/>
            <a:ext cx="10004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VARCHAR(128)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987165" y="28489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客户城市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857250" y="310515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91540" y="3201352"/>
            <a:ext cx="15563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latitude / longitude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96415" y="32013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DECIMAL(10,6)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987165" y="32013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经纬度坐标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857250" y="3457575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91540" y="3553778"/>
            <a:ext cx="11216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order_amount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796415" y="3553778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DECIMAL(10,2)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987165" y="35537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订单金额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Line 35"/>
          <p:cNvSpPr/>
          <p:nvPr/>
        </p:nvSpPr>
        <p:spPr>
          <a:xfrm>
            <a:off x="857250" y="381000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91540" y="390620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risk_score</a:t>
            </a:r>
            <a:endParaRPr lang="zh-CN" sz="105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796415" y="390620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DECIMAL(5,4)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987165" y="39062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AI 预测风险概率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6191250" y="1238250"/>
            <a:ext cx="5429250" cy="2952750"/>
          </a:xfrm>
          <a:prstGeom prst="roundRect">
            <a:avLst>
              <a:gd name="adj" fmla="val 3226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191250" y="1238250"/>
            <a:ext cx="5429250" cy="361950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191250" y="1409700"/>
            <a:ext cx="5429250" cy="1905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021126" y="1356360"/>
            <a:ext cx="17694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alerts (风险告警表)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6381750" y="1695450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511290" y="17916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id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416165" y="1791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BIGINT PK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940165" y="17916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 ID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Line 47"/>
          <p:cNvSpPr/>
          <p:nvPr/>
        </p:nvSpPr>
        <p:spPr>
          <a:xfrm>
            <a:off x="6477000" y="2047875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511290" y="2144078"/>
            <a:ext cx="694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order_id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416165" y="2144078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VARCHAR(64) FK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940165" y="21440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关联订单号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6477000" y="240030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511290" y="2496502"/>
            <a:ext cx="783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risk_type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416165" y="2496502"/>
            <a:ext cx="9544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VARCHAR(64)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940165" y="2496502"/>
            <a:ext cx="14681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风险类型 (延迟交付)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Line 55"/>
          <p:cNvSpPr/>
          <p:nvPr/>
        </p:nvSpPr>
        <p:spPr>
          <a:xfrm>
            <a:off x="6477000" y="2752725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511290" y="2848928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probability</a:t>
            </a:r>
            <a:endParaRPr lang="zh-CN" sz="105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7416165" y="2848928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DECIMAL(5,4)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940165" y="284892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触发时风险概率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Line 59"/>
          <p:cNvSpPr/>
          <p:nvPr/>
        </p:nvSpPr>
        <p:spPr>
          <a:xfrm>
            <a:off x="6477000" y="3105150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511290" y="3201352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status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7416165" y="32013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TINYINT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8940165" y="3201352"/>
            <a:ext cx="1291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0-未确认 1-已确认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Line 63"/>
          <p:cNvSpPr/>
          <p:nvPr/>
        </p:nvSpPr>
        <p:spPr>
          <a:xfrm>
            <a:off x="6477000" y="3457575"/>
            <a:ext cx="4857750" cy="9525"/>
          </a:xfrm>
          <a:custGeom>
            <a:avLst/>
            <a:gdLst/>
            <a:ahLst/>
            <a:cxnLst/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6511290" y="3553778"/>
            <a:ext cx="9122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created_at</a:t>
            </a:r>
            <a:endParaRPr lang="zh-CN" sz="10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7416165" y="3553778"/>
            <a:ext cx="693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DATETIME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8940165" y="3553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告警生成时间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571500" y="4381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571500" y="4381500"/>
            <a:ext cx="1524000" cy="361950"/>
          </a:xfrm>
          <a:prstGeom prst="roundRect">
            <a:avLst>
              <a:gd name="adj" fmla="val 26316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571500" y="4552950"/>
            <a:ext cx="1524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908809" y="4499610"/>
            <a:ext cx="8493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Redis 7.0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Rectangle 71"/>
          <p:cNvSpPr/>
          <p:nvPr/>
        </p:nvSpPr>
        <p:spPr>
          <a:xfrm>
            <a:off x="2286000" y="4524375"/>
            <a:ext cx="44767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2462212" y="4641056"/>
            <a:ext cx="22541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KPI 聚合缓存 (String/Hash)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2464118" y="4895374"/>
            <a:ext cx="54145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Key: kpi:realtime:dashboard · Value: {total_orders, total_gmv, risk_count}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4" name="Rectangle 74"/>
          <p:cNvSpPr/>
          <p:nvPr/>
        </p:nvSpPr>
        <p:spPr>
          <a:xfrm>
            <a:off x="6953250" y="4524375"/>
            <a:ext cx="44767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7129462" y="4641056"/>
            <a:ext cx="16243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消息队列 (Pub/Sub)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7131368" y="4895374"/>
            <a:ext cx="33924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Topic: alerts:channel · WebSocket 多Worker广播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7" name="Rectangle 77"/>
          <p:cNvSpPr/>
          <p:nvPr/>
        </p:nvSpPr>
        <p:spPr>
          <a:xfrm>
            <a:off x="2286000" y="5286375"/>
            <a:ext cx="9144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2945678" y="5411152"/>
            <a:ext cx="7824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更新策略：后端每接收一笔订单实时更新 → Pipeline批量写 · Alert生成 → Redis Pub/Sub → WebSocket 连接池广播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0528"/>
            <a:ext cx="4133374" cy="630078"/>
            <a:chOff x="571500" y="410528"/>
            <a:chExt cx="4133374" cy="630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57150" cy="3238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39752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非功能需求与质量约束</a:t>
              </a:r>
              <a:endParaRPr lang="zh-CN" sz="25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81200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 项关键质量属性要求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" name="Rectangle 7"/>
          <p:cNvSpPr/>
          <p:nvPr/>
        </p:nvSpPr>
        <p:spPr>
          <a:xfrm>
            <a:off x="571500" y="1238250"/>
            <a:ext cx="3524250" cy="1476375"/>
          </a:xfrm>
          <a:prstGeom prst="roundRect">
            <a:avLst>
              <a:gd name="adj" fmla="val 6452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476250" cy="1476375"/>
          </a:xfrm>
          <a:prstGeom prst="roundRect">
            <a:avLst>
              <a:gd name="adj" fmla="val 20000"/>
            </a:avLst>
          </a:prstGeom>
          <a:solidFill>
            <a:srgbClr val="0D5C6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" y="1238250"/>
            <a:ext cx="190500" cy="1476375"/>
          </a:xfrm>
          <a:prstGeom prst="rect">
            <a:avLst/>
          </a:prstGeom>
          <a:solidFill>
            <a:srgbClr val="0D5C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03580" y="1885950"/>
            <a:ext cx="21209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3480" y="14258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实时性</a:t>
            </a:r>
            <a:endParaRPr lang="zh-CN" sz="13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77290" y="1744028"/>
            <a:ext cx="1935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数据发生到前端 WebSocket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77290" y="19821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告警刷新端到端延迟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71575" y="2266950"/>
            <a:ext cx="6016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&lt; 1 秒</a:t>
            </a:r>
            <a:endParaRPr lang="zh-CN" sz="150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4333875" y="1238250"/>
            <a:ext cx="3524250" cy="1476375"/>
          </a:xfrm>
          <a:prstGeom prst="roundRect">
            <a:avLst>
              <a:gd name="adj" fmla="val 6452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1238250"/>
            <a:ext cx="476250" cy="1476375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619625" y="1238250"/>
            <a:ext cx="190500" cy="1476375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465956" y="1885950"/>
            <a:ext cx="21209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935855" y="14258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可靠性</a:t>
            </a:r>
            <a:endParaRPr lang="zh-CN" sz="13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939665" y="1744028"/>
            <a:ext cx="1330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7×24 小时持续运行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939665" y="1982152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WebSocket 断线自动重连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35855" y="2283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告警不丢失</a:t>
            </a:r>
            <a:endParaRPr lang="zh-CN" sz="1350" b="1" dirty="0">
              <a:solidFill>
                <a:srgbClr val="2A9D8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8096250" y="1238250"/>
            <a:ext cx="3524250" cy="1476375"/>
          </a:xfrm>
          <a:prstGeom prst="roundRect">
            <a:avLst>
              <a:gd name="adj" fmla="val 6452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096250" y="1238250"/>
            <a:ext cx="476250" cy="1476375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8382000" y="1238250"/>
            <a:ext cx="190500" cy="1476375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28330" y="1885950"/>
            <a:ext cx="21209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698230" y="142589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性能</a:t>
            </a:r>
            <a:endParaRPr lang="zh-CN" sz="13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702040" y="1744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高频数据降采样处理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702040" y="198215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防止长时间运行 OOM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698230" y="2283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无卡顿掉帧</a:t>
            </a:r>
            <a:endParaRPr lang="zh-CN" sz="1350" b="1" dirty="0">
              <a:solidFill>
                <a:srgbClr val="2A9D8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571500" y="2952750"/>
            <a:ext cx="3524250" cy="1476375"/>
          </a:xfrm>
          <a:prstGeom prst="roundRect">
            <a:avLst>
              <a:gd name="adj" fmla="val 6452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952750"/>
            <a:ext cx="476250" cy="1476375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57250" y="2952750"/>
            <a:ext cx="190500" cy="1476375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3581" y="3600450"/>
            <a:ext cx="21209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73480" y="31403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易用性</a:t>
            </a:r>
            <a:endParaRPr lang="zh-CN" sz="13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77290" y="34585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大屏界面布局清晰直观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77290" y="36966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核心指标一眼可见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75385" y="4013835"/>
            <a:ext cx="19719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告警颜色+动画醒目提示</a:t>
            </a:r>
            <a:endParaRPr lang="zh-CN" sz="1200" b="1" dirty="0">
              <a:solidFill>
                <a:srgbClr val="2A9D8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4333875" y="2952750"/>
            <a:ext cx="3524250" cy="1476375"/>
          </a:xfrm>
          <a:prstGeom prst="roundRect">
            <a:avLst>
              <a:gd name="adj" fmla="val 6452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4333875" y="2952750"/>
            <a:ext cx="476250" cy="1476375"/>
          </a:xfrm>
          <a:prstGeom prst="roundRect">
            <a:avLst>
              <a:gd name="adj" fmla="val 20000"/>
            </a:avLst>
          </a:prstGeom>
          <a:solidFill>
            <a:srgbClr val="0D5C63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619625" y="2952750"/>
            <a:ext cx="190500" cy="1476375"/>
          </a:xfrm>
          <a:prstGeom prst="rect">
            <a:avLst/>
          </a:prstGeom>
          <a:solidFill>
            <a:srgbClr val="0D5C6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465956" y="3600450"/>
            <a:ext cx="21209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935855" y="3140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可演示性</a:t>
            </a:r>
            <a:endParaRPr lang="zh-CN" sz="13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939665" y="3458528"/>
            <a:ext cx="18592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Docker Compose 一键启动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939665" y="36966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全部服务 5 分钟内就绪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937760" y="40138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进入演示状态</a:t>
            </a:r>
            <a:endParaRPr lang="zh-CN" sz="120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8096250" y="2952750"/>
            <a:ext cx="3524250" cy="1476375"/>
          </a:xfrm>
          <a:prstGeom prst="roundRect">
            <a:avLst>
              <a:gd name="adj" fmla="val 6452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096250" y="2952750"/>
            <a:ext cx="476250" cy="1476375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8382000" y="2952750"/>
            <a:ext cx="190500" cy="1476375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228330" y="3600450"/>
            <a:ext cx="21209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698230" y="31403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安全性</a:t>
            </a:r>
            <a:endParaRPr lang="zh-CN" sz="13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702040" y="3458528"/>
            <a:ext cx="15141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API 接口基本参数校验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8702040" y="36966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防止非法数据注入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700135" y="40138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系统异常防护</a:t>
            </a:r>
            <a:endParaRPr lang="zh-CN" sz="1200" b="1" dirty="0">
              <a:solidFill>
                <a:srgbClr val="2A9D8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0" name="Group 60"/>
          <p:cNvGrpSpPr/>
          <p:nvPr/>
        </p:nvGrpSpPr>
        <p:grpSpPr>
          <a:xfrm>
            <a:off x="571500" y="4667250"/>
            <a:ext cx="11049000" cy="1333500"/>
            <a:chOff x="571500" y="4667250"/>
            <a:chExt cx="11049000" cy="1333500"/>
          </a:xfrm>
        </p:grpSpPr>
        <p:sp>
          <p:nvSpPr>
            <p:cNvPr id="55" name="Rectangle 55"/>
            <p:cNvSpPr/>
            <p:nvPr/>
          </p:nvSpPr>
          <p:spPr>
            <a:xfrm>
              <a:off x="571500" y="4667250"/>
              <a:ext cx="11049000" cy="1333500"/>
            </a:xfrm>
            <a:prstGeom prst="roundRect">
              <a:avLst>
                <a:gd name="adj" fmla="val 7143"/>
              </a:avLst>
            </a:prstGeom>
            <a:solidFill>
              <a:srgbClr val="1E3A5F">
                <a:alpha val="5000"/>
              </a:srgbClr>
            </a:solidFill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1849" y="488632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质量约束优先级</a:t>
              </a:r>
              <a:endParaRPr lang="zh-CN" sz="15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Line 57"/>
            <p:cNvSpPr/>
            <p:nvPr/>
          </p:nvSpPr>
          <p:spPr>
            <a:xfrm>
              <a:off x="2857500" y="52387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959894" y="5384006"/>
              <a:ext cx="6272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实时性 (P0) &gt; 可靠性 (P0) &gt; 可演示性 (P0) &gt; 性能 (P1) &gt; 易用性 (P1) &gt; 安全性 (P1)</a:t>
              </a:r>
              <a:endPara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4636" y="5677852"/>
              <a:ext cx="3162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所有质量属性均需在 MVP 交付前通过验收测试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273885" y="647509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0528"/>
            <a:ext cx="3742325" cy="630078"/>
            <a:chOff x="571500" y="410528"/>
            <a:chExt cx="3742325" cy="630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57150" cy="3238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410528"/>
              <a:ext cx="35842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开发约束与环境部署</a:t>
              </a:r>
              <a:endParaRPr lang="zh-CN" sz="25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812006"/>
              <a:ext cx="3166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技术栈约束 · Docker Compose 五服务编排</a:t>
              </a:r>
              <a:endParaRPr lang="zh-CN" sz="112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" name="Rectangle 7"/>
          <p:cNvSpPr/>
          <p:nvPr/>
        </p:nvSpPr>
        <p:spPr>
          <a:xfrm>
            <a:off x="571500" y="1238250"/>
            <a:ext cx="11049000" cy="2571750"/>
          </a:xfrm>
          <a:prstGeom prst="roundRect">
            <a:avLst>
              <a:gd name="adj" fmla="val 3704"/>
            </a:avLst>
          </a:prstGeom>
          <a:solidFill>
            <a:srgbClr val="F0F4F8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11049000" cy="342900"/>
          </a:xfrm>
          <a:prstGeom prst="roundRect">
            <a:avLst>
              <a:gd name="adj" fmla="val 27778"/>
            </a:avLst>
          </a:prstGeom>
          <a:solidFill>
            <a:srgbClr val="0D5C6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390650"/>
            <a:ext cx="11049000" cy="190500"/>
          </a:xfrm>
          <a:prstGeom prst="rect">
            <a:avLst/>
          </a:prstGeom>
          <a:solidFill>
            <a:srgbClr val="0D5C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995024" y="1346835"/>
            <a:ext cx="2201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开发约束 (DC-01 ~ DC-09)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9165" y="177260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DC-01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01165" y="17726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前端技术栈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92165" y="177260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Vue 3 + Vite + ECharts + WebSocket 客户端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857250" y="201930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9165" y="21155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DC-02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01165" y="21155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后端技术栈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892165" y="211550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Python (FastAPI)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857250" y="236220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39165" y="24584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DC-03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01165" y="2458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数据存储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892165" y="2458402"/>
            <a:ext cx="10694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MySQL + Redis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857250" y="270510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39165" y="28013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DC-04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01165" y="28013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算法库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892165" y="280130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Scikit-learn / Pandas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857250" y="304800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39165" y="31442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DC-05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01165" y="31442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部署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892165" y="3144202"/>
            <a:ext cx="1199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Docker Compose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857250" y="339090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39165" y="34871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DC-06</a:t>
            </a:r>
            <a:endParaRPr lang="zh-CN" sz="105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701165" y="34871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开发周期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892165" y="3487102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MVP 不超过 1 个月</a:t>
            </a:r>
            <a:endParaRPr lang="zh-CN" sz="1050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Line 35"/>
          <p:cNvSpPr/>
          <p:nvPr/>
        </p:nvSpPr>
        <p:spPr>
          <a:xfrm>
            <a:off x="857250" y="373380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39165" y="3744278"/>
            <a:ext cx="7351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DC-07~09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701165" y="37442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其他约束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5892165" y="3744278"/>
            <a:ext cx="52559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Kaggle 数据集替代真实业务 · RESTful + WebSocket 接口 · .pkl 序列化模型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571500" y="4000500"/>
            <a:ext cx="11049000" cy="2000250"/>
          </a:xfrm>
          <a:prstGeom prst="roundRect">
            <a:avLst>
              <a:gd name="adj" fmla="val 4762"/>
            </a:avLst>
          </a:prstGeom>
          <a:solidFill>
            <a:srgbClr val="1E3A5F">
              <a:alpha val="3000"/>
            </a:srgbClr>
          </a:solidFill>
          <a:ln w="9525">
            <a:solidFill>
              <a:srgbClr val="E5E7EB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4587514" y="4124325"/>
            <a:ext cx="30169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Docker Compose 五服务架构</a:t>
            </a:r>
            <a:endParaRPr lang="zh-CN" sz="150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3751707" y="4439602"/>
            <a:ext cx="46885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docker-compose up -d --build · 访问 http://localhost 进入系统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762000" y="4714875"/>
            <a:ext cx="2000250" cy="523875"/>
            <a:chOff x="762000" y="4714875"/>
            <a:chExt cx="2000250" cy="523875"/>
          </a:xfrm>
        </p:grpSpPr>
        <p:sp>
          <p:nvSpPr>
            <p:cNvPr id="42" name="Rectangle 42"/>
            <p:cNvSpPr/>
            <p:nvPr/>
          </p:nvSpPr>
          <p:spPr>
            <a:xfrm>
              <a:off x="762000" y="4714875"/>
              <a:ext cx="200025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0D5C6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46635" y="4804410"/>
              <a:ext cx="830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mysql-db</a:t>
              </a:r>
              <a:endParaRPr lang="zh-CN" sz="12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2932" y="5027295"/>
              <a:ext cx="798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MySQL:3306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6" name="Polygon 46"/>
          <p:cNvSpPr/>
          <p:nvPr/>
        </p:nvSpPr>
        <p:spPr>
          <a:xfrm>
            <a:off x="2857500" y="49720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grpSp>
        <p:nvGrpSpPr>
          <p:cNvPr id="50" name="Group 50"/>
          <p:cNvGrpSpPr/>
          <p:nvPr/>
        </p:nvGrpSpPr>
        <p:grpSpPr>
          <a:xfrm>
            <a:off x="3048000" y="4714875"/>
            <a:ext cx="2000250" cy="523875"/>
            <a:chOff x="3048000" y="4714875"/>
            <a:chExt cx="2000250" cy="523875"/>
          </a:xfrm>
        </p:grpSpPr>
        <p:sp>
          <p:nvSpPr>
            <p:cNvPr id="47" name="Rectangle 47"/>
            <p:cNvSpPr/>
            <p:nvPr/>
          </p:nvSpPr>
          <p:spPr>
            <a:xfrm>
              <a:off x="3048000" y="4714875"/>
              <a:ext cx="200025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0D5C6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99218" y="480441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redis-cache</a:t>
              </a:r>
              <a:endParaRPr lang="zh-CN" sz="12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91652" y="50272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Redis:6379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1" name="Polygon 51"/>
          <p:cNvSpPr/>
          <p:nvPr/>
        </p:nvSpPr>
        <p:spPr>
          <a:xfrm>
            <a:off x="5143500" y="49720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grpSp>
        <p:nvGrpSpPr>
          <p:cNvPr id="55" name="Group 55"/>
          <p:cNvGrpSpPr/>
          <p:nvPr/>
        </p:nvGrpSpPr>
        <p:grpSpPr>
          <a:xfrm>
            <a:off x="5334000" y="4714875"/>
            <a:ext cx="2000250" cy="523875"/>
            <a:chOff x="5334000" y="4714875"/>
            <a:chExt cx="2000250" cy="523875"/>
          </a:xfrm>
        </p:grpSpPr>
        <p:sp>
          <p:nvSpPr>
            <p:cNvPr id="52" name="Rectangle 52"/>
            <p:cNvSpPr/>
            <p:nvPr/>
          </p:nvSpPr>
          <p:spPr>
            <a:xfrm>
              <a:off x="5334000" y="4714875"/>
              <a:ext cx="200025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85218" y="480441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backend-api</a:t>
              </a:r>
              <a:endParaRPr lang="zh-CN" sz="12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05357" y="5027295"/>
              <a:ext cx="8575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FastAPI:8000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6" name="Polygon 56"/>
          <p:cNvSpPr/>
          <p:nvPr/>
        </p:nvSpPr>
        <p:spPr>
          <a:xfrm>
            <a:off x="7429500" y="49720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7620000" y="4714875"/>
            <a:ext cx="2000250" cy="523875"/>
            <a:chOff x="7620000" y="4714875"/>
            <a:chExt cx="2000250" cy="523875"/>
          </a:xfrm>
        </p:grpSpPr>
        <p:sp>
          <p:nvSpPr>
            <p:cNvPr id="57" name="Rectangle 57"/>
            <p:cNvSpPr/>
            <p:nvPr/>
          </p:nvSpPr>
          <p:spPr>
            <a:xfrm>
              <a:off x="7620000" y="4714875"/>
              <a:ext cx="200025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93971" y="4804410"/>
              <a:ext cx="18523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frontend-dashboard</a:t>
              </a:r>
              <a:endParaRPr lang="zh-CN" sz="12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96060" y="502729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Vue 3 + Nginx:80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1" name="Polygon 61"/>
          <p:cNvSpPr/>
          <p:nvPr/>
        </p:nvSpPr>
        <p:spPr>
          <a:xfrm>
            <a:off x="9715500" y="49720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0"/>
                </a:moveTo>
                <a:lnTo>
                  <a:pt x="95250" y="0"/>
                </a:lnTo>
                <a:lnTo>
                  <a:pt x="47625" y="57150"/>
                </a:lnTo>
                <a:lnTo>
                  <a:pt x="95250" y="114300"/>
                </a:lnTo>
                <a:lnTo>
                  <a:pt x="0" y="114300"/>
                </a:lnTo>
                <a:lnTo>
                  <a:pt x="47625" y="5715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grpSp>
        <p:nvGrpSpPr>
          <p:cNvPr id="65" name="Group 65"/>
          <p:cNvGrpSpPr/>
          <p:nvPr/>
        </p:nvGrpSpPr>
        <p:grpSpPr>
          <a:xfrm>
            <a:off x="9906000" y="4714875"/>
            <a:ext cx="1524000" cy="523875"/>
            <a:chOff x="9906000" y="4714875"/>
            <a:chExt cx="1524000" cy="523875"/>
          </a:xfrm>
        </p:grpSpPr>
        <p:sp>
          <p:nvSpPr>
            <p:cNvPr id="62" name="Rectangle 62"/>
            <p:cNvSpPr/>
            <p:nvPr/>
          </p:nvSpPr>
          <p:spPr>
            <a:xfrm>
              <a:off x="9906000" y="4714875"/>
              <a:ext cx="1524000" cy="523875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9050">
              <a:solidFill>
                <a:srgbClr val="2A9D8F"/>
              </a:solidFill>
              <a:custDash>
                <a:ds d="200000" sp="150000"/>
              </a:custDash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187707" y="4820602"/>
              <a:ext cx="9605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data-replay</a:t>
              </a:r>
              <a:endParaRPr lang="zh-CN" sz="105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70224" y="5027295"/>
              <a:ext cx="9955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回放脚本 (可选)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5334000"/>
            <a:ext cx="10668000" cy="473869"/>
            <a:chOff x="762000" y="5334000"/>
            <a:chExt cx="10668000" cy="473869"/>
          </a:xfrm>
        </p:grpSpPr>
        <p:sp>
          <p:nvSpPr>
            <p:cNvPr id="66" name="Rectangle 66"/>
            <p:cNvSpPr/>
            <p:nvPr/>
          </p:nvSpPr>
          <p:spPr>
            <a:xfrm>
              <a:off x="762000" y="5334000"/>
              <a:ext cx="10668000" cy="428625"/>
            </a:xfrm>
            <a:prstGeom prst="roundRect">
              <a:avLst>
                <a:gd name="adj" fmla="val 17778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619768" y="5466874"/>
              <a:ext cx="6952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容器启动顺序：mysql-db → redis-cache → backend-api → frontend-dashboard → data-replay (手动触发)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968294" y="5609749"/>
              <a:ext cx="8255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MySQL 挂载初始化 SQL 建库建表 · backend-api 启动时预加载 risk_model.pkl · 数据来源：Kaggle DataCoSupplyChainDataset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234452" y="64750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55" grpId="0"/>
      <p:bldP spid="60" grpId="0"/>
      <p:bldP spid="65" grpId="0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25755"/>
            <a:ext cx="3508581" cy="517207"/>
            <a:chOff x="571500" y="325755"/>
            <a:chExt cx="3508581" cy="517207"/>
          </a:xfrm>
        </p:grpSpPr>
        <p:sp>
          <p:nvSpPr>
            <p:cNvPr id="3" name="Rectangle 3"/>
            <p:cNvSpPr/>
            <p:nvPr/>
          </p:nvSpPr>
          <p:spPr>
            <a:xfrm>
              <a:off x="571500" y="333375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25755"/>
              <a:ext cx="26296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里程碑与开发排期</a:t>
              </a:r>
              <a:endParaRPr lang="zh-CN" sz="21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29602"/>
              <a:ext cx="3331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MVP 开发周期：1 个月 · P0 &gt; P1 &gt; P2 优先级推进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" name="Line 7"/>
          <p:cNvSpPr/>
          <p:nvPr/>
        </p:nvSpPr>
        <p:spPr>
          <a:xfrm>
            <a:off x="1333500" y="952500"/>
            <a:ext cx="9525" cy="5429250"/>
          </a:xfrm>
          <a:custGeom>
            <a:avLst/>
            <a:gdLst/>
            <a:ahLst/>
            <a:cxnLst/>
            <a:rect l="l" t="t" r="r" b="b"/>
            <a:pathLst>
              <a:path w="9525" h="5429250">
                <a:moveTo>
                  <a:pt x="0" y="0"/>
                </a:moveTo>
                <a:lnTo>
                  <a:pt x="0" y="5429250"/>
                </a:lnTo>
              </a:path>
            </a:pathLst>
          </a:custGeom>
          <a:noFill/>
          <a:ln w="28575" cap="rnd">
            <a:solidFill>
              <a:srgbClr val="E5E7EB"/>
            </a:solidFill>
          </a:ln>
        </p:spPr>
      </p:sp>
      <p:sp>
        <p:nvSpPr>
          <p:cNvPr id="8" name="Line 8"/>
          <p:cNvSpPr/>
          <p:nvPr/>
        </p:nvSpPr>
        <p:spPr>
          <a:xfrm>
            <a:off x="1333500" y="95250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28575" cap="rnd"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</a:ln>
        </p:spPr>
      </p:sp>
      <p:sp>
        <p:nvSpPr>
          <p:cNvPr id="9" name="TextBox 9"/>
          <p:cNvSpPr txBox="1"/>
          <p:nvPr/>
        </p:nvSpPr>
        <p:spPr>
          <a:xfrm>
            <a:off x="598980" y="12201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Week 1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Ellipse 10"/>
          <p:cNvSpPr/>
          <p:nvPr/>
        </p:nvSpPr>
        <p:spPr>
          <a:xfrm>
            <a:off x="1200150" y="1171575"/>
            <a:ext cx="266700" cy="266700"/>
          </a:xfrm>
          <a:prstGeom prst="ellipse">
            <a:avLst/>
          </a:prstGeom>
          <a:solidFill>
            <a:srgbClr val="0D5C63"/>
          </a:solidFill>
          <a:ln w="28575">
            <a:solidFill>
              <a:srgbClr val="FFFF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301367" y="1264920"/>
            <a:ext cx="642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619250" y="1028700"/>
            <a:ext cx="4762500" cy="552450"/>
            <a:chOff x="1619250" y="1028700"/>
            <a:chExt cx="4762500" cy="55245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1619250" y="1028700"/>
              <a:ext cx="47625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1619250" y="10287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813560" y="1108710"/>
              <a:ext cx="1686687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环境搭建与数据工程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16418" y="1342549"/>
              <a:ext cx="3826812" cy="1981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Docker Compose 环境 · CSV 数据清洗 · 回放脚本开发 (P0)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58725" y="2125028"/>
            <a:ext cx="549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Week 2</a:t>
            </a:r>
            <a:endParaRPr lang="zh-CN" sz="1050" b="1" dirty="0">
              <a:solidFill>
                <a:srgbClr val="0D5C6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Ellipse 18"/>
          <p:cNvSpPr/>
          <p:nvPr/>
        </p:nvSpPr>
        <p:spPr>
          <a:xfrm>
            <a:off x="1200150" y="2076450"/>
            <a:ext cx="266700" cy="266700"/>
          </a:xfrm>
          <a:prstGeom prst="ellipse">
            <a:avLst/>
          </a:prstGeom>
          <a:solidFill>
            <a:srgbClr val="0D5C63"/>
          </a:solidFill>
          <a:ln w="28575">
            <a:solidFill>
              <a:srgbClr val="FFFF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284115" y="216979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619250" y="1933575"/>
            <a:ext cx="4762500" cy="552450"/>
            <a:chOff x="1619250" y="1933575"/>
            <a:chExt cx="4762500" cy="55245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0" name="Rectangle 20"/>
            <p:cNvSpPr/>
            <p:nvPr/>
          </p:nvSpPr>
          <p:spPr>
            <a:xfrm>
              <a:off x="1619250" y="1933575"/>
              <a:ext cx="47625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1619250" y="1933575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1813560" y="2013585"/>
              <a:ext cx="1843107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模型训练与后端 API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6418" y="2247424"/>
              <a:ext cx="3698653" cy="1981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风险模型训练 → .pkl · FastAPI 接口 · 在线推理服务 (P0)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58725" y="3029902"/>
            <a:ext cx="549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Week 3</a:t>
            </a:r>
            <a:endParaRPr lang="zh-CN" sz="1050" b="1" dirty="0">
              <a:solidFill>
                <a:srgbClr val="1E3A5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Ellipse 26"/>
          <p:cNvSpPr/>
          <p:nvPr/>
        </p:nvSpPr>
        <p:spPr>
          <a:xfrm>
            <a:off x="1200150" y="2981325"/>
            <a:ext cx="266700" cy="266700"/>
          </a:xfrm>
          <a:prstGeom prst="ellipse">
            <a:avLst/>
          </a:prstGeom>
          <a:solidFill>
            <a:srgbClr val="1E3A5F"/>
          </a:solidFill>
          <a:ln w="28575">
            <a:solidFill>
              <a:srgbClr val="FFFF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284115" y="3074670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1619250" y="2838450"/>
            <a:ext cx="4762500" cy="552450"/>
            <a:chOff x="1619250" y="2838450"/>
            <a:chExt cx="4762500" cy="55245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1619250" y="2838450"/>
              <a:ext cx="47625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1E3A5F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1619250" y="283845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1813560" y="2918460"/>
              <a:ext cx="1898313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前端大屏开发 </a:t>
              </a:r>
              <a:r>
                <a:rPr lang="zh-CN" sz="9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← 当前周</a:t>
              </a:r>
              <a:endParaRPr lang="zh-CN" sz="9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16418" y="3152299"/>
              <a:ext cx="4140089" cy="1981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Vue 3 大屏 · KPI 指标盘 · WebSocket 集成 · 热力地图 (P0 + P1)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58725" y="3934778"/>
            <a:ext cx="549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Week 4</a:t>
            </a:r>
            <a:endParaRPr lang="zh-CN" sz="1050" b="1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Ellipse 34"/>
          <p:cNvSpPr/>
          <p:nvPr/>
        </p:nvSpPr>
        <p:spPr>
          <a:xfrm>
            <a:off x="1219200" y="3905250"/>
            <a:ext cx="228600" cy="228600"/>
          </a:xfrm>
          <a:prstGeom prst="ellipse">
            <a:avLst/>
          </a:prstGeom>
          <a:solidFill>
            <a:srgbClr val="F0F4F8"/>
          </a:solidFill>
          <a:ln w="28575">
            <a:solidFill>
              <a:srgbClr val="9CA3AF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1295400" y="3981450"/>
            <a:ext cx="76200" cy="762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1619250" y="3743325"/>
            <a:ext cx="4762500" cy="552450"/>
            <a:chOff x="1619250" y="3743325"/>
            <a:chExt cx="4762500" cy="552450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6" name="Rectangle 36"/>
            <p:cNvSpPr/>
            <p:nvPr/>
          </p:nvSpPr>
          <p:spPr>
            <a:xfrm>
              <a:off x="1619250" y="3743325"/>
              <a:ext cx="47625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1619250" y="3743325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rgbClr val="9CA3A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1813560" y="3823335"/>
              <a:ext cx="1318641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联调测试与验收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16418" y="4057174"/>
              <a:ext cx="4204168" cy="1981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端到端闭环测试 · 性能优化 · 演示脚本准备 · P2 折线图 (P1 + P2)</a:t>
              </a:r>
              <a:endPara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762750" y="1000125"/>
            <a:ext cx="4857750" cy="5286375"/>
            <a:chOff x="6762750" y="1000125"/>
            <a:chExt cx="4857750" cy="5286375"/>
          </a:xfrm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1" name="Rectangle 41"/>
            <p:cNvSpPr/>
            <p:nvPr/>
          </p:nvSpPr>
          <p:spPr>
            <a:xfrm>
              <a:off x="6762750" y="1000125"/>
              <a:ext cx="4857750" cy="5286375"/>
            </a:xfrm>
            <a:prstGeom prst="roundRect">
              <a:avLst>
                <a:gd name="adj" fmla="val 2745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8367474" y="1219200"/>
              <a:ext cx="1648301" cy="30480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功能优先级划分</a:t>
              </a:r>
              <a:endParaRPr lang="zh-CN" sz="15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6953250" y="152400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048500" y="1714500"/>
              <a:ext cx="4381500" cy="1238250"/>
            </a:xfrm>
            <a:prstGeom prst="roundRect">
              <a:avLst>
                <a:gd name="adj" fmla="val 7692"/>
              </a:avLst>
            </a:prstGeom>
            <a:solidFill>
              <a:srgbClr val="F0F4F8"/>
            </a:solidFill>
            <a:ln w="9525">
              <a:solidFill>
                <a:srgbClr val="0D5C63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5" name="Rectangle 45"/>
            <p:cNvSpPr/>
            <p:nvPr/>
          </p:nvSpPr>
          <p:spPr>
            <a:xfrm>
              <a:off x="7048500" y="1714500"/>
              <a:ext cx="571500" cy="1238250"/>
            </a:xfrm>
            <a:prstGeom prst="roundRect">
              <a:avLst>
                <a:gd name="adj" fmla="val 16667"/>
              </a:avLst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7429500" y="1714500"/>
              <a:ext cx="190500" cy="1238250"/>
            </a:xfrm>
            <a:prstGeom prst="rect">
              <a:avLst/>
            </a:prstGeom>
            <a:solidFill>
              <a:srgbClr val="0D5C63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7" name="TextBox 47"/>
            <p:cNvSpPr txBox="1"/>
            <p:nvPr/>
          </p:nvSpPr>
          <p:spPr>
            <a:xfrm>
              <a:off x="7174128" y="2222182"/>
              <a:ext cx="320245" cy="33528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P0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95260" y="1851660"/>
              <a:ext cx="1787900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必须交付 (MVP 核心)</a:t>
              </a:r>
              <a:endParaRPr lang="zh-CN" sz="120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97165" y="2096452"/>
              <a:ext cx="1406842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数据清洗与特征提取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97165" y="2315528"/>
              <a:ext cx="2656665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实时数据回放引擎 · 基准风控模型训练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97165" y="2534602"/>
              <a:ext cx="2633662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实时在线推理 · KPI 指标盘 · 预警列表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048500" y="3095625"/>
              <a:ext cx="4381500" cy="857250"/>
            </a:xfrm>
            <a:prstGeom prst="roundRect">
              <a:avLst>
                <a:gd name="adj" fmla="val 11111"/>
              </a:avLst>
            </a:prstGeom>
            <a:solidFill>
              <a:srgbClr val="F0F4F8"/>
            </a:solidFill>
            <a:ln w="9525">
              <a:solidFill>
                <a:srgbClr val="1E3A5F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3" name="Rectangle 53"/>
            <p:cNvSpPr/>
            <p:nvPr/>
          </p:nvSpPr>
          <p:spPr>
            <a:xfrm>
              <a:off x="7048500" y="3095625"/>
              <a:ext cx="571500" cy="857250"/>
            </a:xfrm>
            <a:prstGeom prst="roundRect">
              <a:avLst>
                <a:gd name="adj" fmla="val 16667"/>
              </a:avLst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4" name="Rectangle 54"/>
            <p:cNvSpPr/>
            <p:nvPr/>
          </p:nvSpPr>
          <p:spPr>
            <a:xfrm>
              <a:off x="7429500" y="3095625"/>
              <a:ext cx="190500" cy="8572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5" name="TextBox 55"/>
            <p:cNvSpPr txBox="1"/>
            <p:nvPr/>
          </p:nvSpPr>
          <p:spPr>
            <a:xfrm>
              <a:off x="7205757" y="3412808"/>
              <a:ext cx="256987" cy="33528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95260" y="3251835"/>
              <a:ext cx="766572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核心功能</a:t>
              </a:r>
              <a:endParaRPr lang="zh-CN" sz="1200" b="1" dirty="0">
                <a:solidFill>
                  <a:srgbClr val="1E3A5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97165" y="3553778"/>
              <a:ext cx="3592116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物流热力地图 (ECharts 地图组件) · 降采样防 OOM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048500" y="4095750"/>
              <a:ext cx="4381500" cy="809625"/>
            </a:xfrm>
            <a:prstGeom prst="roundRect">
              <a:avLst>
                <a:gd name="adj" fmla="val 11765"/>
              </a:avLst>
            </a:prstGeom>
            <a:solidFill>
              <a:srgbClr val="F0F4F8"/>
            </a:solidFill>
            <a:ln w="9525">
              <a:solidFill>
                <a:srgbClr val="2A9D8F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9" name="Rectangle 59"/>
            <p:cNvSpPr/>
            <p:nvPr/>
          </p:nvSpPr>
          <p:spPr>
            <a:xfrm>
              <a:off x="7048500" y="4095750"/>
              <a:ext cx="571500" cy="809625"/>
            </a:xfrm>
            <a:prstGeom prst="roundRect">
              <a:avLst>
                <a:gd name="adj" fmla="val 16667"/>
              </a:avLst>
            </a:prstGeom>
            <a:solidFill>
              <a:srgbClr val="2A9D8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7429500" y="4095750"/>
              <a:ext cx="190500" cy="80962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1" name="TextBox 61"/>
            <p:cNvSpPr txBox="1"/>
            <p:nvPr/>
          </p:nvSpPr>
          <p:spPr>
            <a:xfrm>
              <a:off x="7174128" y="4384358"/>
              <a:ext cx="320245" cy="33528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P2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5260" y="4232910"/>
              <a:ext cx="766572" cy="24384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A9D8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增强功能</a:t>
              </a:r>
              <a:endParaRPr lang="zh-CN" sz="1200" b="1" dirty="0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7165" y="4553902"/>
              <a:ext cx="2066258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历史趋势折线图 · UI 细节优化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048500" y="5095875"/>
              <a:ext cx="4381500" cy="1000125"/>
            </a:xfrm>
            <a:prstGeom prst="roundRect">
              <a:avLst>
                <a:gd name="adj" fmla="val 9524"/>
              </a:avLst>
            </a:prstGeom>
            <a:solidFill>
              <a:srgbClr val="1E3A5F">
                <a:alpha val="5000"/>
              </a:srgbClr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5" name="TextBox 65"/>
            <p:cNvSpPr txBox="1"/>
            <p:nvPr/>
          </p:nvSpPr>
          <p:spPr>
            <a:xfrm>
              <a:off x="8863941" y="5235892"/>
              <a:ext cx="655368" cy="27432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D5C6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交付物</a:t>
              </a:r>
              <a:endParaRPr lang="zh-CN" sz="1350" b="1" dirty="0">
                <a:solidFill>
                  <a:srgbClr val="0D5C6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Line 66"/>
            <p:cNvSpPr/>
            <p:nvPr/>
          </p:nvSpPr>
          <p:spPr>
            <a:xfrm>
              <a:off x="7620000" y="55245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14415" y="5630228"/>
              <a:ext cx="3354419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docker-compose.yml · GitHub 仓库 · 演示脚本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73831" y="5868352"/>
              <a:ext cx="2035588" cy="213360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项目答辩 PPT · 系统演示视频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267313" y="64750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D5C63">
                    <a:alpha val="4000"/>
                  </a:srgbClr>
                </a:gs>
                <a:gs pos="100000">
                  <a:srgbClr val="0D5C63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0D5C63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5905500"/>
            <a:ext cx="12192000" cy="952500"/>
            <a:chOff x="0" y="5905500"/>
            <a:chExt cx="12192000" cy="952500"/>
          </a:xfrm>
        </p:grpSpPr>
        <p:sp>
          <p:nvSpPr>
            <p:cNvPr id="6" name="Rectangle 6"/>
            <p:cNvSpPr/>
            <p:nvPr/>
          </p:nvSpPr>
          <p:spPr>
            <a:xfrm>
              <a:off x="0" y="5905500"/>
              <a:ext cx="12192000" cy="952500"/>
            </a:xfrm>
            <a:prstGeom prst="rect">
              <a:avLst/>
            </a:prstGeom>
            <a:gradFill>
              <a:gsLst>
                <a:gs pos="0">
                  <a:srgbClr val="0D5C63">
                    <a:alpha val="0"/>
                  </a:srgbClr>
                </a:gs>
                <a:gs pos="100000">
                  <a:srgbClr val="1E3A5F">
                    <a:alpha val="12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0" y="1809750"/>
            <a:ext cx="762000" cy="762000"/>
            <a:chOff x="5715000" y="1809750"/>
            <a:chExt cx="762000" cy="762000"/>
          </a:xfrm>
        </p:grpSpPr>
        <p:sp>
          <p:nvSpPr>
            <p:cNvPr id="8" name="Ellipse 8"/>
            <p:cNvSpPr/>
            <p:nvPr/>
          </p:nvSpPr>
          <p:spPr>
            <a:xfrm>
              <a:off x="5715000" y="1809750"/>
              <a:ext cx="762000" cy="762000"/>
            </a:xfrm>
            <a:prstGeom prst="ellipse">
              <a:avLst/>
            </a:prstGeom>
            <a:noFill/>
            <a:ln w="19050">
              <a:solidFill>
                <a:srgbClr val="2A9D8F">
                  <a:alpha val="3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886450" y="19812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419100"/>
                  </a:moveTo>
                  <a:cubicBezTo>
                    <a:pt x="325282" y="419100"/>
                    <a:pt x="419100" y="325282"/>
                    <a:pt x="419100" y="209550"/>
                  </a:cubicBezTo>
                  <a:cubicBezTo>
                    <a:pt x="419100" y="93819"/>
                    <a:pt x="325282" y="0"/>
                    <a:pt x="209550" y="0"/>
                  </a:cubicBezTo>
                  <a:cubicBezTo>
                    <a:pt x="93819" y="0"/>
                    <a:pt x="0" y="93819"/>
                    <a:pt x="0" y="209550"/>
                  </a:cubicBezTo>
                  <a:cubicBezTo>
                    <a:pt x="0" y="325282"/>
                    <a:pt x="93819" y="419100"/>
                    <a:pt x="209550" y="419100"/>
                  </a:cubicBezTo>
                  <a:close/>
                  <a:moveTo>
                    <a:pt x="332847" y="149491"/>
                  </a:moveTo>
                  <a:lnTo>
                    <a:pt x="295803" y="112447"/>
                  </a:lnTo>
                  <a:lnTo>
                    <a:pt x="170259" y="237991"/>
                  </a:lnTo>
                  <a:lnTo>
                    <a:pt x="123297" y="191028"/>
                  </a:lnTo>
                  <a:lnTo>
                    <a:pt x="86253" y="228072"/>
                  </a:lnTo>
                  <a:lnTo>
                    <a:pt x="170259" y="312078"/>
                  </a:lnTo>
                  <a:lnTo>
                    <a:pt x="332847" y="149491"/>
                  </a:lnTo>
                  <a:close/>
                </a:path>
              </a:pathLst>
            </a:custGeom>
            <a:solidFill>
              <a:srgbClr val="2A9D8F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194810" y="2529840"/>
            <a:ext cx="3802380" cy="975360"/>
            <a:chOff x="4194810" y="2529840"/>
            <a:chExt cx="3802380" cy="975360"/>
          </a:xfrm>
        </p:grpSpPr>
        <p:sp>
          <p:nvSpPr>
            <p:cNvPr id="11" name="TextBox 11"/>
            <p:cNvSpPr txBox="1"/>
            <p:nvPr/>
          </p:nvSpPr>
          <p:spPr>
            <a:xfrm>
              <a:off x="4194810" y="2529840"/>
              <a:ext cx="380238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gradFill>
                    <a:gsLst>
                      <a:gs pos="0">
                        <a:srgbClr val="0D5C63"/>
                      </a:gs>
                      <a:gs pos="100000">
                        <a:srgbClr val="2A9D8F"/>
                      </a:gs>
                    </a:gsLst>
                    <a:lin ang="270000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总结与致谢</a:t>
              </a:r>
              <a:endParaRPr lang="zh-CN" sz="4800" b="1" dirty="0">
                <a:gradFill>
                  <a:gsLst>
                    <a:gs pos="0">
                      <a:srgbClr val="0D5C63"/>
                    </a:gs>
                    <a:gs pos="100000">
                      <a:srgbClr val="2A9D8F"/>
                    </a:gs>
                  </a:gsLst>
                  <a:lin ang="27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13894" y="3408998"/>
            <a:ext cx="4364212" cy="396240"/>
            <a:chOff x="3913894" y="3408998"/>
            <a:chExt cx="4364212" cy="396240"/>
          </a:xfrm>
        </p:grpSpPr>
        <p:sp>
          <p:nvSpPr>
            <p:cNvPr id="13" name="TextBox 13"/>
            <p:cNvSpPr txBox="1"/>
            <p:nvPr/>
          </p:nvSpPr>
          <p:spPr>
            <a:xfrm>
              <a:off x="3913894" y="3408998"/>
              <a:ext cx="43642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赋能企业供应链可视化分析系统</a:t>
              </a:r>
              <a:endParaRPr lang="zh-CN" sz="19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476500" y="4000500"/>
            <a:ext cx="7239000" cy="1333500"/>
            <a:chOff x="2476500" y="4000500"/>
            <a:chExt cx="7239000" cy="1333500"/>
          </a:xfrm>
        </p:grpSpPr>
        <p:sp>
          <p:nvSpPr>
            <p:cNvPr id="15" name="Rectangle 15"/>
            <p:cNvSpPr/>
            <p:nvPr/>
          </p:nvSpPr>
          <p:spPr>
            <a:xfrm>
              <a:off x="2476500" y="4000500"/>
              <a:ext cx="7239000" cy="1333500"/>
            </a:xfrm>
            <a:prstGeom prst="roundRect">
              <a:avLst>
                <a:gd name="adj" fmla="val 10000"/>
              </a:avLst>
            </a:prstGeom>
            <a:solidFill>
              <a:srgbClr val="F0F4F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857500" y="4191000"/>
              <a:ext cx="4081653" cy="285750"/>
              <a:chOff x="2857500" y="4191000"/>
              <a:chExt cx="4081653" cy="285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857500" y="4191000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0D5C6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920617" y="4246245"/>
                <a:ext cx="642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175635" y="4232910"/>
                <a:ext cx="37635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 大核心模块：数据回放 + AI 预警 + 可视化大屏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857500" y="4572000"/>
              <a:ext cx="6114669" cy="285750"/>
              <a:chOff x="2857500" y="4572000"/>
              <a:chExt cx="6114669" cy="285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857500" y="4572000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0D5C6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903365" y="4627245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175635" y="4613910"/>
                <a:ext cx="57965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 项核心技术：Vue 3 · FastAPI · Scikit-learn · MySQL+Redis · Docker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857500" y="4953000"/>
              <a:ext cx="4213098" cy="285750"/>
              <a:chOff x="2857500" y="4953000"/>
              <a:chExt cx="4213098" cy="285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857500" y="4953000"/>
                <a:ext cx="1905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0D5C63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903365" y="5008245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175635" y="4994910"/>
                <a:ext cx="389496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 个月 MVP 冲刺：P0 功能优先，Docker 一键演示</a:t>
                </a:r>
                <a:endPara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4572000" y="5619750"/>
            <a:ext cx="3048000" cy="461962"/>
            <a:chOff x="4572000" y="5619750"/>
            <a:chExt cx="3048000" cy="461962"/>
          </a:xfrm>
        </p:grpSpPr>
        <p:sp>
          <p:nvSpPr>
            <p:cNvPr id="29" name="Rectangle 29"/>
            <p:cNvSpPr/>
            <p:nvPr/>
          </p:nvSpPr>
          <p:spPr>
            <a:xfrm>
              <a:off x="4572000" y="5619750"/>
              <a:ext cx="3048000" cy="457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3A5F"/>
                </a:gs>
                <a:gs pos="100000">
                  <a:srgbClr val="0D5C6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65081" y="5746432"/>
              <a:ext cx="6618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 &amp; A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34452" y="64750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 / 12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4" grpId="0"/>
      <p:bldP spid="28" grpId="0"/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4839</Words>
  <Application>WPS 演示</Application>
  <PresentationFormat>On-screen Show (4:3)</PresentationFormat>
  <Paragraphs>818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田锦城</cp:lastModifiedBy>
  <cp:revision>3</cp:revision>
  <dcterms:created xsi:type="dcterms:W3CDTF">2013-01-27T09:14:00Z</dcterms:created>
  <dcterms:modified xsi:type="dcterms:W3CDTF">2026-05-15T00:06:42Z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1219B1E91EBD479EAE7F8D69C0004F06_12</vt:lpwstr>
  </property>
  <property fmtid="{D5CDD505-2E9C-101B-9397-08002B2CF9AE}" pid="3" name="KSOProductBuildVer">
    <vt:lpwstr>2052-12.1.0.24034</vt:lpwstr>
  </property>
</Properties>
</file>